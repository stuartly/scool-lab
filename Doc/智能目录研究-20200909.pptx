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68" r:id="rId4"/>
    <p:sldId id="262" r:id="rId5"/>
    <p:sldId id="273" r:id="rId6"/>
    <p:sldId id="274" r:id="rId7"/>
    <p:sldId id="275" r:id="rId8"/>
    <p:sldId id="276" r:id="rId9"/>
    <p:sldId id="278" r:id="rId10"/>
    <p:sldId id="279" r:id="rId11"/>
    <p:sldId id="277" r:id="rId12"/>
    <p:sldId id="283" r:id="rId13"/>
    <p:sldId id="284" r:id="rId14"/>
    <p:sldId id="280" r:id="rId15"/>
    <p:sldId id="288" r:id="rId16"/>
    <p:sldId id="286" r:id="rId17"/>
    <p:sldId id="281" r:id="rId18"/>
    <p:sldId id="285" r:id="rId19"/>
    <p:sldId id="287" r:id="rId2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105"/>
    <p:restoredTop sz="94695"/>
  </p:normalViewPr>
  <p:slideViewPr>
    <p:cSldViewPr snapToGrid="0" snapToObjects="1">
      <p:cViewPr varScale="1">
        <p:scale>
          <a:sx n="81" d="100"/>
          <a:sy n="81" d="100"/>
        </p:scale>
        <p:origin x="216" y="8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7E4A88-74D0-DC46-8B8B-235DC9E45995}" type="datetimeFigureOut">
              <a:rPr kumimoji="1" lang="zh-CN" altLang="en-US" smtClean="0"/>
              <a:t>2020/9/9</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5D634F-AB54-1D4E-9BFF-8DE942B9EB8E}" type="slidenum">
              <a:rPr kumimoji="1" lang="zh-CN" altLang="en-US" smtClean="0"/>
              <a:t>‹#›</a:t>
            </a:fld>
            <a:endParaRPr kumimoji="1" lang="zh-CN" altLang="en-US"/>
          </a:p>
        </p:txBody>
      </p:sp>
    </p:spTree>
    <p:extLst>
      <p:ext uri="{BB962C8B-B14F-4D97-AF65-F5344CB8AC3E}">
        <p14:creationId xmlns:p14="http://schemas.microsoft.com/office/powerpoint/2010/main" val="711759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latin typeface="宋体" panose="02010600030101010101" pitchFamily="2" charset="-122"/>
                <a:ea typeface="宋体" panose="02010600030101010101" pitchFamily="2" charset="-122"/>
              </a:rPr>
              <a:t>多年来，目录学界从矛盾和规律两个角度展开争鸣，产生了许多不同的表达。</a:t>
            </a:r>
            <a:endParaRPr lang="en-US" altLang="zh-CN" dirty="0">
              <a:latin typeface="宋体" panose="02010600030101010101" pitchFamily="2" charset="-122"/>
              <a:ea typeface="宋体" panose="02010600030101010101" pitchFamily="2" charset="-122"/>
            </a:endParaRPr>
          </a:p>
        </p:txBody>
      </p:sp>
      <p:sp>
        <p:nvSpPr>
          <p:cNvPr id="4" name="灯片编号占位符 3"/>
          <p:cNvSpPr>
            <a:spLocks noGrp="1"/>
          </p:cNvSpPr>
          <p:nvPr>
            <p:ph type="sldNum" sz="quarter" idx="5"/>
          </p:nvPr>
        </p:nvSpPr>
        <p:spPr/>
        <p:txBody>
          <a:bodyPr/>
          <a:lstStyle/>
          <a:p>
            <a:fld id="{774DC61F-85A9-441C-9329-E60E6379A191}" type="slidenum">
              <a:rPr lang="zh-CN" altLang="en-US" smtClean="0"/>
              <a:t>3</a:t>
            </a:fld>
            <a:endParaRPr lang="zh-CN" altLang="en-US"/>
          </a:p>
        </p:txBody>
      </p:sp>
    </p:spTree>
    <p:extLst>
      <p:ext uri="{BB962C8B-B14F-4D97-AF65-F5344CB8AC3E}">
        <p14:creationId xmlns:p14="http://schemas.microsoft.com/office/powerpoint/2010/main" val="31269180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谈谈我的理解。</a:t>
            </a:r>
            <a:endParaRPr lang="en-US" altLang="zh-CN" dirty="0"/>
          </a:p>
          <a:p>
            <a:r>
              <a:rPr lang="zh-CN" altLang="en-US" dirty="0"/>
              <a:t>书目</a:t>
            </a:r>
            <a:r>
              <a:rPr lang="en-US" altLang="zh-CN" dirty="0"/>
              <a:t>/</a:t>
            </a:r>
            <a:r>
              <a:rPr lang="zh-CN" altLang="en-US" dirty="0"/>
              <a:t>目录是为了著录、揭示文献，其表现形式不仅仅是我们熟知的在图书或者论文的正文前面列出的章节分布，</a:t>
            </a:r>
            <a:endParaRPr lang="en-US" altLang="zh-CN" dirty="0"/>
          </a:p>
          <a:p>
            <a:r>
              <a:rPr lang="zh-CN" altLang="en-US" dirty="0"/>
              <a:t>将许多书</a:t>
            </a:r>
            <a:r>
              <a:rPr lang="en-US" altLang="zh-CN" dirty="0"/>
              <a:t>/</a:t>
            </a:r>
            <a:r>
              <a:rPr lang="zh-CN" altLang="en-US" dirty="0"/>
              <a:t>文献的名字、作者、书籍版本、提要等信息都列出来的也是一种书目。</a:t>
            </a:r>
            <a:endParaRPr lang="en-US" altLang="zh-CN" dirty="0"/>
          </a:p>
          <a:p>
            <a:r>
              <a:rPr lang="zh-CN" altLang="en-US" dirty="0"/>
              <a:t>这个工具的活力、价值就体现在，从揭示和报导文献信息的初心出发，可以有不同的主题和形态。</a:t>
            </a:r>
            <a:endParaRPr lang="en-US" altLang="zh-CN" dirty="0"/>
          </a:p>
        </p:txBody>
      </p:sp>
      <p:sp>
        <p:nvSpPr>
          <p:cNvPr id="4" name="灯片编号占位符 3"/>
          <p:cNvSpPr>
            <a:spLocks noGrp="1"/>
          </p:cNvSpPr>
          <p:nvPr>
            <p:ph type="sldNum" sz="quarter" idx="5"/>
          </p:nvPr>
        </p:nvSpPr>
        <p:spPr/>
        <p:txBody>
          <a:bodyPr/>
          <a:lstStyle/>
          <a:p>
            <a:fld id="{7CD4B9CD-BA12-418F-8446-375F3B4FF92C}" type="slidenum">
              <a:rPr lang="zh-CN" altLang="en-US" smtClean="0"/>
              <a:t>4</a:t>
            </a:fld>
            <a:endParaRPr lang="zh-CN" altLang="en-US"/>
          </a:p>
        </p:txBody>
      </p:sp>
    </p:spTree>
    <p:extLst>
      <p:ext uri="{BB962C8B-B14F-4D97-AF65-F5344CB8AC3E}">
        <p14:creationId xmlns:p14="http://schemas.microsoft.com/office/powerpoint/2010/main" val="34255703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CD4B9CD-BA12-418F-8446-375F3B4FF92C}" type="slidenum">
              <a:rPr lang="zh-CN" altLang="en-US" smtClean="0"/>
              <a:t>6</a:t>
            </a:fld>
            <a:endParaRPr lang="zh-CN" altLang="en-US"/>
          </a:p>
        </p:txBody>
      </p:sp>
    </p:spTree>
    <p:extLst>
      <p:ext uri="{BB962C8B-B14F-4D97-AF65-F5344CB8AC3E}">
        <p14:creationId xmlns:p14="http://schemas.microsoft.com/office/powerpoint/2010/main" val="33178057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CD4B9CD-BA12-418F-8446-375F3B4FF92C}" type="slidenum">
              <a:rPr lang="zh-CN" altLang="en-US" smtClean="0"/>
              <a:t>7</a:t>
            </a:fld>
            <a:endParaRPr lang="zh-CN" altLang="en-US"/>
          </a:p>
        </p:txBody>
      </p:sp>
    </p:spTree>
    <p:extLst>
      <p:ext uri="{BB962C8B-B14F-4D97-AF65-F5344CB8AC3E}">
        <p14:creationId xmlns:p14="http://schemas.microsoft.com/office/powerpoint/2010/main" val="10558073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CD4B9CD-BA12-418F-8446-375F3B4FF92C}" type="slidenum">
              <a:rPr lang="zh-CN" altLang="en-US" smtClean="0"/>
              <a:t>8</a:t>
            </a:fld>
            <a:endParaRPr lang="zh-CN" altLang="en-US"/>
          </a:p>
        </p:txBody>
      </p:sp>
    </p:spTree>
    <p:extLst>
      <p:ext uri="{BB962C8B-B14F-4D97-AF65-F5344CB8AC3E}">
        <p14:creationId xmlns:p14="http://schemas.microsoft.com/office/powerpoint/2010/main" val="169508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C8970F-5812-1644-B4B0-DB4AA74580F2}"/>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6B24B0E1-7FA4-2B4B-8213-2B9FA2FEA7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C3F61C25-55EE-9847-BA6A-860016BD042E}"/>
              </a:ext>
            </a:extLst>
          </p:cNvPr>
          <p:cNvSpPr>
            <a:spLocks noGrp="1"/>
          </p:cNvSpPr>
          <p:nvPr>
            <p:ph type="dt" sz="half" idx="10"/>
          </p:nvPr>
        </p:nvSpPr>
        <p:spPr/>
        <p:txBody>
          <a:bodyPr/>
          <a:lstStyle/>
          <a:p>
            <a:fld id="{15781579-CB6A-EA4D-BF6C-5206C8445A92}" type="datetimeFigureOut">
              <a:rPr kumimoji="1" lang="zh-CN" altLang="en-US" smtClean="0"/>
              <a:t>2020/9/9</a:t>
            </a:fld>
            <a:endParaRPr kumimoji="1" lang="zh-CN" altLang="en-US"/>
          </a:p>
        </p:txBody>
      </p:sp>
      <p:sp>
        <p:nvSpPr>
          <p:cNvPr id="5" name="页脚占位符 4">
            <a:extLst>
              <a:ext uri="{FF2B5EF4-FFF2-40B4-BE49-F238E27FC236}">
                <a16:creationId xmlns:a16="http://schemas.microsoft.com/office/drawing/2014/main" id="{A6040583-296F-AA4E-A2D2-F59966608886}"/>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146DC89B-E4F8-1844-A5CC-325DF9151290}"/>
              </a:ext>
            </a:extLst>
          </p:cNvPr>
          <p:cNvSpPr>
            <a:spLocks noGrp="1"/>
          </p:cNvSpPr>
          <p:nvPr>
            <p:ph type="sldNum" sz="quarter" idx="12"/>
          </p:nvPr>
        </p:nvSpPr>
        <p:spPr/>
        <p:txBody>
          <a:bodyPr/>
          <a:lstStyle/>
          <a:p>
            <a:fld id="{94604F8F-A59E-DD4D-BE8C-D713B19CD2B5}" type="slidenum">
              <a:rPr kumimoji="1" lang="zh-CN" altLang="en-US" smtClean="0"/>
              <a:t>‹#›</a:t>
            </a:fld>
            <a:endParaRPr kumimoji="1" lang="zh-CN" altLang="en-US"/>
          </a:p>
        </p:txBody>
      </p:sp>
    </p:spTree>
    <p:extLst>
      <p:ext uri="{BB962C8B-B14F-4D97-AF65-F5344CB8AC3E}">
        <p14:creationId xmlns:p14="http://schemas.microsoft.com/office/powerpoint/2010/main" val="41634648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5B5CDA-C2D7-0E43-A82C-CE985AFB9648}"/>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1E11EF12-2A37-EF42-B7DA-D3719F18A65B}"/>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7D5C7733-A94F-4C4F-9EF0-F5D396795C3A}"/>
              </a:ext>
            </a:extLst>
          </p:cNvPr>
          <p:cNvSpPr>
            <a:spLocks noGrp="1"/>
          </p:cNvSpPr>
          <p:nvPr>
            <p:ph type="dt" sz="half" idx="10"/>
          </p:nvPr>
        </p:nvSpPr>
        <p:spPr/>
        <p:txBody>
          <a:bodyPr/>
          <a:lstStyle/>
          <a:p>
            <a:fld id="{15781579-CB6A-EA4D-BF6C-5206C8445A92}" type="datetimeFigureOut">
              <a:rPr kumimoji="1" lang="zh-CN" altLang="en-US" smtClean="0"/>
              <a:t>2020/9/9</a:t>
            </a:fld>
            <a:endParaRPr kumimoji="1" lang="zh-CN" altLang="en-US"/>
          </a:p>
        </p:txBody>
      </p:sp>
      <p:sp>
        <p:nvSpPr>
          <p:cNvPr id="5" name="页脚占位符 4">
            <a:extLst>
              <a:ext uri="{FF2B5EF4-FFF2-40B4-BE49-F238E27FC236}">
                <a16:creationId xmlns:a16="http://schemas.microsoft.com/office/drawing/2014/main" id="{3A1BD7C6-25CE-914C-B981-17642935C2A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6911DC97-BEFE-1349-A433-18173E72ABBF}"/>
              </a:ext>
            </a:extLst>
          </p:cNvPr>
          <p:cNvSpPr>
            <a:spLocks noGrp="1"/>
          </p:cNvSpPr>
          <p:nvPr>
            <p:ph type="sldNum" sz="quarter" idx="12"/>
          </p:nvPr>
        </p:nvSpPr>
        <p:spPr/>
        <p:txBody>
          <a:bodyPr/>
          <a:lstStyle/>
          <a:p>
            <a:fld id="{94604F8F-A59E-DD4D-BE8C-D713B19CD2B5}" type="slidenum">
              <a:rPr kumimoji="1" lang="zh-CN" altLang="en-US" smtClean="0"/>
              <a:t>‹#›</a:t>
            </a:fld>
            <a:endParaRPr kumimoji="1" lang="zh-CN" altLang="en-US"/>
          </a:p>
        </p:txBody>
      </p:sp>
    </p:spTree>
    <p:extLst>
      <p:ext uri="{BB962C8B-B14F-4D97-AF65-F5344CB8AC3E}">
        <p14:creationId xmlns:p14="http://schemas.microsoft.com/office/powerpoint/2010/main" val="11497497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03C34F-1C83-774F-8E9A-16C43BCA8208}"/>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EAB4CCF8-DCDF-D140-A0D4-2C922DC9F43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44149CBC-9FEF-FB43-BF02-172D8FC5ABC9}"/>
              </a:ext>
            </a:extLst>
          </p:cNvPr>
          <p:cNvSpPr>
            <a:spLocks noGrp="1"/>
          </p:cNvSpPr>
          <p:nvPr>
            <p:ph type="dt" sz="half" idx="10"/>
          </p:nvPr>
        </p:nvSpPr>
        <p:spPr/>
        <p:txBody>
          <a:bodyPr/>
          <a:lstStyle/>
          <a:p>
            <a:fld id="{15781579-CB6A-EA4D-BF6C-5206C8445A92}" type="datetimeFigureOut">
              <a:rPr kumimoji="1" lang="zh-CN" altLang="en-US" smtClean="0"/>
              <a:t>2020/9/9</a:t>
            </a:fld>
            <a:endParaRPr kumimoji="1" lang="zh-CN" altLang="en-US"/>
          </a:p>
        </p:txBody>
      </p:sp>
      <p:sp>
        <p:nvSpPr>
          <p:cNvPr id="5" name="页脚占位符 4">
            <a:extLst>
              <a:ext uri="{FF2B5EF4-FFF2-40B4-BE49-F238E27FC236}">
                <a16:creationId xmlns:a16="http://schemas.microsoft.com/office/drawing/2014/main" id="{12E01E15-5317-0A45-805C-0E814BA843E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B591231D-8E46-5B47-A308-135D8BD668DE}"/>
              </a:ext>
            </a:extLst>
          </p:cNvPr>
          <p:cNvSpPr>
            <a:spLocks noGrp="1"/>
          </p:cNvSpPr>
          <p:nvPr>
            <p:ph type="sldNum" sz="quarter" idx="12"/>
          </p:nvPr>
        </p:nvSpPr>
        <p:spPr/>
        <p:txBody>
          <a:bodyPr/>
          <a:lstStyle/>
          <a:p>
            <a:fld id="{94604F8F-A59E-DD4D-BE8C-D713B19CD2B5}" type="slidenum">
              <a:rPr kumimoji="1" lang="zh-CN" altLang="en-US" smtClean="0"/>
              <a:t>‹#›</a:t>
            </a:fld>
            <a:endParaRPr kumimoji="1" lang="zh-CN" altLang="en-US"/>
          </a:p>
        </p:txBody>
      </p:sp>
    </p:spTree>
    <p:extLst>
      <p:ext uri="{BB962C8B-B14F-4D97-AF65-F5344CB8AC3E}">
        <p14:creationId xmlns:p14="http://schemas.microsoft.com/office/powerpoint/2010/main" val="22183657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E75DD9-D064-9A41-8D1E-5147BB67BCA9}"/>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82A5BCBC-1139-9C46-970D-3D4E5CAC4073}"/>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F24A9C43-6523-E447-8E9E-89D59FD7BB80}"/>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A76D3BE5-8396-B94C-9A99-8812B78F68C2}"/>
              </a:ext>
            </a:extLst>
          </p:cNvPr>
          <p:cNvSpPr>
            <a:spLocks noGrp="1"/>
          </p:cNvSpPr>
          <p:nvPr>
            <p:ph type="dt" sz="half" idx="10"/>
          </p:nvPr>
        </p:nvSpPr>
        <p:spPr/>
        <p:txBody>
          <a:bodyPr/>
          <a:lstStyle/>
          <a:p>
            <a:fld id="{15781579-CB6A-EA4D-BF6C-5206C8445A92}" type="datetimeFigureOut">
              <a:rPr kumimoji="1" lang="zh-CN" altLang="en-US" smtClean="0"/>
              <a:t>2020/9/9</a:t>
            </a:fld>
            <a:endParaRPr kumimoji="1" lang="zh-CN" altLang="en-US"/>
          </a:p>
        </p:txBody>
      </p:sp>
      <p:sp>
        <p:nvSpPr>
          <p:cNvPr id="6" name="页脚占位符 5">
            <a:extLst>
              <a:ext uri="{FF2B5EF4-FFF2-40B4-BE49-F238E27FC236}">
                <a16:creationId xmlns:a16="http://schemas.microsoft.com/office/drawing/2014/main" id="{0337611F-F737-B54B-986C-4352FC6C0F4F}"/>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CC1DEE32-6FD3-1E4E-B04F-0A5D8D8CCCA9}"/>
              </a:ext>
            </a:extLst>
          </p:cNvPr>
          <p:cNvSpPr>
            <a:spLocks noGrp="1"/>
          </p:cNvSpPr>
          <p:nvPr>
            <p:ph type="sldNum" sz="quarter" idx="12"/>
          </p:nvPr>
        </p:nvSpPr>
        <p:spPr/>
        <p:txBody>
          <a:bodyPr/>
          <a:lstStyle/>
          <a:p>
            <a:fld id="{94604F8F-A59E-DD4D-BE8C-D713B19CD2B5}" type="slidenum">
              <a:rPr kumimoji="1" lang="zh-CN" altLang="en-US" smtClean="0"/>
              <a:t>‹#›</a:t>
            </a:fld>
            <a:endParaRPr kumimoji="1" lang="zh-CN" altLang="en-US"/>
          </a:p>
        </p:txBody>
      </p:sp>
    </p:spTree>
    <p:extLst>
      <p:ext uri="{BB962C8B-B14F-4D97-AF65-F5344CB8AC3E}">
        <p14:creationId xmlns:p14="http://schemas.microsoft.com/office/powerpoint/2010/main" val="872265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B75B91-B50B-F741-A28A-5569734ADA98}"/>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15F8BDCF-9511-BA4E-8FE4-99FCF07207E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215F73F7-597A-BC46-A67A-7D2EDFFD22ED}"/>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B231A1CF-E4B0-DF46-8176-BF178E8B239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A2BFE79F-A7D6-F743-8E89-10005433396B}"/>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7C80F07F-BA7A-0943-A590-CC707EF2A14C}"/>
              </a:ext>
            </a:extLst>
          </p:cNvPr>
          <p:cNvSpPr>
            <a:spLocks noGrp="1"/>
          </p:cNvSpPr>
          <p:nvPr>
            <p:ph type="dt" sz="half" idx="10"/>
          </p:nvPr>
        </p:nvSpPr>
        <p:spPr/>
        <p:txBody>
          <a:bodyPr/>
          <a:lstStyle/>
          <a:p>
            <a:fld id="{15781579-CB6A-EA4D-BF6C-5206C8445A92}" type="datetimeFigureOut">
              <a:rPr kumimoji="1" lang="zh-CN" altLang="en-US" smtClean="0"/>
              <a:t>2020/9/9</a:t>
            </a:fld>
            <a:endParaRPr kumimoji="1" lang="zh-CN" altLang="en-US"/>
          </a:p>
        </p:txBody>
      </p:sp>
      <p:sp>
        <p:nvSpPr>
          <p:cNvPr id="8" name="页脚占位符 7">
            <a:extLst>
              <a:ext uri="{FF2B5EF4-FFF2-40B4-BE49-F238E27FC236}">
                <a16:creationId xmlns:a16="http://schemas.microsoft.com/office/drawing/2014/main" id="{D5CCAD16-7A76-764C-9176-2883A0CD9213}"/>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8F45BD66-C291-FD4E-8BEA-49D2F7151C4D}"/>
              </a:ext>
            </a:extLst>
          </p:cNvPr>
          <p:cNvSpPr>
            <a:spLocks noGrp="1"/>
          </p:cNvSpPr>
          <p:nvPr>
            <p:ph type="sldNum" sz="quarter" idx="12"/>
          </p:nvPr>
        </p:nvSpPr>
        <p:spPr/>
        <p:txBody>
          <a:bodyPr/>
          <a:lstStyle/>
          <a:p>
            <a:fld id="{94604F8F-A59E-DD4D-BE8C-D713B19CD2B5}" type="slidenum">
              <a:rPr kumimoji="1" lang="zh-CN" altLang="en-US" smtClean="0"/>
              <a:t>‹#›</a:t>
            </a:fld>
            <a:endParaRPr kumimoji="1" lang="zh-CN" altLang="en-US"/>
          </a:p>
        </p:txBody>
      </p:sp>
    </p:spTree>
    <p:extLst>
      <p:ext uri="{BB962C8B-B14F-4D97-AF65-F5344CB8AC3E}">
        <p14:creationId xmlns:p14="http://schemas.microsoft.com/office/powerpoint/2010/main" val="513625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078956-1806-DB41-9309-09F89AE69AA9}"/>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B569A7F8-15D5-A44F-8E42-E63F0D450BF1}"/>
              </a:ext>
            </a:extLst>
          </p:cNvPr>
          <p:cNvSpPr>
            <a:spLocks noGrp="1"/>
          </p:cNvSpPr>
          <p:nvPr>
            <p:ph type="dt" sz="half" idx="10"/>
          </p:nvPr>
        </p:nvSpPr>
        <p:spPr/>
        <p:txBody>
          <a:bodyPr/>
          <a:lstStyle/>
          <a:p>
            <a:fld id="{15781579-CB6A-EA4D-BF6C-5206C8445A92}" type="datetimeFigureOut">
              <a:rPr kumimoji="1" lang="zh-CN" altLang="en-US" smtClean="0"/>
              <a:t>2020/9/9</a:t>
            </a:fld>
            <a:endParaRPr kumimoji="1" lang="zh-CN" altLang="en-US"/>
          </a:p>
        </p:txBody>
      </p:sp>
      <p:sp>
        <p:nvSpPr>
          <p:cNvPr id="4" name="页脚占位符 3">
            <a:extLst>
              <a:ext uri="{FF2B5EF4-FFF2-40B4-BE49-F238E27FC236}">
                <a16:creationId xmlns:a16="http://schemas.microsoft.com/office/drawing/2014/main" id="{74B58544-DB77-084A-97EE-0BB0530168AC}"/>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25BA88CD-8A4F-374C-A920-442655BCC230}"/>
              </a:ext>
            </a:extLst>
          </p:cNvPr>
          <p:cNvSpPr>
            <a:spLocks noGrp="1"/>
          </p:cNvSpPr>
          <p:nvPr>
            <p:ph type="sldNum" sz="quarter" idx="12"/>
          </p:nvPr>
        </p:nvSpPr>
        <p:spPr/>
        <p:txBody>
          <a:bodyPr/>
          <a:lstStyle/>
          <a:p>
            <a:fld id="{94604F8F-A59E-DD4D-BE8C-D713B19CD2B5}" type="slidenum">
              <a:rPr kumimoji="1" lang="zh-CN" altLang="en-US" smtClean="0"/>
              <a:t>‹#›</a:t>
            </a:fld>
            <a:endParaRPr kumimoji="1" lang="zh-CN" altLang="en-US"/>
          </a:p>
        </p:txBody>
      </p:sp>
    </p:spTree>
    <p:extLst>
      <p:ext uri="{BB962C8B-B14F-4D97-AF65-F5344CB8AC3E}">
        <p14:creationId xmlns:p14="http://schemas.microsoft.com/office/powerpoint/2010/main" val="1529947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0DD03C5-85D4-234E-910A-96BE6EEE3FAA}"/>
              </a:ext>
            </a:extLst>
          </p:cNvPr>
          <p:cNvSpPr>
            <a:spLocks noGrp="1"/>
          </p:cNvSpPr>
          <p:nvPr>
            <p:ph type="dt" sz="half" idx="10"/>
          </p:nvPr>
        </p:nvSpPr>
        <p:spPr/>
        <p:txBody>
          <a:bodyPr/>
          <a:lstStyle/>
          <a:p>
            <a:fld id="{15781579-CB6A-EA4D-BF6C-5206C8445A92}" type="datetimeFigureOut">
              <a:rPr kumimoji="1" lang="zh-CN" altLang="en-US" smtClean="0"/>
              <a:t>2020/9/9</a:t>
            </a:fld>
            <a:endParaRPr kumimoji="1" lang="zh-CN" altLang="en-US"/>
          </a:p>
        </p:txBody>
      </p:sp>
      <p:sp>
        <p:nvSpPr>
          <p:cNvPr id="3" name="页脚占位符 2">
            <a:extLst>
              <a:ext uri="{FF2B5EF4-FFF2-40B4-BE49-F238E27FC236}">
                <a16:creationId xmlns:a16="http://schemas.microsoft.com/office/drawing/2014/main" id="{A926BEDC-F8D1-9A47-A318-3120E5AFF0E8}"/>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D83FF060-C375-794A-8882-DCC1205DFBD0}"/>
              </a:ext>
            </a:extLst>
          </p:cNvPr>
          <p:cNvSpPr>
            <a:spLocks noGrp="1"/>
          </p:cNvSpPr>
          <p:nvPr>
            <p:ph type="sldNum" sz="quarter" idx="12"/>
          </p:nvPr>
        </p:nvSpPr>
        <p:spPr/>
        <p:txBody>
          <a:bodyPr/>
          <a:lstStyle/>
          <a:p>
            <a:fld id="{94604F8F-A59E-DD4D-BE8C-D713B19CD2B5}" type="slidenum">
              <a:rPr kumimoji="1" lang="zh-CN" altLang="en-US" smtClean="0"/>
              <a:t>‹#›</a:t>
            </a:fld>
            <a:endParaRPr kumimoji="1" lang="zh-CN" altLang="en-US"/>
          </a:p>
        </p:txBody>
      </p:sp>
    </p:spTree>
    <p:extLst>
      <p:ext uri="{BB962C8B-B14F-4D97-AF65-F5344CB8AC3E}">
        <p14:creationId xmlns:p14="http://schemas.microsoft.com/office/powerpoint/2010/main" val="6682413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FF5064-6DCB-5049-BACB-C56A091FFAFB}"/>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3808370D-0DDB-B041-8567-D0D95F5BDC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9219CE5B-073C-BD49-8D04-C29FA8664D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D8CDABAC-9ADD-8349-A6C3-8279BB6079CC}"/>
              </a:ext>
            </a:extLst>
          </p:cNvPr>
          <p:cNvSpPr>
            <a:spLocks noGrp="1"/>
          </p:cNvSpPr>
          <p:nvPr>
            <p:ph type="dt" sz="half" idx="10"/>
          </p:nvPr>
        </p:nvSpPr>
        <p:spPr/>
        <p:txBody>
          <a:bodyPr/>
          <a:lstStyle/>
          <a:p>
            <a:fld id="{15781579-CB6A-EA4D-BF6C-5206C8445A92}" type="datetimeFigureOut">
              <a:rPr kumimoji="1" lang="zh-CN" altLang="en-US" smtClean="0"/>
              <a:t>2020/9/9</a:t>
            </a:fld>
            <a:endParaRPr kumimoji="1" lang="zh-CN" altLang="en-US"/>
          </a:p>
        </p:txBody>
      </p:sp>
      <p:sp>
        <p:nvSpPr>
          <p:cNvPr id="6" name="页脚占位符 5">
            <a:extLst>
              <a:ext uri="{FF2B5EF4-FFF2-40B4-BE49-F238E27FC236}">
                <a16:creationId xmlns:a16="http://schemas.microsoft.com/office/drawing/2014/main" id="{5CAA497E-90AD-1B45-9B51-3240B02A84F6}"/>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E588FAFA-A56A-574D-9145-DF7E3C00BF97}"/>
              </a:ext>
            </a:extLst>
          </p:cNvPr>
          <p:cNvSpPr>
            <a:spLocks noGrp="1"/>
          </p:cNvSpPr>
          <p:nvPr>
            <p:ph type="sldNum" sz="quarter" idx="12"/>
          </p:nvPr>
        </p:nvSpPr>
        <p:spPr/>
        <p:txBody>
          <a:bodyPr/>
          <a:lstStyle/>
          <a:p>
            <a:fld id="{94604F8F-A59E-DD4D-BE8C-D713B19CD2B5}" type="slidenum">
              <a:rPr kumimoji="1" lang="zh-CN" altLang="en-US" smtClean="0"/>
              <a:t>‹#›</a:t>
            </a:fld>
            <a:endParaRPr kumimoji="1" lang="zh-CN" altLang="en-US"/>
          </a:p>
        </p:txBody>
      </p:sp>
    </p:spTree>
    <p:extLst>
      <p:ext uri="{BB962C8B-B14F-4D97-AF65-F5344CB8AC3E}">
        <p14:creationId xmlns:p14="http://schemas.microsoft.com/office/powerpoint/2010/main" val="1653445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C7071D-2E01-5242-A29A-D2785F34421C}"/>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C001D92F-9322-5E4C-AEDC-BB2C33ABDD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2F1F4889-2F93-EF4B-8F02-12B797AF91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7F850E95-7326-C945-B4F0-22FB8381B29D}"/>
              </a:ext>
            </a:extLst>
          </p:cNvPr>
          <p:cNvSpPr>
            <a:spLocks noGrp="1"/>
          </p:cNvSpPr>
          <p:nvPr>
            <p:ph type="dt" sz="half" idx="10"/>
          </p:nvPr>
        </p:nvSpPr>
        <p:spPr/>
        <p:txBody>
          <a:bodyPr/>
          <a:lstStyle/>
          <a:p>
            <a:fld id="{15781579-CB6A-EA4D-BF6C-5206C8445A92}" type="datetimeFigureOut">
              <a:rPr kumimoji="1" lang="zh-CN" altLang="en-US" smtClean="0"/>
              <a:t>2020/9/9</a:t>
            </a:fld>
            <a:endParaRPr kumimoji="1" lang="zh-CN" altLang="en-US"/>
          </a:p>
        </p:txBody>
      </p:sp>
      <p:sp>
        <p:nvSpPr>
          <p:cNvPr id="6" name="页脚占位符 5">
            <a:extLst>
              <a:ext uri="{FF2B5EF4-FFF2-40B4-BE49-F238E27FC236}">
                <a16:creationId xmlns:a16="http://schemas.microsoft.com/office/drawing/2014/main" id="{F9BC2E4C-EC76-3046-971D-5B4BEE91755C}"/>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2DBEE77A-E46E-4E46-9C2F-5A9D9D1AB383}"/>
              </a:ext>
            </a:extLst>
          </p:cNvPr>
          <p:cNvSpPr>
            <a:spLocks noGrp="1"/>
          </p:cNvSpPr>
          <p:nvPr>
            <p:ph type="sldNum" sz="quarter" idx="12"/>
          </p:nvPr>
        </p:nvSpPr>
        <p:spPr/>
        <p:txBody>
          <a:bodyPr/>
          <a:lstStyle/>
          <a:p>
            <a:fld id="{94604F8F-A59E-DD4D-BE8C-D713B19CD2B5}" type="slidenum">
              <a:rPr kumimoji="1" lang="zh-CN" altLang="en-US" smtClean="0"/>
              <a:t>‹#›</a:t>
            </a:fld>
            <a:endParaRPr kumimoji="1" lang="zh-CN" altLang="en-US"/>
          </a:p>
        </p:txBody>
      </p:sp>
    </p:spTree>
    <p:extLst>
      <p:ext uri="{BB962C8B-B14F-4D97-AF65-F5344CB8AC3E}">
        <p14:creationId xmlns:p14="http://schemas.microsoft.com/office/powerpoint/2010/main" val="8126508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FD2844-F0CC-0043-8F65-FA4296C616F8}"/>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D195AC6A-D039-5D43-98AB-51E3C504B778}"/>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DA955826-F385-7347-A93D-FCD8072A8BD0}"/>
              </a:ext>
            </a:extLst>
          </p:cNvPr>
          <p:cNvSpPr>
            <a:spLocks noGrp="1"/>
          </p:cNvSpPr>
          <p:nvPr>
            <p:ph type="dt" sz="half" idx="10"/>
          </p:nvPr>
        </p:nvSpPr>
        <p:spPr/>
        <p:txBody>
          <a:bodyPr/>
          <a:lstStyle/>
          <a:p>
            <a:fld id="{15781579-CB6A-EA4D-BF6C-5206C8445A92}" type="datetimeFigureOut">
              <a:rPr kumimoji="1" lang="zh-CN" altLang="en-US" smtClean="0"/>
              <a:t>2020/9/9</a:t>
            </a:fld>
            <a:endParaRPr kumimoji="1" lang="zh-CN" altLang="en-US"/>
          </a:p>
        </p:txBody>
      </p:sp>
      <p:sp>
        <p:nvSpPr>
          <p:cNvPr id="5" name="页脚占位符 4">
            <a:extLst>
              <a:ext uri="{FF2B5EF4-FFF2-40B4-BE49-F238E27FC236}">
                <a16:creationId xmlns:a16="http://schemas.microsoft.com/office/drawing/2014/main" id="{BAFC3FB3-42A3-664B-8B23-5198D9F8303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FEABE643-A349-FB4E-BC6B-B89A8424C6B3}"/>
              </a:ext>
            </a:extLst>
          </p:cNvPr>
          <p:cNvSpPr>
            <a:spLocks noGrp="1"/>
          </p:cNvSpPr>
          <p:nvPr>
            <p:ph type="sldNum" sz="quarter" idx="12"/>
          </p:nvPr>
        </p:nvSpPr>
        <p:spPr/>
        <p:txBody>
          <a:bodyPr/>
          <a:lstStyle/>
          <a:p>
            <a:fld id="{94604F8F-A59E-DD4D-BE8C-D713B19CD2B5}" type="slidenum">
              <a:rPr kumimoji="1" lang="zh-CN" altLang="en-US" smtClean="0"/>
              <a:t>‹#›</a:t>
            </a:fld>
            <a:endParaRPr kumimoji="1" lang="zh-CN" altLang="en-US"/>
          </a:p>
        </p:txBody>
      </p:sp>
    </p:spTree>
    <p:extLst>
      <p:ext uri="{BB962C8B-B14F-4D97-AF65-F5344CB8AC3E}">
        <p14:creationId xmlns:p14="http://schemas.microsoft.com/office/powerpoint/2010/main" val="31369335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94EE206F-91C8-1140-8DD4-CC610B3E896D}"/>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5DF91356-0D68-5A48-B239-ABFF8D9971F0}"/>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24EF4C2B-DCB4-6E47-A985-19E14F4E712A}"/>
              </a:ext>
            </a:extLst>
          </p:cNvPr>
          <p:cNvSpPr>
            <a:spLocks noGrp="1"/>
          </p:cNvSpPr>
          <p:nvPr>
            <p:ph type="dt" sz="half" idx="10"/>
          </p:nvPr>
        </p:nvSpPr>
        <p:spPr/>
        <p:txBody>
          <a:bodyPr/>
          <a:lstStyle/>
          <a:p>
            <a:fld id="{15781579-CB6A-EA4D-BF6C-5206C8445A92}" type="datetimeFigureOut">
              <a:rPr kumimoji="1" lang="zh-CN" altLang="en-US" smtClean="0"/>
              <a:t>2020/9/9</a:t>
            </a:fld>
            <a:endParaRPr kumimoji="1" lang="zh-CN" altLang="en-US"/>
          </a:p>
        </p:txBody>
      </p:sp>
      <p:sp>
        <p:nvSpPr>
          <p:cNvPr id="5" name="页脚占位符 4">
            <a:extLst>
              <a:ext uri="{FF2B5EF4-FFF2-40B4-BE49-F238E27FC236}">
                <a16:creationId xmlns:a16="http://schemas.microsoft.com/office/drawing/2014/main" id="{DB622D26-B898-9B48-B108-B1578FFB9A6D}"/>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F988F327-AD3E-4640-AD0A-C1AE421EDDFA}"/>
              </a:ext>
            </a:extLst>
          </p:cNvPr>
          <p:cNvSpPr>
            <a:spLocks noGrp="1"/>
          </p:cNvSpPr>
          <p:nvPr>
            <p:ph type="sldNum" sz="quarter" idx="12"/>
          </p:nvPr>
        </p:nvSpPr>
        <p:spPr/>
        <p:txBody>
          <a:bodyPr/>
          <a:lstStyle/>
          <a:p>
            <a:fld id="{94604F8F-A59E-DD4D-BE8C-D713B19CD2B5}" type="slidenum">
              <a:rPr kumimoji="1" lang="zh-CN" altLang="en-US" smtClean="0"/>
              <a:t>‹#›</a:t>
            </a:fld>
            <a:endParaRPr kumimoji="1" lang="zh-CN" altLang="en-US"/>
          </a:p>
        </p:txBody>
      </p:sp>
    </p:spTree>
    <p:extLst>
      <p:ext uri="{BB962C8B-B14F-4D97-AF65-F5344CB8AC3E}">
        <p14:creationId xmlns:p14="http://schemas.microsoft.com/office/powerpoint/2010/main" val="37407693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D0705C39-631A-DE43-B9A6-1BB72FAC06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F6666678-AE35-BA43-94A5-C9D8CD7BBB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B96E5189-F51B-274F-94B8-847FCF450E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781579-CB6A-EA4D-BF6C-5206C8445A92}" type="datetimeFigureOut">
              <a:rPr kumimoji="1" lang="zh-CN" altLang="en-US" smtClean="0"/>
              <a:t>2020/9/9</a:t>
            </a:fld>
            <a:endParaRPr kumimoji="1" lang="zh-CN" altLang="en-US"/>
          </a:p>
        </p:txBody>
      </p:sp>
      <p:sp>
        <p:nvSpPr>
          <p:cNvPr id="5" name="页脚占位符 4">
            <a:extLst>
              <a:ext uri="{FF2B5EF4-FFF2-40B4-BE49-F238E27FC236}">
                <a16:creationId xmlns:a16="http://schemas.microsoft.com/office/drawing/2014/main" id="{8CC01A87-328F-2E46-858B-7C5E9783516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9735B32A-3284-A740-80E3-90B39227319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604F8F-A59E-DD4D-BE8C-D713B19CD2B5}" type="slidenum">
              <a:rPr kumimoji="1" lang="zh-CN" altLang="en-US" smtClean="0"/>
              <a:t>‹#›</a:t>
            </a:fld>
            <a:endParaRPr kumimoji="1" lang="zh-CN" altLang="en-US"/>
          </a:p>
        </p:txBody>
      </p:sp>
    </p:spTree>
    <p:extLst>
      <p:ext uri="{BB962C8B-B14F-4D97-AF65-F5344CB8AC3E}">
        <p14:creationId xmlns:p14="http://schemas.microsoft.com/office/powerpoint/2010/main" val="39753869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package" Target="../embeddings/Microsoft_Visio_Drawing1.vsdx"/><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3.png"/><Relationship Id="rId4" Type="http://schemas.openxmlformats.org/officeDocument/2006/relationships/image" Target="../media/image2.e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663F96-A5EA-4E46-98D2-D692FC1C9E39}"/>
              </a:ext>
            </a:extLst>
          </p:cNvPr>
          <p:cNvSpPr>
            <a:spLocks noGrp="1"/>
          </p:cNvSpPr>
          <p:nvPr>
            <p:ph type="ctrTitle"/>
          </p:nvPr>
        </p:nvSpPr>
        <p:spPr/>
        <p:txBody>
          <a:bodyPr/>
          <a:lstStyle/>
          <a:p>
            <a:r>
              <a:rPr kumimoji="1" lang="zh-CN" altLang="en-US" dirty="0"/>
              <a:t>智能目录</a:t>
            </a:r>
          </a:p>
        </p:txBody>
      </p:sp>
      <p:sp>
        <p:nvSpPr>
          <p:cNvPr id="3" name="副标题 2">
            <a:extLst>
              <a:ext uri="{FF2B5EF4-FFF2-40B4-BE49-F238E27FC236}">
                <a16:creationId xmlns:a16="http://schemas.microsoft.com/office/drawing/2014/main" id="{B0A99375-2D4F-3B41-9B73-FEDE1FEED1A8}"/>
              </a:ext>
            </a:extLst>
          </p:cNvPr>
          <p:cNvSpPr>
            <a:spLocks noGrp="1"/>
          </p:cNvSpPr>
          <p:nvPr>
            <p:ph type="subTitle" idx="1"/>
          </p:nvPr>
        </p:nvSpPr>
        <p:spPr/>
        <p:txBody>
          <a:bodyPr/>
          <a:lstStyle/>
          <a:p>
            <a:r>
              <a:rPr kumimoji="1" lang="zh-CN" altLang="en-US" dirty="0"/>
              <a:t>司徒凌云</a:t>
            </a:r>
            <a:endParaRPr kumimoji="1" lang="en-US" altLang="zh-CN" dirty="0"/>
          </a:p>
          <a:p>
            <a:r>
              <a:rPr kumimoji="1" lang="en-US" altLang="zh-CN" dirty="0"/>
              <a:t>2020-09-09</a:t>
            </a:r>
            <a:endParaRPr kumimoji="1" lang="zh-CN" altLang="en-US" dirty="0"/>
          </a:p>
        </p:txBody>
      </p:sp>
    </p:spTree>
    <p:extLst>
      <p:ext uri="{BB962C8B-B14F-4D97-AF65-F5344CB8AC3E}">
        <p14:creationId xmlns:p14="http://schemas.microsoft.com/office/powerpoint/2010/main" val="16812184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2B1EAE-771E-854C-B0C1-49F1355EFF77}"/>
              </a:ext>
            </a:extLst>
          </p:cNvPr>
          <p:cNvSpPr>
            <a:spLocks noGrp="1"/>
          </p:cNvSpPr>
          <p:nvPr>
            <p:ph type="title"/>
          </p:nvPr>
        </p:nvSpPr>
        <p:spPr/>
        <p:txBody>
          <a:bodyPr/>
          <a:lstStyle/>
          <a:p>
            <a:r>
              <a:rPr kumimoji="1" lang="zh-CN" altLang="en-US" dirty="0"/>
              <a:t>目录</a:t>
            </a:r>
          </a:p>
        </p:txBody>
      </p:sp>
      <p:sp>
        <p:nvSpPr>
          <p:cNvPr id="3" name="内容占位符 2">
            <a:extLst>
              <a:ext uri="{FF2B5EF4-FFF2-40B4-BE49-F238E27FC236}">
                <a16:creationId xmlns:a16="http://schemas.microsoft.com/office/drawing/2014/main" id="{5CFDD080-9AE3-DF41-985E-F2BDA1AF90ED}"/>
              </a:ext>
            </a:extLst>
          </p:cNvPr>
          <p:cNvSpPr>
            <a:spLocks noGrp="1"/>
          </p:cNvSpPr>
          <p:nvPr>
            <p:ph idx="1"/>
          </p:nvPr>
        </p:nvSpPr>
        <p:spPr/>
        <p:txBody>
          <a:bodyPr/>
          <a:lstStyle/>
          <a:p>
            <a:r>
              <a:rPr kumimoji="1" lang="zh-CN" altLang="en-US" dirty="0"/>
              <a:t>什么是目录学</a:t>
            </a:r>
            <a:endParaRPr kumimoji="1" lang="en-US" altLang="zh-CN" dirty="0"/>
          </a:p>
          <a:p>
            <a:r>
              <a:rPr kumimoji="1" lang="zh-CN" altLang="en-US" dirty="0"/>
              <a:t>目录学的发展</a:t>
            </a:r>
            <a:endParaRPr kumimoji="1" lang="en-US" altLang="zh-CN" dirty="0"/>
          </a:p>
          <a:p>
            <a:r>
              <a:rPr kumimoji="1" lang="zh-CN" altLang="en-US" dirty="0"/>
              <a:t>智能目录的功能</a:t>
            </a:r>
            <a:endParaRPr kumimoji="1" lang="en-US" altLang="zh-CN" dirty="0"/>
          </a:p>
          <a:p>
            <a:r>
              <a:rPr kumimoji="1" lang="zh-CN" altLang="en-US" dirty="0"/>
              <a:t>智能目录的应用</a:t>
            </a:r>
            <a:endParaRPr kumimoji="1" lang="en-US" altLang="zh-CN" dirty="0"/>
          </a:p>
          <a:p>
            <a:endParaRPr kumimoji="1" lang="en-US" altLang="zh-CN" dirty="0"/>
          </a:p>
          <a:p>
            <a:r>
              <a:rPr kumimoji="1" lang="zh-CN" altLang="en-US" dirty="0"/>
              <a:t>研究课题介绍</a:t>
            </a:r>
            <a:endParaRPr kumimoji="1" lang="en-US" altLang="zh-CN" dirty="0"/>
          </a:p>
          <a:p>
            <a:endParaRPr kumimoji="1" lang="en-US" altLang="zh-CN" dirty="0"/>
          </a:p>
          <a:p>
            <a:endParaRPr kumimoji="1" lang="zh-CN" altLang="en-US" dirty="0"/>
          </a:p>
        </p:txBody>
      </p:sp>
    </p:spTree>
    <p:extLst>
      <p:ext uri="{BB962C8B-B14F-4D97-AF65-F5344CB8AC3E}">
        <p14:creationId xmlns:p14="http://schemas.microsoft.com/office/powerpoint/2010/main" val="27061651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14602A-50A9-46B7-9BF3-081730A53754}"/>
              </a:ext>
            </a:extLst>
          </p:cNvPr>
          <p:cNvSpPr>
            <a:spLocks noGrp="1"/>
          </p:cNvSpPr>
          <p:nvPr>
            <p:ph type="title"/>
          </p:nvPr>
        </p:nvSpPr>
        <p:spPr>
          <a:xfrm>
            <a:off x="934720" y="333176"/>
            <a:ext cx="10515600" cy="1114425"/>
          </a:xfrm>
        </p:spPr>
        <p:txBody>
          <a:bodyPr>
            <a:normAutofit/>
          </a:bodyPr>
          <a:lstStyle/>
          <a:p>
            <a:r>
              <a:rPr lang="zh-CN" altLang="en-US" sz="4200" b="1" dirty="0">
                <a:latin typeface="宋体" panose="02010600030101010101" pitchFamily="2" charset="-122"/>
                <a:ea typeface="宋体" panose="02010600030101010101" pitchFamily="2" charset="-122"/>
              </a:rPr>
              <a:t>什么是目录学</a:t>
            </a:r>
          </a:p>
        </p:txBody>
      </p:sp>
      <p:sp>
        <p:nvSpPr>
          <p:cNvPr id="3" name="内容占位符 2">
            <a:extLst>
              <a:ext uri="{FF2B5EF4-FFF2-40B4-BE49-F238E27FC236}">
                <a16:creationId xmlns:a16="http://schemas.microsoft.com/office/drawing/2014/main" id="{D982E816-0F99-40EE-BC23-20C4CF6D1EB5}"/>
              </a:ext>
            </a:extLst>
          </p:cNvPr>
          <p:cNvSpPr>
            <a:spLocks noGrp="1"/>
          </p:cNvSpPr>
          <p:nvPr>
            <p:ph idx="1"/>
          </p:nvPr>
        </p:nvSpPr>
        <p:spPr>
          <a:xfrm>
            <a:off x="934720" y="2894229"/>
            <a:ext cx="9870440" cy="3040441"/>
          </a:xfrm>
        </p:spPr>
        <p:txBody>
          <a:bodyPr>
            <a:normAutofit/>
          </a:bodyPr>
          <a:lstStyle/>
          <a:p>
            <a:pPr marL="0" indent="0">
              <a:lnSpc>
                <a:spcPct val="110000"/>
              </a:lnSpc>
              <a:spcBef>
                <a:spcPts val="0"/>
              </a:spcBef>
              <a:buNone/>
            </a:pPr>
            <a:r>
              <a:rPr lang="zh-CN" altLang="en-US" sz="2600" dirty="0">
                <a:latin typeface="宋体" panose="02010600030101010101" pitchFamily="2" charset="-122"/>
                <a:ea typeface="宋体" panose="02010600030101010101" pitchFamily="2" charset="-122"/>
              </a:rPr>
              <a:t>（</a:t>
            </a:r>
            <a:r>
              <a:rPr lang="en-US" altLang="zh-CN" sz="2600" dirty="0">
                <a:latin typeface="宋体" panose="02010600030101010101" pitchFamily="2" charset="-122"/>
                <a:ea typeface="宋体" panose="02010600030101010101" pitchFamily="2" charset="-122"/>
              </a:rPr>
              <a:t>1</a:t>
            </a:r>
            <a:r>
              <a:rPr lang="zh-CN" altLang="en-US" sz="2600" dirty="0">
                <a:latin typeface="宋体" panose="02010600030101010101" pitchFamily="2" charset="-122"/>
                <a:ea typeface="宋体" panose="02010600030101010101" pitchFamily="2" charset="-122"/>
              </a:rPr>
              <a:t>）</a:t>
            </a:r>
            <a:r>
              <a:rPr lang="zh-CN" altLang="en-US" sz="2600" b="1" dirty="0">
                <a:latin typeface="宋体" panose="02010600030101010101" pitchFamily="2" charset="-122"/>
                <a:ea typeface="宋体" panose="02010600030101010101" pitchFamily="2" charset="-122"/>
              </a:rPr>
              <a:t>矛盾说</a:t>
            </a:r>
            <a:r>
              <a:rPr lang="zh-CN" altLang="en-US" sz="2600" dirty="0">
                <a:latin typeface="宋体" panose="02010600030101010101" pitchFamily="2" charset="-122"/>
                <a:ea typeface="宋体" panose="02010600030101010101" pitchFamily="2" charset="-122"/>
              </a:rPr>
              <a:t>主要认为目录学的研究对象是揭示与报导文献信息与人们对文献信息的特定需要的矛盾，但受到了目录学界的多次批评与质疑</a:t>
            </a:r>
            <a:r>
              <a:rPr lang="en-US" altLang="zh-CN" sz="2600" baseline="30000" dirty="0">
                <a:latin typeface="宋体" panose="02010600030101010101" pitchFamily="2" charset="-122"/>
                <a:ea typeface="宋体" panose="02010600030101010101" pitchFamily="2" charset="-122"/>
              </a:rPr>
              <a:t>[1]</a:t>
            </a:r>
            <a:r>
              <a:rPr lang="zh-CN" altLang="en-US" sz="2600" dirty="0">
                <a:latin typeface="宋体" panose="02010600030101010101" pitchFamily="2" charset="-122"/>
                <a:ea typeface="宋体" panose="02010600030101010101" pitchFamily="2" charset="-122"/>
              </a:rPr>
              <a:t>。</a:t>
            </a:r>
            <a:endParaRPr lang="en-US" altLang="zh-CN" sz="2600" dirty="0">
              <a:latin typeface="宋体" panose="02010600030101010101" pitchFamily="2" charset="-122"/>
              <a:ea typeface="宋体" panose="02010600030101010101" pitchFamily="2" charset="-122"/>
            </a:endParaRPr>
          </a:p>
          <a:p>
            <a:pPr marL="0" indent="0">
              <a:lnSpc>
                <a:spcPct val="110000"/>
              </a:lnSpc>
              <a:spcBef>
                <a:spcPts val="0"/>
              </a:spcBef>
              <a:buNone/>
            </a:pPr>
            <a:endParaRPr lang="en-US" altLang="zh-CN" sz="1000" dirty="0">
              <a:latin typeface="宋体" panose="02010600030101010101" pitchFamily="2" charset="-122"/>
              <a:ea typeface="宋体" panose="02010600030101010101" pitchFamily="2" charset="-122"/>
            </a:endParaRPr>
          </a:p>
          <a:p>
            <a:pPr marL="0" indent="0">
              <a:lnSpc>
                <a:spcPct val="110000"/>
              </a:lnSpc>
              <a:spcBef>
                <a:spcPts val="0"/>
              </a:spcBef>
              <a:buNone/>
            </a:pPr>
            <a:r>
              <a:rPr lang="zh-CN" altLang="en-US" sz="2600" dirty="0">
                <a:latin typeface="宋体" panose="02010600030101010101" pitchFamily="2" charset="-122"/>
                <a:ea typeface="宋体" panose="02010600030101010101" pitchFamily="2" charset="-122"/>
              </a:rPr>
              <a:t>（</a:t>
            </a:r>
            <a:r>
              <a:rPr lang="en-US" altLang="zh-CN" sz="2600" dirty="0">
                <a:latin typeface="宋体" panose="02010600030101010101" pitchFamily="2" charset="-122"/>
                <a:ea typeface="宋体" panose="02010600030101010101" pitchFamily="2" charset="-122"/>
              </a:rPr>
              <a:t>2</a:t>
            </a:r>
            <a:r>
              <a:rPr lang="zh-CN" altLang="en-US" sz="2600" dirty="0">
                <a:latin typeface="宋体" panose="02010600030101010101" pitchFamily="2" charset="-122"/>
                <a:ea typeface="宋体" panose="02010600030101010101" pitchFamily="2" charset="-122"/>
              </a:rPr>
              <a:t>）</a:t>
            </a:r>
            <a:r>
              <a:rPr lang="zh-CN" altLang="en-US" sz="2600" b="1" dirty="0">
                <a:latin typeface="宋体" panose="02010600030101010101" pitchFamily="2" charset="-122"/>
                <a:ea typeface="宋体" panose="02010600030101010101" pitchFamily="2" charset="-122"/>
              </a:rPr>
              <a:t>规律说</a:t>
            </a:r>
            <a:r>
              <a:rPr lang="zh-CN" altLang="en-US" sz="2600" dirty="0">
                <a:latin typeface="宋体" panose="02010600030101010101" pitchFamily="2" charset="-122"/>
                <a:ea typeface="宋体" panose="02010600030101010101" pitchFamily="2" charset="-122"/>
              </a:rPr>
              <a:t>中彭斐章</a:t>
            </a:r>
            <a:r>
              <a:rPr lang="en-US" altLang="zh-CN" sz="2600" baseline="30000" dirty="0">
                <a:latin typeface="宋体" panose="02010600030101010101" pitchFamily="2" charset="-122"/>
                <a:ea typeface="宋体" panose="02010600030101010101" pitchFamily="2" charset="-122"/>
              </a:rPr>
              <a:t>[2]</a:t>
            </a:r>
            <a:r>
              <a:rPr lang="zh-CN" altLang="en-US" sz="2600" dirty="0">
                <a:latin typeface="宋体" panose="02010600030101010101" pitchFamily="2" charset="-122"/>
                <a:ea typeface="宋体" panose="02010600030101010101" pitchFamily="2" charset="-122"/>
              </a:rPr>
              <a:t>提出“</a:t>
            </a:r>
            <a:r>
              <a:rPr lang="zh-CN" altLang="en-US" sz="2600" b="1" dirty="0">
                <a:latin typeface="宋体" panose="02010600030101010101" pitchFamily="2" charset="-122"/>
                <a:ea typeface="宋体" panose="02010600030101010101" pitchFamily="2" charset="-122"/>
              </a:rPr>
              <a:t>目录学是研究目录工作形成和发展的一般规律（即研究书目情报运动规律）的科学</a:t>
            </a:r>
            <a:r>
              <a:rPr lang="zh-CN" altLang="en-US" sz="2600" dirty="0">
                <a:latin typeface="宋体" panose="02010600030101010101" pitchFamily="2" charset="-122"/>
                <a:ea typeface="宋体" panose="02010600030101010101" pitchFamily="2" charset="-122"/>
              </a:rPr>
              <a:t>”，将研究对象与定义进行统一，成为当前较为统一的观点。</a:t>
            </a:r>
            <a:endParaRPr lang="en-US" altLang="zh-CN" sz="2600" dirty="0">
              <a:latin typeface="宋体" panose="02010600030101010101" pitchFamily="2" charset="-122"/>
              <a:ea typeface="宋体" panose="02010600030101010101" pitchFamily="2" charset="-122"/>
            </a:endParaRPr>
          </a:p>
        </p:txBody>
      </p:sp>
      <p:sp>
        <p:nvSpPr>
          <p:cNvPr id="4" name="文本框 3">
            <a:extLst>
              <a:ext uri="{FF2B5EF4-FFF2-40B4-BE49-F238E27FC236}">
                <a16:creationId xmlns:a16="http://schemas.microsoft.com/office/drawing/2014/main" id="{1B75DFB8-E8A1-403D-9404-F936211F018C}"/>
              </a:ext>
            </a:extLst>
          </p:cNvPr>
          <p:cNvSpPr txBox="1"/>
          <p:nvPr/>
        </p:nvSpPr>
        <p:spPr>
          <a:xfrm>
            <a:off x="612140" y="5934670"/>
            <a:ext cx="10967720" cy="923330"/>
          </a:xfrm>
          <a:prstGeom prst="rect">
            <a:avLst/>
          </a:prstGeom>
          <a:noFill/>
        </p:spPr>
        <p:txBody>
          <a:bodyPr wrap="square" rtlCol="0">
            <a:spAutoFit/>
          </a:bodyPr>
          <a:lstStyle/>
          <a:p>
            <a:r>
              <a:rPr lang="en-US" altLang="zh-CN" dirty="0">
                <a:latin typeface="宋体" panose="02010600030101010101" pitchFamily="2" charset="-122"/>
                <a:ea typeface="宋体" panose="02010600030101010101" pitchFamily="2" charset="-122"/>
              </a:rPr>
              <a:t>[1]</a:t>
            </a:r>
            <a:r>
              <a:rPr lang="zh-CN" altLang="zh-CN" dirty="0">
                <a:latin typeface="宋体" panose="02010600030101010101" pitchFamily="2" charset="-122"/>
                <a:ea typeface="宋体" panose="02010600030101010101" pitchFamily="2" charset="-122"/>
              </a:rPr>
              <a:t>刘国华</a:t>
            </a:r>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评目录学研究对象</a:t>
            </a:r>
            <a:r>
              <a:rPr lang="en-US" altLang="zh-CN" dirty="0">
                <a:latin typeface="宋体" panose="02010600030101010101" pitchFamily="2" charset="-122"/>
                <a:ea typeface="宋体" panose="02010600030101010101" pitchFamily="2" charset="-122"/>
              </a:rPr>
              <a:t>“</a:t>
            </a:r>
            <a:r>
              <a:rPr lang="zh-CN" altLang="zh-CN" dirty="0">
                <a:latin typeface="宋体" panose="02010600030101010101" pitchFamily="2" charset="-122"/>
                <a:ea typeface="宋体" panose="02010600030101010101" pitchFamily="2" charset="-122"/>
              </a:rPr>
              <a:t>矛盾说</a:t>
            </a:r>
            <a:r>
              <a:rPr lang="en-US" altLang="zh-CN" dirty="0">
                <a:latin typeface="宋体" panose="02010600030101010101" pitchFamily="2" charset="-122"/>
                <a:ea typeface="宋体" panose="02010600030101010101" pitchFamily="2" charset="-122"/>
              </a:rPr>
              <a:t>”——</a:t>
            </a:r>
            <a:r>
              <a:rPr lang="zh-CN" altLang="zh-CN" dirty="0">
                <a:latin typeface="宋体" panose="02010600030101010101" pitchFamily="2" charset="-122"/>
                <a:ea typeface="宋体" panose="02010600030101010101" pitchFamily="2" charset="-122"/>
              </a:rPr>
              <a:t>兼论目录学研究对象</a:t>
            </a:r>
            <a:r>
              <a:rPr lang="en-US" altLang="zh-CN" dirty="0">
                <a:latin typeface="宋体" panose="02010600030101010101" pitchFamily="2" charset="-122"/>
                <a:ea typeface="宋体" panose="02010600030101010101" pitchFamily="2" charset="-122"/>
              </a:rPr>
              <a:t>[J]. </a:t>
            </a:r>
            <a:r>
              <a:rPr lang="zh-CN" altLang="zh-CN" dirty="0">
                <a:latin typeface="宋体" panose="02010600030101010101" pitchFamily="2" charset="-122"/>
                <a:ea typeface="宋体" panose="02010600030101010101" pitchFamily="2" charset="-122"/>
              </a:rPr>
              <a:t>图书情报工作</a:t>
            </a:r>
            <a:r>
              <a:rPr lang="en-US" altLang="zh-CN" dirty="0">
                <a:latin typeface="宋体" panose="02010600030101010101" pitchFamily="2" charset="-122"/>
                <a:ea typeface="宋体" panose="02010600030101010101" pitchFamily="2" charset="-122"/>
              </a:rPr>
              <a:t>, 1999(03): 22-27.</a:t>
            </a:r>
            <a:endParaRPr lang="zh-CN" altLang="zh-CN" dirty="0">
              <a:latin typeface="宋体" panose="02010600030101010101" pitchFamily="2" charset="-122"/>
              <a:ea typeface="宋体" panose="02010600030101010101" pitchFamily="2" charset="-122"/>
            </a:endParaRPr>
          </a:p>
          <a:p>
            <a:r>
              <a:rPr lang="en-US" altLang="zh-CN" dirty="0">
                <a:latin typeface="宋体" panose="02010600030101010101" pitchFamily="2" charset="-122"/>
                <a:ea typeface="宋体" panose="02010600030101010101" pitchFamily="2" charset="-122"/>
              </a:rPr>
              <a:t>[2]</a:t>
            </a:r>
            <a:r>
              <a:rPr lang="zh-CN" altLang="zh-CN" dirty="0">
                <a:latin typeface="宋体" panose="02010600030101010101" pitchFamily="2" charset="-122"/>
                <a:ea typeface="宋体" panose="02010600030101010101" pitchFamily="2" charset="-122"/>
              </a:rPr>
              <a:t>彭斐章等</a:t>
            </a:r>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目录学（修订版）</a:t>
            </a:r>
            <a:r>
              <a:rPr lang="en-US" altLang="zh-CN" dirty="0">
                <a:latin typeface="宋体" panose="02010600030101010101" pitchFamily="2" charset="-122"/>
                <a:ea typeface="宋体" panose="02010600030101010101" pitchFamily="2" charset="-122"/>
              </a:rPr>
              <a:t>[M]. </a:t>
            </a:r>
            <a:r>
              <a:rPr lang="zh-CN" altLang="zh-CN" dirty="0">
                <a:latin typeface="宋体" panose="02010600030101010101" pitchFamily="2" charset="-122"/>
                <a:ea typeface="宋体" panose="02010600030101010101" pitchFamily="2" charset="-122"/>
              </a:rPr>
              <a:t>武汉</a:t>
            </a:r>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武汉大学出版社</a:t>
            </a:r>
            <a:r>
              <a:rPr lang="en-US" altLang="zh-CN" dirty="0">
                <a:latin typeface="宋体" panose="02010600030101010101" pitchFamily="2" charset="-122"/>
                <a:ea typeface="宋体" panose="02010600030101010101" pitchFamily="2" charset="-122"/>
              </a:rPr>
              <a:t>, 2003: 4.</a:t>
            </a:r>
            <a:endParaRPr lang="zh-CN" altLang="zh-CN" dirty="0">
              <a:latin typeface="宋体" panose="02010600030101010101" pitchFamily="2" charset="-122"/>
              <a:ea typeface="宋体" panose="02010600030101010101" pitchFamily="2" charset="-122"/>
            </a:endParaRPr>
          </a:p>
          <a:p>
            <a:endParaRPr lang="zh-CN" altLang="en-US" dirty="0"/>
          </a:p>
        </p:txBody>
      </p:sp>
      <p:sp>
        <p:nvSpPr>
          <p:cNvPr id="5" name="矩形 4">
            <a:extLst>
              <a:ext uri="{FF2B5EF4-FFF2-40B4-BE49-F238E27FC236}">
                <a16:creationId xmlns:a16="http://schemas.microsoft.com/office/drawing/2014/main" id="{7502502B-6753-4959-BE4B-7C865D40CE43}"/>
              </a:ext>
            </a:extLst>
          </p:cNvPr>
          <p:cNvSpPr/>
          <p:nvPr/>
        </p:nvSpPr>
        <p:spPr>
          <a:xfrm>
            <a:off x="934720" y="1273729"/>
            <a:ext cx="9977120" cy="1446550"/>
          </a:xfrm>
          <a:prstGeom prst="rect">
            <a:avLst/>
          </a:prstGeom>
        </p:spPr>
        <p:txBody>
          <a:bodyPr wrap="square">
            <a:spAutoFit/>
          </a:bodyPr>
          <a:lstStyle/>
          <a:p>
            <a:pPr algn="just"/>
            <a:r>
              <a:rPr lang="zh-CN" altLang="en-US" sz="2200" kern="100" dirty="0">
                <a:latin typeface="宋体" panose="02010600030101010101" pitchFamily="2" charset="-122"/>
                <a:ea typeface="宋体" panose="02010600030101010101" pitchFamily="2" charset="-122"/>
              </a:rPr>
              <a:t>发展于先秦，</a:t>
            </a:r>
            <a:r>
              <a:rPr lang="zh-CN" altLang="zh-CN" sz="2200" kern="100" dirty="0">
                <a:latin typeface="宋体" panose="02010600030101010101" pitchFamily="2" charset="-122"/>
                <a:ea typeface="宋体" panose="02010600030101010101" pitchFamily="2" charset="-122"/>
              </a:rPr>
              <a:t>起源于官府用于标记载事器物和书籍次序的标识记录，以及儒家学派整理各类典籍。</a:t>
            </a:r>
            <a:endParaRPr lang="en-US" altLang="zh-CN" sz="2200" kern="100" dirty="0">
              <a:latin typeface="宋体" panose="02010600030101010101" pitchFamily="2" charset="-122"/>
              <a:ea typeface="宋体" panose="02010600030101010101" pitchFamily="2" charset="-122"/>
            </a:endParaRPr>
          </a:p>
          <a:p>
            <a:pPr algn="just"/>
            <a:endParaRPr lang="en-US" altLang="zh-CN" sz="2200" kern="100" dirty="0">
              <a:latin typeface="宋体" panose="02010600030101010101" pitchFamily="2" charset="-122"/>
              <a:ea typeface="宋体" panose="02010600030101010101" pitchFamily="2" charset="-122"/>
            </a:endParaRPr>
          </a:p>
          <a:p>
            <a:pPr algn="just"/>
            <a:r>
              <a:rPr lang="zh-CN" altLang="en-US" sz="2200" dirty="0">
                <a:latin typeface="宋体" panose="02010600030101010101" pitchFamily="2" charset="-122"/>
                <a:ea typeface="宋体" panose="02010600030101010101" pitchFamily="2" charset="-122"/>
              </a:rPr>
              <a:t>关于目录学的理解包括研究对象和定义两方面，矛盾和规律两种角度的表达。</a:t>
            </a:r>
            <a:endParaRPr lang="en-US" altLang="zh-CN" sz="22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6877347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67315" y="123126"/>
            <a:ext cx="10058400" cy="1609344"/>
          </a:xfrm>
        </p:spPr>
        <p:txBody>
          <a:bodyPr/>
          <a:lstStyle/>
          <a:p>
            <a:r>
              <a:rPr lang="zh-CN" altLang="en-US" dirty="0"/>
              <a:t>书目</a:t>
            </a:r>
            <a:r>
              <a:rPr lang="en-US" altLang="zh-CN" dirty="0"/>
              <a:t>/</a:t>
            </a:r>
            <a:r>
              <a:rPr lang="zh-CN" altLang="en-US" dirty="0"/>
              <a:t>目录</a:t>
            </a:r>
          </a:p>
        </p:txBody>
      </p:sp>
      <p:sp>
        <p:nvSpPr>
          <p:cNvPr id="3" name="内容占位符 2"/>
          <p:cNvSpPr>
            <a:spLocks noGrp="1"/>
          </p:cNvSpPr>
          <p:nvPr>
            <p:ph idx="1"/>
          </p:nvPr>
        </p:nvSpPr>
        <p:spPr>
          <a:xfrm>
            <a:off x="1019715" y="3588685"/>
            <a:ext cx="10457369" cy="2912324"/>
          </a:xfrm>
        </p:spPr>
        <p:txBody>
          <a:bodyPr>
            <a:noAutofit/>
          </a:bodyPr>
          <a:lstStyle/>
          <a:p>
            <a:pPr>
              <a:lnSpc>
                <a:spcPct val="100000"/>
              </a:lnSpc>
              <a:spcBef>
                <a:spcPts val="0"/>
              </a:spcBef>
            </a:pPr>
            <a:r>
              <a:rPr lang="zh-CN" altLang="en-US" sz="2500" dirty="0">
                <a:latin typeface="宋体" panose="02010600030101010101" pitchFamily="2" charset="-122"/>
                <a:ea typeface="宋体" panose="02010600030101010101" pitchFamily="2" charset="-122"/>
              </a:rPr>
              <a:t>书目属于</a:t>
            </a:r>
            <a:r>
              <a:rPr lang="zh-CN" altLang="en-US" sz="2500" dirty="0">
                <a:solidFill>
                  <a:srgbClr val="FF0000"/>
                </a:solidFill>
                <a:latin typeface="宋体" panose="02010600030101010101" pitchFamily="2" charset="-122"/>
                <a:ea typeface="宋体" panose="02010600030101010101" pitchFamily="2" charset="-122"/>
              </a:rPr>
              <a:t>二次文献</a:t>
            </a:r>
            <a:r>
              <a:rPr lang="zh-CN" altLang="en-US" sz="2500" dirty="0">
                <a:latin typeface="宋体" panose="02010600030101010101" pitchFamily="2" charset="-122"/>
                <a:ea typeface="宋体" panose="02010600030101010101" pitchFamily="2" charset="-122"/>
              </a:rPr>
              <a:t>范畴。书目编纂就是运用各种手段，对分散的一次文献（原始文献）所含的知识、信息，进行</a:t>
            </a:r>
            <a:r>
              <a:rPr lang="zh-CN" altLang="en-US" sz="2500" dirty="0">
                <a:solidFill>
                  <a:srgbClr val="FF0000"/>
                </a:solidFill>
                <a:latin typeface="宋体" panose="02010600030101010101" pitchFamily="2" charset="-122"/>
                <a:ea typeface="宋体" panose="02010600030101010101" pitchFamily="2" charset="-122"/>
              </a:rPr>
              <a:t>筛选、压缩、整序</a:t>
            </a:r>
            <a:r>
              <a:rPr lang="zh-CN" altLang="en-US" sz="2500" dirty="0">
                <a:latin typeface="宋体" panose="02010600030101010101" pitchFamily="2" charset="-122"/>
                <a:ea typeface="宋体" panose="02010600030101010101" pitchFamily="2" charset="-122"/>
              </a:rPr>
              <a:t>，</a:t>
            </a:r>
            <a:r>
              <a:rPr lang="zh-CN" altLang="en-US" sz="2500" dirty="0">
                <a:solidFill>
                  <a:srgbClr val="FF0000"/>
                </a:solidFill>
                <a:latin typeface="宋体" panose="02010600030101010101" pitchFamily="2" charset="-122"/>
                <a:ea typeface="宋体" panose="02010600030101010101" pitchFamily="2" charset="-122"/>
              </a:rPr>
              <a:t>揭示其内容</a:t>
            </a:r>
            <a:r>
              <a:rPr lang="zh-CN" altLang="en-US" sz="2500" dirty="0">
                <a:latin typeface="宋体" panose="02010600030101010101" pitchFamily="2" charset="-122"/>
                <a:ea typeface="宋体" panose="02010600030101010101" pitchFamily="2" charset="-122"/>
              </a:rPr>
              <a:t>，</a:t>
            </a:r>
            <a:r>
              <a:rPr lang="zh-CN" altLang="en-US" sz="2500" dirty="0">
                <a:solidFill>
                  <a:srgbClr val="FF0000"/>
                </a:solidFill>
                <a:latin typeface="宋体" panose="02010600030101010101" pitchFamily="2" charset="-122"/>
                <a:ea typeface="宋体" panose="02010600030101010101" pitchFamily="2" charset="-122"/>
              </a:rPr>
              <a:t>著录其外形</a:t>
            </a:r>
            <a:r>
              <a:rPr lang="zh-CN" altLang="en-US" sz="2500" dirty="0">
                <a:latin typeface="宋体" panose="02010600030101010101" pitchFamily="2" charset="-122"/>
                <a:ea typeface="宋体" panose="02010600030101010101" pitchFamily="2" charset="-122"/>
              </a:rPr>
              <a:t>特征，进行科学的编排组织，使之转化为有序的、可以传递的二次文献。</a:t>
            </a:r>
            <a:endParaRPr lang="en-US" altLang="zh-CN" sz="2500" dirty="0">
              <a:latin typeface="宋体" panose="02010600030101010101" pitchFamily="2" charset="-122"/>
              <a:ea typeface="宋体" panose="02010600030101010101" pitchFamily="2" charset="-122"/>
            </a:endParaRPr>
          </a:p>
          <a:p>
            <a:pPr>
              <a:lnSpc>
                <a:spcPct val="100000"/>
              </a:lnSpc>
              <a:spcBef>
                <a:spcPts val="0"/>
              </a:spcBef>
            </a:pPr>
            <a:r>
              <a:rPr lang="zh-CN" altLang="en-US" sz="2500" dirty="0">
                <a:latin typeface="宋体" panose="02010600030101010101" pitchFamily="2" charset="-122"/>
                <a:ea typeface="宋体" panose="02010600030101010101" pitchFamily="2" charset="-122"/>
              </a:rPr>
              <a:t>如今书目已经成为人们有效控制和传递文献信息的工具，具有</a:t>
            </a:r>
            <a:r>
              <a:rPr lang="zh-CN" altLang="en-US" sz="2500" dirty="0">
                <a:solidFill>
                  <a:srgbClr val="FF0000"/>
                </a:solidFill>
                <a:latin typeface="宋体" panose="02010600030101010101" pitchFamily="2" charset="-122"/>
                <a:ea typeface="宋体" panose="02010600030101010101" pitchFamily="2" charset="-122"/>
              </a:rPr>
              <a:t>检索、报导和导读</a:t>
            </a:r>
            <a:r>
              <a:rPr lang="zh-CN" altLang="en-US" sz="2500" dirty="0">
                <a:latin typeface="宋体" panose="02010600030101010101" pitchFamily="2" charset="-122"/>
                <a:ea typeface="宋体" panose="02010600030101010101" pitchFamily="2" charset="-122"/>
              </a:rPr>
              <a:t>等功能。从广义上看，书目数据库、文献系统、网络文献指南都是目录的一种形态。</a:t>
            </a:r>
          </a:p>
        </p:txBody>
      </p:sp>
      <p:sp>
        <p:nvSpPr>
          <p:cNvPr id="7" name="矩形 6"/>
          <p:cNvSpPr/>
          <p:nvPr/>
        </p:nvSpPr>
        <p:spPr>
          <a:xfrm>
            <a:off x="867315" y="3429000"/>
            <a:ext cx="10457369" cy="477054"/>
          </a:xfrm>
          <a:prstGeom prst="rect">
            <a:avLst/>
          </a:prstGeom>
        </p:spPr>
        <p:txBody>
          <a:bodyPr wrap="square">
            <a:spAutoFit/>
          </a:bodyPr>
          <a:lstStyle/>
          <a:p>
            <a:endParaRPr lang="zh-CN" altLang="en-US" sz="2500" dirty="0">
              <a:latin typeface="宋体" panose="02010600030101010101" pitchFamily="2" charset="-122"/>
              <a:ea typeface="宋体" panose="02010600030101010101" pitchFamily="2" charset="-122"/>
            </a:endParaRPr>
          </a:p>
        </p:txBody>
      </p:sp>
      <p:sp>
        <p:nvSpPr>
          <p:cNvPr id="8" name="内容占位符 2"/>
          <p:cNvSpPr txBox="1"/>
          <p:nvPr/>
        </p:nvSpPr>
        <p:spPr>
          <a:xfrm>
            <a:off x="1019715" y="1630321"/>
            <a:ext cx="10457369" cy="2054419"/>
          </a:xfrm>
          <a:prstGeom prst="rect">
            <a:avLst/>
          </a:prstGeom>
        </p:spPr>
        <p:txBody>
          <a:bodyPr vert="horz" lIns="91440" tIns="45720" rIns="91440" bIns="45720" rtlCol="0">
            <a:no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a:lnSpc>
                <a:spcPct val="100000"/>
              </a:lnSpc>
              <a:spcBef>
                <a:spcPts val="0"/>
              </a:spcBef>
            </a:pPr>
            <a:r>
              <a:rPr lang="zh-CN" altLang="en-US" sz="2500" dirty="0">
                <a:latin typeface="宋体" panose="02010600030101010101" pitchFamily="2" charset="-122"/>
                <a:ea typeface="宋体" panose="02010600030101010101" pitchFamily="2" charset="-122"/>
              </a:rPr>
              <a:t>是著录一批相关文献，按照一定次序编排组织而成的一种</a:t>
            </a:r>
            <a:r>
              <a:rPr lang="zh-CN" altLang="en-US" sz="2500" b="1" dirty="0">
                <a:solidFill>
                  <a:srgbClr val="FF0000"/>
                </a:solidFill>
                <a:latin typeface="宋体" panose="02010600030101010101" pitchFamily="2" charset="-122"/>
                <a:ea typeface="宋体" panose="02010600030101010101" pitchFamily="2" charset="-122"/>
              </a:rPr>
              <a:t>揭示和报导文献信息</a:t>
            </a:r>
            <a:r>
              <a:rPr lang="zh-CN" altLang="en-US" sz="2500" dirty="0">
                <a:latin typeface="宋体" panose="02010600030101010101" pitchFamily="2" charset="-122"/>
                <a:ea typeface="宋体" panose="02010600030101010101" pitchFamily="2" charset="-122"/>
              </a:rPr>
              <a:t>的工具。</a:t>
            </a:r>
            <a:endParaRPr lang="en-US" altLang="zh-CN" sz="2500" dirty="0">
              <a:latin typeface="宋体" panose="02010600030101010101" pitchFamily="2" charset="-122"/>
              <a:ea typeface="宋体" panose="02010600030101010101" pitchFamily="2" charset="-122"/>
            </a:endParaRPr>
          </a:p>
          <a:p>
            <a:pPr>
              <a:lnSpc>
                <a:spcPct val="100000"/>
              </a:lnSpc>
              <a:spcBef>
                <a:spcPts val="0"/>
              </a:spcBef>
            </a:pPr>
            <a:r>
              <a:rPr lang="zh-CN" altLang="en-US" sz="2500" dirty="0">
                <a:latin typeface="宋体" panose="02010600030101010101" pitchFamily="2" charset="-122"/>
                <a:ea typeface="宋体" panose="02010600030101010101" pitchFamily="2" charset="-122"/>
              </a:rPr>
              <a:t>“目”指篇卷的名称，“录”是关于书的内容、作者生平事迹、校勘经过、书的评价等的简要文字说明，又称叙录或书录。</a:t>
            </a:r>
            <a:endParaRPr lang="en-US" altLang="zh-CN" sz="25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330887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allAtOnce"/>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目录工作</a:t>
            </a:r>
          </a:p>
        </p:txBody>
      </p:sp>
      <p:sp>
        <p:nvSpPr>
          <p:cNvPr id="3" name="内容占位符 2"/>
          <p:cNvSpPr>
            <a:spLocks noGrp="1"/>
          </p:cNvSpPr>
          <p:nvPr>
            <p:ph idx="1"/>
          </p:nvPr>
        </p:nvSpPr>
        <p:spPr>
          <a:xfrm>
            <a:off x="1069848" y="1920992"/>
            <a:ext cx="10058400" cy="1874395"/>
          </a:xfrm>
        </p:spPr>
        <p:txBody>
          <a:bodyPr>
            <a:normAutofit/>
          </a:bodyPr>
          <a:lstStyle/>
          <a:p>
            <a:pPr>
              <a:lnSpc>
                <a:spcPct val="100000"/>
              </a:lnSpc>
              <a:spcBef>
                <a:spcPts val="0"/>
              </a:spcBef>
            </a:pPr>
            <a:r>
              <a:rPr lang="zh-CN" altLang="en-US" sz="2800" dirty="0">
                <a:latin typeface="宋体" panose="02010600030101010101" pitchFamily="2" charset="-122"/>
                <a:ea typeface="宋体" panose="02010600030101010101" pitchFamily="2" charset="-122"/>
              </a:rPr>
              <a:t>目录工作就是通过</a:t>
            </a:r>
            <a:r>
              <a:rPr lang="zh-CN" altLang="en-US" sz="2800" dirty="0">
                <a:solidFill>
                  <a:srgbClr val="FF0000"/>
                </a:solidFill>
                <a:latin typeface="宋体" panose="02010600030101010101" pitchFamily="2" charset="-122"/>
                <a:ea typeface="宋体" panose="02010600030101010101" pitchFamily="2" charset="-122"/>
              </a:rPr>
              <a:t>查寻、著录、部次、评介、揭示和报导文献信息</a:t>
            </a:r>
            <a:r>
              <a:rPr lang="zh-CN" altLang="en-US" sz="2800" dirty="0">
                <a:latin typeface="宋体" panose="02010600030101010101" pitchFamily="2" charset="-122"/>
                <a:ea typeface="宋体" panose="02010600030101010101" pitchFamily="2" charset="-122"/>
              </a:rPr>
              <a:t>，提供</a:t>
            </a:r>
            <a:r>
              <a:rPr lang="zh-CN" altLang="en-US" sz="2800" dirty="0">
                <a:solidFill>
                  <a:srgbClr val="FF0000"/>
                </a:solidFill>
                <a:latin typeface="宋体" panose="02010600030101010101" pitchFamily="2" charset="-122"/>
                <a:ea typeface="宋体" panose="02010600030101010101" pitchFamily="2" charset="-122"/>
              </a:rPr>
              <a:t>书目情报服务</a:t>
            </a:r>
            <a:r>
              <a:rPr lang="zh-CN" altLang="en-US" sz="2800" dirty="0">
                <a:latin typeface="宋体" panose="02010600030101010101" pitchFamily="2" charset="-122"/>
                <a:ea typeface="宋体" panose="02010600030101010101" pitchFamily="2" charset="-122"/>
              </a:rPr>
              <a:t>等全部活动。目录工作是一个广义的概念，它包括索引工作、文摘工作、综述工作、数据库工作、书目参考工作等内容</a:t>
            </a:r>
            <a:r>
              <a:rPr lang="en-US" altLang="zh-CN" sz="2800" baseline="30000" dirty="0">
                <a:latin typeface="宋体" panose="02010600030101010101" pitchFamily="2" charset="-122"/>
                <a:ea typeface="宋体" panose="02010600030101010101" pitchFamily="2" charset="-122"/>
              </a:rPr>
              <a:t>[2]</a:t>
            </a:r>
            <a:r>
              <a:rPr lang="zh-CN" altLang="en-US" sz="2800" dirty="0">
                <a:latin typeface="宋体" panose="02010600030101010101" pitchFamily="2" charset="-122"/>
                <a:ea typeface="宋体" panose="02010600030101010101" pitchFamily="2" charset="-122"/>
              </a:rPr>
              <a:t>。</a:t>
            </a:r>
          </a:p>
          <a:p>
            <a:pPr marL="0" indent="0">
              <a:lnSpc>
                <a:spcPct val="100000"/>
              </a:lnSpc>
              <a:spcBef>
                <a:spcPts val="0"/>
              </a:spcBef>
              <a:buNone/>
            </a:pPr>
            <a:endParaRPr lang="en-US" altLang="zh-CN" sz="2800" dirty="0">
              <a:latin typeface="宋体" panose="02010600030101010101" pitchFamily="2" charset="-122"/>
              <a:ea typeface="宋体" panose="02010600030101010101" pitchFamily="2" charset="-122"/>
            </a:endParaRPr>
          </a:p>
        </p:txBody>
      </p:sp>
      <p:sp>
        <p:nvSpPr>
          <p:cNvPr id="4" name="文本框 3"/>
          <p:cNvSpPr txBox="1"/>
          <p:nvPr/>
        </p:nvSpPr>
        <p:spPr>
          <a:xfrm>
            <a:off x="1224280" y="6133870"/>
            <a:ext cx="10967720" cy="369332"/>
          </a:xfrm>
          <a:prstGeom prst="rect">
            <a:avLst/>
          </a:prstGeom>
          <a:noFill/>
        </p:spPr>
        <p:txBody>
          <a:bodyPr wrap="square" rtlCol="0">
            <a:spAutoFit/>
          </a:bodyPr>
          <a:lstStyle/>
          <a:p>
            <a:r>
              <a:rPr lang="en-US" altLang="zh-CN" dirty="0">
                <a:latin typeface="宋体" panose="02010600030101010101" pitchFamily="2" charset="-122"/>
                <a:ea typeface="宋体" panose="02010600030101010101" pitchFamily="2" charset="-122"/>
              </a:rPr>
              <a:t>[2]</a:t>
            </a:r>
            <a:r>
              <a:rPr lang="zh-CN" altLang="zh-CN" dirty="0">
                <a:latin typeface="宋体" panose="02010600030101010101" pitchFamily="2" charset="-122"/>
                <a:ea typeface="宋体" panose="02010600030101010101" pitchFamily="2" charset="-122"/>
              </a:rPr>
              <a:t>彭斐章等</a:t>
            </a:r>
            <a:r>
              <a:rPr lang="en-US" altLang="zh-CN"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目录学</a:t>
            </a:r>
            <a:r>
              <a:rPr lang="zh-CN" altLang="en-US" dirty="0">
                <a:latin typeface="宋体" panose="02010600030101010101" pitchFamily="2" charset="-122"/>
                <a:ea typeface="宋体" panose="02010600030101010101" pitchFamily="2" charset="-122"/>
              </a:rPr>
              <a:t>教程</a:t>
            </a:r>
            <a:r>
              <a:rPr lang="en-US" altLang="zh-CN" dirty="0">
                <a:latin typeface="宋体" panose="02010600030101010101" pitchFamily="2" charset="-122"/>
                <a:ea typeface="宋体" panose="02010600030101010101" pitchFamily="2" charset="-122"/>
              </a:rPr>
              <a:t>[M]. </a:t>
            </a:r>
            <a:r>
              <a:rPr lang="zh-CN" altLang="zh-CN" dirty="0">
                <a:latin typeface="宋体" panose="02010600030101010101" pitchFamily="2" charset="-122"/>
                <a:ea typeface="宋体" panose="02010600030101010101" pitchFamily="2" charset="-122"/>
              </a:rPr>
              <a:t>武汉</a:t>
            </a:r>
            <a:r>
              <a:rPr lang="en-US" altLang="zh-CN" dirty="0">
                <a:latin typeface="宋体" panose="02010600030101010101" pitchFamily="2" charset="-122"/>
                <a:ea typeface="宋体" panose="02010600030101010101" pitchFamily="2" charset="-122"/>
              </a:rPr>
              <a:t>:</a:t>
            </a:r>
            <a:r>
              <a:rPr lang="zh-CN" altLang="zh-CN" dirty="0">
                <a:latin typeface="宋体" panose="02010600030101010101" pitchFamily="2" charset="-122"/>
                <a:ea typeface="宋体" panose="02010600030101010101" pitchFamily="2" charset="-122"/>
              </a:rPr>
              <a:t>武汉大学出版社</a:t>
            </a:r>
            <a:r>
              <a:rPr lang="en-US" altLang="zh-CN" dirty="0">
                <a:latin typeface="宋体" panose="02010600030101010101" pitchFamily="2" charset="-122"/>
                <a:ea typeface="宋体" panose="02010600030101010101" pitchFamily="2" charset="-122"/>
              </a:rPr>
              <a:t>, 2005:4.</a:t>
            </a:r>
            <a:endParaRPr lang="zh-CN" altLang="zh-CN" dirty="0">
              <a:latin typeface="宋体" panose="02010600030101010101" pitchFamily="2" charset="-122"/>
              <a:ea typeface="宋体" panose="02010600030101010101" pitchFamily="2" charset="-122"/>
            </a:endParaRPr>
          </a:p>
        </p:txBody>
      </p:sp>
      <p:sp>
        <p:nvSpPr>
          <p:cNvPr id="6" name="内容占位符 2"/>
          <p:cNvSpPr txBox="1"/>
          <p:nvPr/>
        </p:nvSpPr>
        <p:spPr>
          <a:xfrm>
            <a:off x="1069848" y="4027431"/>
            <a:ext cx="10058400" cy="1874395"/>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a:lnSpc>
                <a:spcPct val="100000"/>
              </a:lnSpc>
              <a:spcBef>
                <a:spcPts val="0"/>
              </a:spcBef>
            </a:pPr>
            <a:r>
              <a:rPr lang="zh-CN" altLang="en-US" sz="2800" dirty="0">
                <a:latin typeface="宋体" panose="02010600030101010101" pitchFamily="2" charset="-122"/>
                <a:ea typeface="宋体" panose="02010600030101010101" pitchFamily="2" charset="-122"/>
              </a:rPr>
              <a:t>目的：将有关的文献信息及时准确地提供给读者，使得每一篇文献都能在最需要它的时间、地点和特定读者中得到充分利用。</a:t>
            </a:r>
            <a:endParaRPr lang="en-US" altLang="zh-CN" sz="2800" dirty="0">
              <a:latin typeface="宋体" panose="02010600030101010101" pitchFamily="2" charset="-122"/>
              <a:ea typeface="宋体" panose="02010600030101010101" pitchFamily="2" charset="-122"/>
            </a:endParaRPr>
          </a:p>
          <a:p>
            <a:pPr>
              <a:lnSpc>
                <a:spcPct val="100000"/>
              </a:lnSpc>
              <a:spcBef>
                <a:spcPts val="0"/>
              </a:spcBef>
            </a:pP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揭示、报导文献</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与</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人们对文献特定需要</a:t>
            </a:r>
            <a:r>
              <a:rPr lang="en-US" altLang="zh-CN" sz="2800" dirty="0">
                <a:latin typeface="宋体" panose="02010600030101010101" pitchFamily="2" charset="-122"/>
                <a:ea typeface="宋体" panose="02010600030101010101" pitchFamily="2" charset="-122"/>
              </a:rPr>
              <a:t>】</a:t>
            </a:r>
            <a:r>
              <a:rPr lang="zh-CN" altLang="en-US" sz="2800" dirty="0">
                <a:latin typeface="宋体" panose="02010600030101010101" pitchFamily="2" charset="-122"/>
                <a:ea typeface="宋体" panose="02010600030101010101" pitchFamily="2" charset="-122"/>
              </a:rPr>
              <a:t>之间的矛盾运动，推动着目录工作不断向前发展。</a:t>
            </a:r>
            <a:endParaRPr lang="en-US" altLang="zh-CN" sz="28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582300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allAtOnce"/>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66800" y="1812617"/>
            <a:ext cx="10058400" cy="4050792"/>
          </a:xfrm>
        </p:spPr>
        <p:txBody>
          <a:bodyPr/>
          <a:lstStyle/>
          <a:p>
            <a:pPr>
              <a:lnSpc>
                <a:spcPct val="120000"/>
              </a:lnSpc>
              <a:spcBef>
                <a:spcPts val="0"/>
              </a:spcBef>
            </a:pPr>
            <a:r>
              <a:rPr lang="zh-CN" altLang="en-US" dirty="0">
                <a:latin typeface="宋体" panose="02010600030101010101" pitchFamily="2" charset="-122"/>
                <a:ea typeface="宋体" panose="02010600030101010101" pitchFamily="2" charset="-122"/>
              </a:rPr>
              <a:t>传统</a:t>
            </a:r>
            <a:r>
              <a:rPr lang="zh-CN" altLang="en-US" sz="2800" dirty="0">
                <a:latin typeface="宋体" panose="02010600030101010101" pitchFamily="2" charset="-122"/>
                <a:ea typeface="宋体" panose="02010600030101010101" pitchFamily="2" charset="-122"/>
              </a:rPr>
              <a:t>目录学</a:t>
            </a:r>
            <a:endParaRPr lang="en-US" altLang="zh-CN" sz="2800" dirty="0">
              <a:latin typeface="宋体" panose="02010600030101010101" pitchFamily="2" charset="-122"/>
              <a:ea typeface="宋体" panose="02010600030101010101" pitchFamily="2" charset="-122"/>
            </a:endParaRPr>
          </a:p>
          <a:p>
            <a:pPr lvl="1">
              <a:lnSpc>
                <a:spcPct val="120000"/>
              </a:lnSpc>
              <a:spcBef>
                <a:spcPts val="0"/>
              </a:spcBef>
            </a:pPr>
            <a:r>
              <a:rPr lang="zh-CN" altLang="en-US" b="1" dirty="0">
                <a:latin typeface="宋体" panose="02010600030101010101" pitchFamily="2" charset="-122"/>
                <a:ea typeface="宋体" panose="02010600030101010101" pitchFamily="2" charset="-122"/>
              </a:rPr>
              <a:t>对象</a:t>
            </a:r>
            <a:r>
              <a:rPr lang="zh-CN" altLang="en-US" dirty="0">
                <a:latin typeface="宋体" panose="02010600030101010101" pitchFamily="2" charset="-122"/>
                <a:ea typeface="宋体" panose="02010600030101010101" pitchFamily="2" charset="-122"/>
              </a:rPr>
              <a:t>：纸质的文献典籍</a:t>
            </a:r>
            <a:endParaRPr lang="en-US" altLang="zh-CN" dirty="0">
              <a:latin typeface="宋体" panose="02010600030101010101" pitchFamily="2" charset="-122"/>
              <a:ea typeface="宋体" panose="02010600030101010101" pitchFamily="2" charset="-122"/>
            </a:endParaRPr>
          </a:p>
          <a:p>
            <a:pPr lvl="1">
              <a:lnSpc>
                <a:spcPct val="120000"/>
              </a:lnSpc>
              <a:spcBef>
                <a:spcPts val="0"/>
              </a:spcBef>
            </a:pPr>
            <a:r>
              <a:rPr lang="zh-CN" altLang="en-US" b="1" dirty="0">
                <a:latin typeface="宋体" panose="02010600030101010101" pitchFamily="2" charset="-122"/>
                <a:ea typeface="宋体" panose="02010600030101010101" pitchFamily="2" charset="-122"/>
              </a:rPr>
              <a:t>方法：</a:t>
            </a:r>
            <a:r>
              <a:rPr lang="zh-CN" altLang="en-US" dirty="0">
                <a:latin typeface="宋体" panose="02010600030101010101" pitchFamily="2" charset="-122"/>
                <a:ea typeface="宋体" panose="02010600030101010101" pitchFamily="2" charset="-122"/>
              </a:rPr>
              <a:t>叙录、类例、解题、注释、小序、排检等</a:t>
            </a:r>
            <a:endParaRPr lang="en-US" altLang="zh-CN" dirty="0">
              <a:latin typeface="宋体" panose="02010600030101010101" pitchFamily="2" charset="-122"/>
              <a:ea typeface="宋体" panose="02010600030101010101" pitchFamily="2" charset="-122"/>
            </a:endParaRPr>
          </a:p>
          <a:p>
            <a:pPr lvl="1">
              <a:lnSpc>
                <a:spcPct val="120000"/>
              </a:lnSpc>
              <a:spcBef>
                <a:spcPts val="0"/>
              </a:spcBef>
            </a:pPr>
            <a:r>
              <a:rPr lang="zh-CN" altLang="en-US" b="1" dirty="0">
                <a:latin typeface="宋体" panose="02010600030101010101" pitchFamily="2" charset="-122"/>
                <a:ea typeface="宋体" panose="02010600030101010101" pitchFamily="2" charset="-122"/>
              </a:rPr>
              <a:t>作用</a:t>
            </a:r>
            <a:r>
              <a:rPr lang="zh-CN" altLang="en-US" dirty="0">
                <a:latin typeface="宋体" panose="02010600030101010101" pitchFamily="2" charset="-122"/>
                <a:ea typeface="宋体" panose="02010600030101010101" pitchFamily="2" charset="-122"/>
              </a:rPr>
              <a:t>：“即类求书、因书究学” ，即通过查找目录可以得到线索，获取原文，研究学术</a:t>
            </a:r>
            <a:endParaRPr lang="en-US" altLang="zh-CN" dirty="0">
              <a:latin typeface="宋体" panose="02010600030101010101" pitchFamily="2" charset="-122"/>
              <a:ea typeface="宋体" panose="02010600030101010101" pitchFamily="2" charset="-122"/>
            </a:endParaRPr>
          </a:p>
          <a:p>
            <a:pPr lvl="1">
              <a:lnSpc>
                <a:spcPct val="120000"/>
              </a:lnSpc>
              <a:spcBef>
                <a:spcPts val="0"/>
              </a:spcBef>
            </a:pPr>
            <a:r>
              <a:rPr lang="zh-CN" altLang="en-US" b="1" dirty="0">
                <a:latin typeface="宋体" panose="02010600030101010101" pitchFamily="2" charset="-122"/>
                <a:ea typeface="宋体" panose="02010600030101010101" pitchFamily="2" charset="-122"/>
              </a:rPr>
              <a:t>工具</a:t>
            </a:r>
            <a:r>
              <a:rPr lang="zh-CN" altLang="en-US" dirty="0">
                <a:latin typeface="宋体" panose="02010600030101010101" pitchFamily="2" charset="-122"/>
                <a:ea typeface="宋体" panose="02010600030101010101" pitchFamily="2" charset="-122"/>
              </a:rPr>
              <a:t>：书目工具，如</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四库全书总目</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汉书</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艺文志</a:t>
            </a:r>
            <a:r>
              <a:rPr lang="en-US" altLang="zh-CN" dirty="0">
                <a:latin typeface="宋体" panose="02010600030101010101" pitchFamily="2" charset="-122"/>
                <a:ea typeface="宋体" panose="02010600030101010101" pitchFamily="2" charset="-122"/>
              </a:rPr>
              <a:t>》</a:t>
            </a:r>
          </a:p>
        </p:txBody>
      </p:sp>
      <p:sp>
        <p:nvSpPr>
          <p:cNvPr id="4" name="标题 1">
            <a:extLst>
              <a:ext uri="{FF2B5EF4-FFF2-40B4-BE49-F238E27FC236}">
                <a16:creationId xmlns:a16="http://schemas.microsoft.com/office/drawing/2014/main" id="{35D521ED-EA6C-794C-9E0B-579F468B53CF}"/>
              </a:ext>
            </a:extLst>
          </p:cNvPr>
          <p:cNvSpPr>
            <a:spLocks noGrp="1"/>
          </p:cNvSpPr>
          <p:nvPr>
            <p:ph type="title"/>
          </p:nvPr>
        </p:nvSpPr>
        <p:spPr>
          <a:xfrm>
            <a:off x="838200" y="365125"/>
            <a:ext cx="10515600" cy="1325563"/>
          </a:xfrm>
        </p:spPr>
        <p:txBody>
          <a:bodyPr/>
          <a:lstStyle/>
          <a:p>
            <a:r>
              <a:rPr lang="zh-CN" altLang="en-US" dirty="0"/>
              <a:t>目录学的发展：传统目录学</a:t>
            </a:r>
          </a:p>
        </p:txBody>
      </p:sp>
    </p:spTree>
    <p:extLst>
      <p:ext uri="{BB962C8B-B14F-4D97-AF65-F5344CB8AC3E}">
        <p14:creationId xmlns:p14="http://schemas.microsoft.com/office/powerpoint/2010/main" val="3047088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66800" y="1812617"/>
            <a:ext cx="10058400" cy="4050792"/>
          </a:xfrm>
        </p:spPr>
        <p:txBody>
          <a:bodyPr/>
          <a:lstStyle/>
          <a:p>
            <a:pPr>
              <a:lnSpc>
                <a:spcPct val="120000"/>
              </a:lnSpc>
              <a:spcBef>
                <a:spcPts val="0"/>
              </a:spcBef>
            </a:pPr>
            <a:r>
              <a:rPr lang="zh-CN" altLang="en-US" b="1" dirty="0">
                <a:latin typeface="宋体" panose="02010600030101010101" pitchFamily="2" charset="-122"/>
                <a:ea typeface="宋体" panose="02010600030101010101" pitchFamily="2" charset="-122"/>
              </a:rPr>
              <a:t>数字</a:t>
            </a:r>
            <a:r>
              <a:rPr lang="zh-CN" altLang="en-US" sz="2800" b="1" dirty="0">
                <a:latin typeface="宋体" panose="02010600030101010101" pitchFamily="2" charset="-122"/>
                <a:ea typeface="宋体" panose="02010600030101010101" pitchFamily="2" charset="-122"/>
              </a:rPr>
              <a:t>目录学</a:t>
            </a:r>
            <a:endParaRPr lang="en-US" altLang="zh-CN" sz="2800" b="1" dirty="0">
              <a:latin typeface="宋体" panose="02010600030101010101" pitchFamily="2" charset="-122"/>
              <a:ea typeface="宋体" panose="02010600030101010101" pitchFamily="2" charset="-122"/>
            </a:endParaRPr>
          </a:p>
          <a:p>
            <a:pPr lvl="1">
              <a:lnSpc>
                <a:spcPct val="120000"/>
              </a:lnSpc>
              <a:spcBef>
                <a:spcPts val="0"/>
              </a:spcBef>
            </a:pPr>
            <a:r>
              <a:rPr lang="zh-CN" altLang="en-US" b="1" dirty="0">
                <a:latin typeface="宋体" panose="02010600030101010101" pitchFamily="2" charset="-122"/>
                <a:ea typeface="宋体" panose="02010600030101010101" pitchFamily="2" charset="-122"/>
              </a:rPr>
              <a:t>对象</a:t>
            </a:r>
            <a:r>
              <a:rPr lang="zh-CN" altLang="en-US" dirty="0">
                <a:latin typeface="宋体" panose="02010600030101010101" pitchFamily="2" charset="-122"/>
                <a:ea typeface="宋体" panose="02010600030101010101" pitchFamily="2" charset="-122"/>
              </a:rPr>
              <a:t>：静态的数字资源（电子文献、音频等）</a:t>
            </a:r>
            <a:endParaRPr lang="en-US" altLang="zh-CN" dirty="0">
              <a:latin typeface="宋体" panose="02010600030101010101" pitchFamily="2" charset="-122"/>
              <a:ea typeface="宋体" panose="02010600030101010101" pitchFamily="2" charset="-122"/>
            </a:endParaRPr>
          </a:p>
          <a:p>
            <a:pPr lvl="1">
              <a:lnSpc>
                <a:spcPct val="120000"/>
              </a:lnSpc>
              <a:spcBef>
                <a:spcPts val="0"/>
              </a:spcBef>
            </a:pPr>
            <a:r>
              <a:rPr lang="zh-CN" altLang="en-US" b="1" dirty="0">
                <a:latin typeface="宋体" panose="02010600030101010101" pitchFamily="2" charset="-122"/>
                <a:ea typeface="宋体" panose="02010600030101010101" pitchFamily="2" charset="-122"/>
              </a:rPr>
              <a:t>方法</a:t>
            </a:r>
            <a:r>
              <a:rPr lang="zh-CN" altLang="en-US" dirty="0">
                <a:latin typeface="宋体" panose="02010600030101010101" pitchFamily="2" charset="-122"/>
                <a:ea typeface="宋体" panose="02010600030101010101" pitchFamily="2" charset="-122"/>
              </a:rPr>
              <a:t>：搜索引擎、索引库、元数据、数据库、图书编目等</a:t>
            </a:r>
            <a:endParaRPr lang="en-US" altLang="zh-CN" dirty="0">
              <a:latin typeface="宋体" panose="02010600030101010101" pitchFamily="2" charset="-122"/>
              <a:ea typeface="宋体" panose="02010600030101010101" pitchFamily="2" charset="-122"/>
            </a:endParaRPr>
          </a:p>
          <a:p>
            <a:pPr lvl="1">
              <a:lnSpc>
                <a:spcPct val="120000"/>
              </a:lnSpc>
              <a:spcBef>
                <a:spcPts val="0"/>
              </a:spcBef>
            </a:pPr>
            <a:r>
              <a:rPr lang="zh-CN" altLang="en-US" b="1" dirty="0">
                <a:latin typeface="宋体" panose="02010600030101010101" pitchFamily="2" charset="-122"/>
                <a:ea typeface="宋体" panose="02010600030101010101" pitchFamily="2" charset="-122"/>
              </a:rPr>
              <a:t>作用</a:t>
            </a:r>
            <a:r>
              <a:rPr lang="zh-CN" altLang="en-US" dirty="0">
                <a:latin typeface="宋体" panose="02010600030101010101" pitchFamily="2" charset="-122"/>
                <a:ea typeface="宋体" panose="02010600030101010101" pitchFamily="2" charset="-122"/>
              </a:rPr>
              <a:t>：“即类求书、因书究学”的治学作用，即通过查找目录可以得到线索，获取原文，研究学术；</a:t>
            </a:r>
            <a:endParaRPr lang="en-US" altLang="zh-CN" dirty="0">
              <a:latin typeface="宋体" panose="02010600030101010101" pitchFamily="2" charset="-122"/>
              <a:ea typeface="宋体" panose="02010600030101010101" pitchFamily="2" charset="-122"/>
            </a:endParaRPr>
          </a:p>
          <a:p>
            <a:pPr lvl="1">
              <a:lnSpc>
                <a:spcPct val="120000"/>
              </a:lnSpc>
              <a:spcBef>
                <a:spcPts val="0"/>
              </a:spcBef>
            </a:pPr>
            <a:r>
              <a:rPr lang="zh-CN" altLang="en-US" b="1" dirty="0">
                <a:latin typeface="宋体" panose="02010600030101010101" pitchFamily="2" charset="-122"/>
                <a:ea typeface="宋体" panose="02010600030101010101" pitchFamily="2" charset="-122"/>
              </a:rPr>
              <a:t>工具</a:t>
            </a:r>
            <a:r>
              <a:rPr lang="zh-CN" altLang="en-US" dirty="0">
                <a:latin typeface="宋体" panose="02010600030101010101" pitchFamily="2" charset="-122"/>
                <a:ea typeface="宋体" panose="02010600030101010101" pitchFamily="2" charset="-122"/>
              </a:rPr>
              <a:t>：数据库系统、自动化编目系统、数字图书馆目录等</a:t>
            </a:r>
            <a:endParaRPr lang="en-US" altLang="zh-CN" dirty="0">
              <a:latin typeface="宋体" panose="02010600030101010101" pitchFamily="2" charset="-122"/>
              <a:ea typeface="宋体" panose="02010600030101010101" pitchFamily="2" charset="-122"/>
            </a:endParaRPr>
          </a:p>
        </p:txBody>
      </p:sp>
      <p:sp>
        <p:nvSpPr>
          <p:cNvPr id="4" name="标题 1">
            <a:extLst>
              <a:ext uri="{FF2B5EF4-FFF2-40B4-BE49-F238E27FC236}">
                <a16:creationId xmlns:a16="http://schemas.microsoft.com/office/drawing/2014/main" id="{35D521ED-EA6C-794C-9E0B-579F468B53CF}"/>
              </a:ext>
            </a:extLst>
          </p:cNvPr>
          <p:cNvSpPr>
            <a:spLocks noGrp="1"/>
          </p:cNvSpPr>
          <p:nvPr>
            <p:ph type="title"/>
          </p:nvPr>
        </p:nvSpPr>
        <p:spPr>
          <a:xfrm>
            <a:off x="838200" y="365125"/>
            <a:ext cx="10515600" cy="1325563"/>
          </a:xfrm>
        </p:spPr>
        <p:txBody>
          <a:bodyPr/>
          <a:lstStyle/>
          <a:p>
            <a:r>
              <a:rPr lang="zh-CN" altLang="en-US" dirty="0"/>
              <a:t>目录学的发展：数字目录学</a:t>
            </a:r>
          </a:p>
        </p:txBody>
      </p:sp>
    </p:spTree>
    <p:extLst>
      <p:ext uri="{BB962C8B-B14F-4D97-AF65-F5344CB8AC3E}">
        <p14:creationId xmlns:p14="http://schemas.microsoft.com/office/powerpoint/2010/main" val="30307429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66800" y="1812617"/>
            <a:ext cx="10515600" cy="4050792"/>
          </a:xfrm>
        </p:spPr>
        <p:txBody>
          <a:bodyPr/>
          <a:lstStyle/>
          <a:p>
            <a:pPr>
              <a:lnSpc>
                <a:spcPct val="120000"/>
              </a:lnSpc>
              <a:spcBef>
                <a:spcPts val="0"/>
              </a:spcBef>
            </a:pPr>
            <a:r>
              <a:rPr lang="zh-CN" altLang="en-US" dirty="0">
                <a:latin typeface="宋体" panose="02010600030101010101" pitchFamily="2" charset="-122"/>
                <a:ea typeface="宋体" panose="02010600030101010101" pitchFamily="2" charset="-122"/>
              </a:rPr>
              <a:t>智能</a:t>
            </a:r>
            <a:r>
              <a:rPr lang="zh-CN" altLang="en-US" sz="2800" dirty="0">
                <a:latin typeface="宋体" panose="02010600030101010101" pitchFamily="2" charset="-122"/>
                <a:ea typeface="宋体" panose="02010600030101010101" pitchFamily="2" charset="-122"/>
              </a:rPr>
              <a:t>目录学</a:t>
            </a:r>
            <a:endParaRPr lang="en-US" altLang="zh-CN" sz="2800" dirty="0">
              <a:latin typeface="宋体" panose="02010600030101010101" pitchFamily="2" charset="-122"/>
              <a:ea typeface="宋体" panose="02010600030101010101" pitchFamily="2" charset="-122"/>
            </a:endParaRPr>
          </a:p>
          <a:p>
            <a:pPr lvl="1">
              <a:lnSpc>
                <a:spcPct val="120000"/>
              </a:lnSpc>
              <a:spcBef>
                <a:spcPts val="0"/>
              </a:spcBef>
            </a:pPr>
            <a:r>
              <a:rPr lang="zh-CN" altLang="en-US" b="1" dirty="0">
                <a:latin typeface="宋体" panose="02010600030101010101" pitchFamily="2" charset="-122"/>
                <a:ea typeface="宋体" panose="02010600030101010101" pitchFamily="2" charset="-122"/>
              </a:rPr>
              <a:t>对象</a:t>
            </a:r>
            <a:r>
              <a:rPr lang="zh-CN" altLang="en-US" dirty="0">
                <a:latin typeface="宋体" panose="02010600030101010101" pitchFamily="2" charset="-122"/>
                <a:ea typeface="宋体" panose="02010600030101010101" pitchFamily="2" charset="-122"/>
              </a:rPr>
              <a:t>：多元类型数据、静态与动态数据</a:t>
            </a:r>
            <a:endParaRPr lang="en-US" altLang="zh-CN" dirty="0">
              <a:latin typeface="宋体" panose="02010600030101010101" pitchFamily="2" charset="-122"/>
              <a:ea typeface="宋体" panose="02010600030101010101" pitchFamily="2" charset="-122"/>
            </a:endParaRPr>
          </a:p>
          <a:p>
            <a:pPr lvl="1">
              <a:lnSpc>
                <a:spcPct val="120000"/>
              </a:lnSpc>
              <a:spcBef>
                <a:spcPts val="0"/>
              </a:spcBef>
            </a:pPr>
            <a:r>
              <a:rPr lang="zh-CN" altLang="en-US" b="1" dirty="0">
                <a:latin typeface="宋体" panose="02010600030101010101" pitchFamily="2" charset="-122"/>
                <a:ea typeface="宋体" panose="02010600030101010101" pitchFamily="2" charset="-122"/>
              </a:rPr>
              <a:t>方法</a:t>
            </a:r>
            <a:r>
              <a:rPr lang="zh-CN" altLang="en-US" dirty="0">
                <a:latin typeface="宋体" panose="02010600030101010101" pitchFamily="2" charset="-122"/>
                <a:ea typeface="宋体" panose="02010600030101010101" pitchFamily="2" charset="-122"/>
              </a:rPr>
              <a:t>：大数据分析、多模态知识图谱、实时数据分析与推荐等</a:t>
            </a:r>
            <a:endParaRPr lang="en-US" altLang="zh-CN" dirty="0">
              <a:latin typeface="宋体" panose="02010600030101010101" pitchFamily="2" charset="-122"/>
              <a:ea typeface="宋体" panose="02010600030101010101" pitchFamily="2" charset="-122"/>
            </a:endParaRPr>
          </a:p>
          <a:p>
            <a:pPr lvl="1">
              <a:lnSpc>
                <a:spcPct val="120000"/>
              </a:lnSpc>
              <a:spcBef>
                <a:spcPts val="0"/>
              </a:spcBef>
            </a:pPr>
            <a:r>
              <a:rPr lang="zh-CN" altLang="en-US" b="1" dirty="0">
                <a:latin typeface="宋体" panose="02010600030101010101" pitchFamily="2" charset="-122"/>
                <a:ea typeface="宋体" panose="02010600030101010101" pitchFamily="2" charset="-122"/>
              </a:rPr>
              <a:t>作用</a:t>
            </a:r>
            <a:r>
              <a:rPr lang="zh-CN" altLang="en-US" dirty="0">
                <a:latin typeface="宋体" panose="02010600030101010101" pitchFamily="2" charset="-122"/>
                <a:ea typeface="宋体" panose="02010600030101010101" pitchFamily="2" charset="-122"/>
              </a:rPr>
              <a:t>：改变“先检后索”的资源访问方式，自动化的关联、推理、推荐</a:t>
            </a:r>
            <a:endParaRPr lang="en-US" altLang="zh-CN" dirty="0">
              <a:latin typeface="宋体" panose="02010600030101010101" pitchFamily="2" charset="-122"/>
              <a:ea typeface="宋体" panose="02010600030101010101" pitchFamily="2" charset="-122"/>
            </a:endParaRPr>
          </a:p>
          <a:p>
            <a:pPr lvl="1">
              <a:lnSpc>
                <a:spcPct val="120000"/>
              </a:lnSpc>
              <a:spcBef>
                <a:spcPts val="0"/>
              </a:spcBef>
            </a:pPr>
            <a:r>
              <a:rPr lang="zh-CN" altLang="en-US" b="1" dirty="0">
                <a:latin typeface="宋体" panose="02010600030101010101" pitchFamily="2" charset="-122"/>
                <a:ea typeface="宋体" panose="02010600030101010101" pitchFamily="2" charset="-122"/>
              </a:rPr>
              <a:t>工具</a:t>
            </a:r>
            <a:r>
              <a:rPr lang="zh-CN" altLang="en-US" dirty="0">
                <a:latin typeface="宋体" panose="02010600030101010101" pitchFamily="2" charset="-122"/>
                <a:ea typeface="宋体" panose="02010600030101010101" pitchFamily="2" charset="-122"/>
              </a:rPr>
              <a:t>：智能化的动态推荐系统、大数据分析系统、交互推理系统等</a:t>
            </a:r>
            <a:endParaRPr lang="en-US" altLang="zh-CN" dirty="0">
              <a:latin typeface="宋体" panose="02010600030101010101" pitchFamily="2" charset="-122"/>
              <a:ea typeface="宋体" panose="02010600030101010101" pitchFamily="2" charset="-122"/>
            </a:endParaRPr>
          </a:p>
        </p:txBody>
      </p:sp>
      <p:sp>
        <p:nvSpPr>
          <p:cNvPr id="4" name="标题 1">
            <a:extLst>
              <a:ext uri="{FF2B5EF4-FFF2-40B4-BE49-F238E27FC236}">
                <a16:creationId xmlns:a16="http://schemas.microsoft.com/office/drawing/2014/main" id="{35D521ED-EA6C-794C-9E0B-579F468B53CF}"/>
              </a:ext>
            </a:extLst>
          </p:cNvPr>
          <p:cNvSpPr>
            <a:spLocks noGrp="1"/>
          </p:cNvSpPr>
          <p:nvPr>
            <p:ph type="title"/>
          </p:nvPr>
        </p:nvSpPr>
        <p:spPr>
          <a:xfrm>
            <a:off x="838200" y="365125"/>
            <a:ext cx="10515600" cy="1325563"/>
          </a:xfrm>
        </p:spPr>
        <p:txBody>
          <a:bodyPr/>
          <a:lstStyle/>
          <a:p>
            <a:r>
              <a:rPr lang="zh-CN" altLang="en-US" dirty="0"/>
              <a:t>目录学的发：智能目录学</a:t>
            </a:r>
          </a:p>
        </p:txBody>
      </p:sp>
    </p:spTree>
    <p:extLst>
      <p:ext uri="{BB962C8B-B14F-4D97-AF65-F5344CB8AC3E}">
        <p14:creationId xmlns:p14="http://schemas.microsoft.com/office/powerpoint/2010/main" val="1357472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2C55FC-9D62-E642-8838-0F15C6FBBAA9}"/>
              </a:ext>
            </a:extLst>
          </p:cNvPr>
          <p:cNvSpPr>
            <a:spLocks noGrp="1"/>
          </p:cNvSpPr>
          <p:nvPr>
            <p:ph type="title"/>
          </p:nvPr>
        </p:nvSpPr>
        <p:spPr/>
        <p:txBody>
          <a:bodyPr/>
          <a:lstStyle/>
          <a:p>
            <a:r>
              <a:rPr kumimoji="1" lang="zh-CN" altLang="en-US" dirty="0"/>
              <a:t>目录学的发展</a:t>
            </a:r>
          </a:p>
        </p:txBody>
      </p:sp>
      <p:graphicFrame>
        <p:nvGraphicFramePr>
          <p:cNvPr id="4" name="表格 4">
            <a:extLst>
              <a:ext uri="{FF2B5EF4-FFF2-40B4-BE49-F238E27FC236}">
                <a16:creationId xmlns:a16="http://schemas.microsoft.com/office/drawing/2014/main" id="{9A19CD30-B787-D04B-966A-C418EFA42079}"/>
              </a:ext>
            </a:extLst>
          </p:cNvPr>
          <p:cNvGraphicFramePr>
            <a:graphicFrameLocks noGrp="1"/>
          </p:cNvGraphicFramePr>
          <p:nvPr>
            <p:ph idx="1"/>
            <p:extLst>
              <p:ext uri="{D42A27DB-BD31-4B8C-83A1-F6EECF244321}">
                <p14:modId xmlns:p14="http://schemas.microsoft.com/office/powerpoint/2010/main" val="1977202730"/>
              </p:ext>
            </p:extLst>
          </p:nvPr>
        </p:nvGraphicFramePr>
        <p:xfrm>
          <a:off x="838200" y="1825625"/>
          <a:ext cx="10515596" cy="1854200"/>
        </p:xfrm>
        <a:graphic>
          <a:graphicData uri="http://schemas.openxmlformats.org/drawingml/2006/table">
            <a:tbl>
              <a:tblPr firstRow="1" bandRow="1">
                <a:tableStyleId>{5C22544A-7EE6-4342-B048-85BDC9FD1C3A}</a:tableStyleId>
              </a:tblPr>
              <a:tblGrid>
                <a:gridCol w="1890486">
                  <a:extLst>
                    <a:ext uri="{9D8B030D-6E8A-4147-A177-3AD203B41FA5}">
                      <a16:colId xmlns:a16="http://schemas.microsoft.com/office/drawing/2014/main" val="3539993386"/>
                    </a:ext>
                  </a:extLst>
                </a:gridCol>
                <a:gridCol w="3367312">
                  <a:extLst>
                    <a:ext uri="{9D8B030D-6E8A-4147-A177-3AD203B41FA5}">
                      <a16:colId xmlns:a16="http://schemas.microsoft.com/office/drawing/2014/main" val="1369021507"/>
                    </a:ext>
                  </a:extLst>
                </a:gridCol>
                <a:gridCol w="2628899">
                  <a:extLst>
                    <a:ext uri="{9D8B030D-6E8A-4147-A177-3AD203B41FA5}">
                      <a16:colId xmlns:a16="http://schemas.microsoft.com/office/drawing/2014/main" val="795390577"/>
                    </a:ext>
                  </a:extLst>
                </a:gridCol>
                <a:gridCol w="2628899">
                  <a:extLst>
                    <a:ext uri="{9D8B030D-6E8A-4147-A177-3AD203B41FA5}">
                      <a16:colId xmlns:a16="http://schemas.microsoft.com/office/drawing/2014/main" val="353450306"/>
                    </a:ext>
                  </a:extLst>
                </a:gridCol>
              </a:tblGrid>
              <a:tr h="370840">
                <a:tc>
                  <a:txBody>
                    <a:bodyPr/>
                    <a:lstStyle/>
                    <a:p>
                      <a:endParaRPr lang="zh-CN" altLang="en-US" dirty="0"/>
                    </a:p>
                  </a:txBody>
                  <a:tcPr/>
                </a:tc>
                <a:tc>
                  <a:txBody>
                    <a:bodyPr/>
                    <a:lstStyle/>
                    <a:p>
                      <a:r>
                        <a:rPr lang="zh-CN" altLang="en-US" dirty="0"/>
                        <a:t>传统目录学</a:t>
                      </a:r>
                    </a:p>
                  </a:txBody>
                  <a:tcPr/>
                </a:tc>
                <a:tc>
                  <a:txBody>
                    <a:bodyPr/>
                    <a:lstStyle/>
                    <a:p>
                      <a:r>
                        <a:rPr lang="zh-CN" altLang="en-US" dirty="0"/>
                        <a:t>数字目录学</a:t>
                      </a:r>
                    </a:p>
                  </a:txBody>
                  <a:tcPr/>
                </a:tc>
                <a:tc>
                  <a:txBody>
                    <a:bodyPr/>
                    <a:lstStyle/>
                    <a:p>
                      <a:r>
                        <a:rPr lang="zh-CN" altLang="en-US" dirty="0"/>
                        <a:t>智能目录学</a:t>
                      </a:r>
                    </a:p>
                  </a:txBody>
                  <a:tcPr/>
                </a:tc>
                <a:extLst>
                  <a:ext uri="{0D108BD9-81ED-4DB2-BD59-A6C34878D82A}">
                    <a16:rowId xmlns:a16="http://schemas.microsoft.com/office/drawing/2014/main" val="2376880957"/>
                  </a:ext>
                </a:extLst>
              </a:tr>
              <a:tr h="370840">
                <a:tc>
                  <a:txBody>
                    <a:bodyPr/>
                    <a:lstStyle/>
                    <a:p>
                      <a:r>
                        <a:rPr lang="zh-CN" altLang="en-US" dirty="0"/>
                        <a:t>对象</a:t>
                      </a:r>
                    </a:p>
                  </a:txBody>
                  <a:tcPr/>
                </a:tc>
                <a:tc>
                  <a:txBody>
                    <a:bodyPr/>
                    <a:lstStyle/>
                    <a:p>
                      <a:r>
                        <a:rPr lang="zh-CN" altLang="en-US" dirty="0"/>
                        <a:t>纸质文献</a:t>
                      </a:r>
                    </a:p>
                  </a:txBody>
                  <a:tcPr/>
                </a:tc>
                <a:tc>
                  <a:txBody>
                    <a:bodyPr/>
                    <a:lstStyle/>
                    <a:p>
                      <a:r>
                        <a:rPr lang="zh-CN" altLang="en-US" dirty="0"/>
                        <a:t>静态的数字资源</a:t>
                      </a:r>
                    </a:p>
                  </a:txBody>
                  <a:tcPr/>
                </a:tc>
                <a:tc>
                  <a:txBody>
                    <a:bodyPr/>
                    <a:lstStyle/>
                    <a:p>
                      <a:r>
                        <a:rPr lang="zh-CN" altLang="en-US" dirty="0"/>
                        <a:t>多元、静动态资源</a:t>
                      </a:r>
                    </a:p>
                  </a:txBody>
                  <a:tcPr/>
                </a:tc>
                <a:extLst>
                  <a:ext uri="{0D108BD9-81ED-4DB2-BD59-A6C34878D82A}">
                    <a16:rowId xmlns:a16="http://schemas.microsoft.com/office/drawing/2014/main" val="3295526607"/>
                  </a:ext>
                </a:extLst>
              </a:tr>
              <a:tr h="370840">
                <a:tc>
                  <a:txBody>
                    <a:bodyPr/>
                    <a:lstStyle/>
                    <a:p>
                      <a:r>
                        <a:rPr lang="zh-CN" altLang="en-US" dirty="0"/>
                        <a:t>方法与技术</a:t>
                      </a:r>
                    </a:p>
                  </a:txBody>
                  <a:tcPr/>
                </a:tc>
                <a:tc>
                  <a:txBody>
                    <a:bodyPr/>
                    <a:lstStyle/>
                    <a:p>
                      <a:r>
                        <a:rPr lang="zh-CN" altLang="en-US" dirty="0">
                          <a:latin typeface="宋体" panose="02010600030101010101" pitchFamily="2" charset="-122"/>
                          <a:ea typeface="宋体" panose="02010600030101010101" pitchFamily="2" charset="-122"/>
                        </a:rPr>
                        <a:t>叙录、注释、小序、排检等</a:t>
                      </a:r>
                      <a:endParaRPr lang="zh-CN" altLang="en-US" dirty="0"/>
                    </a:p>
                  </a:txBody>
                  <a:tcPr/>
                </a:tc>
                <a:tc>
                  <a:txBody>
                    <a:bodyPr/>
                    <a:lstStyle/>
                    <a:p>
                      <a:r>
                        <a:rPr lang="zh-CN" altLang="en-US" dirty="0">
                          <a:latin typeface="宋体" panose="02010600030101010101" pitchFamily="2" charset="-122"/>
                          <a:ea typeface="宋体" panose="02010600030101010101" pitchFamily="2" charset="-122"/>
                        </a:rPr>
                        <a:t>元数据、数据库等</a:t>
                      </a:r>
                      <a:endParaRPr lang="zh-CN" altLang="en-US" dirty="0"/>
                    </a:p>
                  </a:txBody>
                  <a:tcPr/>
                </a:tc>
                <a:tc>
                  <a:txBody>
                    <a:bodyPr/>
                    <a:lstStyle/>
                    <a:p>
                      <a:r>
                        <a:rPr lang="zh-CN" altLang="en-US" dirty="0"/>
                        <a:t>机器学习、逻辑推理等</a:t>
                      </a:r>
                    </a:p>
                  </a:txBody>
                  <a:tcPr/>
                </a:tc>
                <a:extLst>
                  <a:ext uri="{0D108BD9-81ED-4DB2-BD59-A6C34878D82A}">
                    <a16:rowId xmlns:a16="http://schemas.microsoft.com/office/drawing/2014/main" val="4151007089"/>
                  </a:ext>
                </a:extLst>
              </a:tr>
              <a:tr h="370840">
                <a:tc>
                  <a:txBody>
                    <a:bodyPr/>
                    <a:lstStyle/>
                    <a:p>
                      <a:r>
                        <a:rPr lang="zh-CN" altLang="en-US" dirty="0"/>
                        <a:t>作用</a:t>
                      </a:r>
                      <a:endParaRPr lang="en-US" altLang="zh-CN" dirty="0"/>
                    </a:p>
                  </a:txBody>
                  <a:tcPr/>
                </a:tc>
                <a:tc>
                  <a:txBody>
                    <a:bodyPr/>
                    <a:lstStyle/>
                    <a:p>
                      <a:r>
                        <a:rPr lang="zh-CN" altLang="en-US" dirty="0"/>
                        <a:t>检 </a:t>
                      </a:r>
                      <a:r>
                        <a:rPr lang="en-US" altLang="zh-CN" dirty="0"/>
                        <a:t>+</a:t>
                      </a:r>
                      <a:r>
                        <a:rPr lang="zh-CN" altLang="en-US" dirty="0"/>
                        <a:t>索</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检</a:t>
                      </a:r>
                      <a:r>
                        <a:rPr lang="en-US" altLang="zh-CN" dirty="0"/>
                        <a:t>+</a:t>
                      </a:r>
                      <a:r>
                        <a:rPr lang="zh-CN" altLang="en-US" dirty="0"/>
                        <a:t>索</a:t>
                      </a:r>
                    </a:p>
                  </a:txBody>
                  <a:tcPr/>
                </a:tc>
                <a:tc>
                  <a:txBody>
                    <a:bodyPr/>
                    <a:lstStyle/>
                    <a:p>
                      <a:r>
                        <a:rPr lang="zh-CN" altLang="en-US" dirty="0"/>
                        <a:t>检</a:t>
                      </a:r>
                      <a:r>
                        <a:rPr lang="en-US" altLang="zh-CN" dirty="0"/>
                        <a:t>+</a:t>
                      </a:r>
                      <a:r>
                        <a:rPr lang="zh-CN" altLang="en-US" dirty="0"/>
                        <a:t>荐</a:t>
                      </a:r>
                      <a:r>
                        <a:rPr lang="en-US" altLang="zh-CN" dirty="0"/>
                        <a:t>+</a:t>
                      </a:r>
                      <a:r>
                        <a:rPr lang="zh-CN" altLang="en-US" dirty="0"/>
                        <a:t>选</a:t>
                      </a:r>
                      <a:r>
                        <a:rPr lang="en-US" altLang="zh-CN" dirty="0"/>
                        <a:t>+</a:t>
                      </a:r>
                      <a:r>
                        <a:rPr lang="zh-CN" altLang="en-US" dirty="0"/>
                        <a:t>串</a:t>
                      </a:r>
                      <a:r>
                        <a:rPr lang="en-US" altLang="zh-CN" dirty="0"/>
                        <a:t>+</a:t>
                      </a:r>
                      <a:r>
                        <a:rPr lang="zh-CN" altLang="en-US" dirty="0"/>
                        <a:t>索</a:t>
                      </a:r>
                    </a:p>
                  </a:txBody>
                  <a:tcPr/>
                </a:tc>
                <a:extLst>
                  <a:ext uri="{0D108BD9-81ED-4DB2-BD59-A6C34878D82A}">
                    <a16:rowId xmlns:a16="http://schemas.microsoft.com/office/drawing/2014/main" val="1317763664"/>
                  </a:ext>
                </a:extLst>
              </a:tr>
              <a:tr h="370840">
                <a:tc>
                  <a:txBody>
                    <a:bodyPr/>
                    <a:lstStyle/>
                    <a:p>
                      <a:r>
                        <a:rPr lang="zh-CN" altLang="en-US" dirty="0"/>
                        <a:t>工具形式</a:t>
                      </a:r>
                      <a:endParaRPr lang="en-US" altLang="zh-CN" dirty="0"/>
                    </a:p>
                  </a:txBody>
                  <a:tcPr/>
                </a:tc>
                <a:tc>
                  <a:txBody>
                    <a:bodyPr/>
                    <a:lstStyle/>
                    <a:p>
                      <a:r>
                        <a:rPr lang="zh-CN" altLang="en-US" dirty="0"/>
                        <a:t>书目工具</a:t>
                      </a:r>
                    </a:p>
                  </a:txBody>
                  <a:tcPr/>
                </a:tc>
                <a:tc>
                  <a:txBody>
                    <a:bodyPr/>
                    <a:lstStyle/>
                    <a:p>
                      <a:r>
                        <a:rPr lang="zh-CN" altLang="en-US" dirty="0"/>
                        <a:t>数据库系统、目录系统</a:t>
                      </a:r>
                    </a:p>
                  </a:txBody>
                  <a:tcPr/>
                </a:tc>
                <a:tc>
                  <a:txBody>
                    <a:bodyPr/>
                    <a:lstStyle/>
                    <a:p>
                      <a:r>
                        <a:rPr lang="zh-CN" altLang="en-US" dirty="0"/>
                        <a:t>推荐、分析、推理系统</a:t>
                      </a:r>
                    </a:p>
                  </a:txBody>
                  <a:tcPr/>
                </a:tc>
                <a:extLst>
                  <a:ext uri="{0D108BD9-81ED-4DB2-BD59-A6C34878D82A}">
                    <a16:rowId xmlns:a16="http://schemas.microsoft.com/office/drawing/2014/main" val="1465418498"/>
                  </a:ext>
                </a:extLst>
              </a:tr>
            </a:tbl>
          </a:graphicData>
        </a:graphic>
      </p:graphicFrame>
    </p:spTree>
    <p:extLst>
      <p:ext uri="{BB962C8B-B14F-4D97-AF65-F5344CB8AC3E}">
        <p14:creationId xmlns:p14="http://schemas.microsoft.com/office/powerpoint/2010/main" val="36589551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172074-E1D2-7348-9A0C-428A301BCBF5}"/>
              </a:ext>
            </a:extLst>
          </p:cNvPr>
          <p:cNvSpPr>
            <a:spLocks noGrp="1"/>
          </p:cNvSpPr>
          <p:nvPr>
            <p:ph type="title"/>
          </p:nvPr>
        </p:nvSpPr>
        <p:spPr/>
        <p:txBody>
          <a:bodyPr/>
          <a:lstStyle/>
          <a:p>
            <a:r>
              <a:rPr kumimoji="1" lang="zh-CN" altLang="en-US" dirty="0"/>
              <a:t>智能目录的创新性</a:t>
            </a:r>
          </a:p>
        </p:txBody>
      </p:sp>
      <p:sp>
        <p:nvSpPr>
          <p:cNvPr id="3" name="内容占位符 2">
            <a:extLst>
              <a:ext uri="{FF2B5EF4-FFF2-40B4-BE49-F238E27FC236}">
                <a16:creationId xmlns:a16="http://schemas.microsoft.com/office/drawing/2014/main" id="{AA8B2AC7-F2D0-DB44-8662-AB6C8FA832B6}"/>
              </a:ext>
            </a:extLst>
          </p:cNvPr>
          <p:cNvSpPr>
            <a:spLocks noGrp="1"/>
          </p:cNvSpPr>
          <p:nvPr>
            <p:ph idx="1"/>
          </p:nvPr>
        </p:nvSpPr>
        <p:spPr/>
        <p:txBody>
          <a:bodyPr/>
          <a:lstStyle/>
          <a:p>
            <a:r>
              <a:rPr kumimoji="1" lang="zh-CN" altLang="en-US" dirty="0"/>
              <a:t>技术角度</a:t>
            </a:r>
            <a:endParaRPr kumimoji="1" lang="en-US" altLang="zh-CN" dirty="0"/>
          </a:p>
          <a:p>
            <a:pPr lvl="1"/>
            <a:r>
              <a:rPr kumimoji="1" lang="zh-CN" altLang="en-US" dirty="0"/>
              <a:t>融合机器学习、逻辑推理的智能化分析，相较于数字目录的数据库检索有着更强大的分析能力</a:t>
            </a:r>
            <a:endParaRPr kumimoji="1" lang="en-US" altLang="zh-CN" dirty="0"/>
          </a:p>
          <a:p>
            <a:r>
              <a:rPr kumimoji="1" lang="zh-CN" altLang="en-US" dirty="0"/>
              <a:t>功能角度</a:t>
            </a:r>
            <a:endParaRPr kumimoji="1" lang="en-US" altLang="zh-CN" dirty="0"/>
          </a:p>
          <a:p>
            <a:pPr lvl="1"/>
            <a:r>
              <a:rPr kumimoji="1" lang="zh-CN" altLang="en-US" dirty="0"/>
              <a:t>相较于数字目录的先检后索交互方式，提供了智能问答，智能推荐，智能评价等多维的交互方式</a:t>
            </a:r>
            <a:endParaRPr kumimoji="1" lang="en-US" altLang="zh-CN" dirty="0"/>
          </a:p>
          <a:p>
            <a:r>
              <a:rPr kumimoji="1" lang="zh-CN" altLang="en-US" dirty="0"/>
              <a:t>应用角度</a:t>
            </a:r>
            <a:endParaRPr kumimoji="1" lang="en-US" altLang="zh-CN" dirty="0"/>
          </a:p>
          <a:p>
            <a:pPr lvl="1"/>
            <a:r>
              <a:rPr kumimoji="1" lang="zh-CN" altLang="en-US" dirty="0"/>
              <a:t>相较于数字目录的独立信息系统型应用，智能目录可以作为通用的服务引擎，可自适应的应用于不同领域、构建面向领域的智能目录系统</a:t>
            </a:r>
            <a:endParaRPr kumimoji="1" lang="en-US" altLang="zh-CN" dirty="0"/>
          </a:p>
        </p:txBody>
      </p:sp>
    </p:spTree>
    <p:extLst>
      <p:ext uri="{BB962C8B-B14F-4D97-AF65-F5344CB8AC3E}">
        <p14:creationId xmlns:p14="http://schemas.microsoft.com/office/powerpoint/2010/main" val="18938856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172074-E1D2-7348-9A0C-428A301BCBF5}"/>
              </a:ext>
            </a:extLst>
          </p:cNvPr>
          <p:cNvSpPr>
            <a:spLocks noGrp="1"/>
          </p:cNvSpPr>
          <p:nvPr>
            <p:ph type="title"/>
          </p:nvPr>
        </p:nvSpPr>
        <p:spPr/>
        <p:txBody>
          <a:bodyPr/>
          <a:lstStyle/>
          <a:p>
            <a:r>
              <a:rPr kumimoji="1" lang="zh-CN" altLang="en-US" dirty="0"/>
              <a:t>智能目录的功能与实现</a:t>
            </a:r>
          </a:p>
        </p:txBody>
      </p:sp>
      <p:sp>
        <p:nvSpPr>
          <p:cNvPr id="3" name="内容占位符 2">
            <a:extLst>
              <a:ext uri="{FF2B5EF4-FFF2-40B4-BE49-F238E27FC236}">
                <a16:creationId xmlns:a16="http://schemas.microsoft.com/office/drawing/2014/main" id="{AA8B2AC7-F2D0-DB44-8662-AB6C8FA832B6}"/>
              </a:ext>
            </a:extLst>
          </p:cNvPr>
          <p:cNvSpPr>
            <a:spLocks noGrp="1"/>
          </p:cNvSpPr>
          <p:nvPr>
            <p:ph idx="1"/>
          </p:nvPr>
        </p:nvSpPr>
        <p:spPr/>
        <p:txBody>
          <a:bodyPr>
            <a:normAutofit lnSpcReduction="10000"/>
          </a:bodyPr>
          <a:lstStyle/>
          <a:p>
            <a:r>
              <a:rPr kumimoji="1" lang="zh-CN" altLang="en-US" dirty="0"/>
              <a:t>智能编目</a:t>
            </a:r>
            <a:endParaRPr kumimoji="1" lang="en-US" altLang="zh-CN" dirty="0"/>
          </a:p>
          <a:p>
            <a:pPr lvl="1"/>
            <a:r>
              <a:rPr kumimoji="1" lang="zh-CN" altLang="en-US" dirty="0"/>
              <a:t>手工编目</a:t>
            </a:r>
            <a:r>
              <a:rPr kumimoji="1" lang="en-US" altLang="zh-CN" dirty="0">
                <a:sym typeface="Wingdings" pitchFamily="2" charset="2"/>
              </a:rPr>
              <a:t></a:t>
            </a:r>
            <a:r>
              <a:rPr kumimoji="1" lang="zh-CN" altLang="en-US" dirty="0"/>
              <a:t>自动化编目</a:t>
            </a:r>
            <a:r>
              <a:rPr kumimoji="1" lang="en-US" altLang="zh-CN" dirty="0">
                <a:sym typeface="Wingdings" pitchFamily="2" charset="2"/>
              </a:rPr>
              <a:t></a:t>
            </a:r>
            <a:r>
              <a:rPr kumimoji="1" lang="zh-CN" altLang="en-US" dirty="0">
                <a:sym typeface="Wingdings" pitchFamily="2" charset="2"/>
              </a:rPr>
              <a:t>智能化编目</a:t>
            </a:r>
            <a:endParaRPr kumimoji="1" lang="en-US" altLang="zh-CN" dirty="0">
              <a:sym typeface="Wingdings" pitchFamily="2" charset="2"/>
            </a:endParaRPr>
          </a:p>
          <a:p>
            <a:pPr lvl="1"/>
            <a:r>
              <a:rPr kumimoji="1" lang="zh-CN" altLang="en-US" dirty="0">
                <a:sym typeface="Wingdings" pitchFamily="2" charset="2"/>
              </a:rPr>
              <a:t>自动化生成控制号、著者号、索引号，智能化查缺、优化。</a:t>
            </a:r>
            <a:endParaRPr kumimoji="1" lang="en-US" altLang="zh-CN" dirty="0"/>
          </a:p>
          <a:p>
            <a:r>
              <a:rPr kumimoji="1" lang="zh-CN" altLang="en-US" dirty="0"/>
              <a:t>智能关联</a:t>
            </a:r>
            <a:endParaRPr kumimoji="1" lang="en-US" altLang="zh-CN" dirty="0"/>
          </a:p>
          <a:p>
            <a:pPr lvl="1"/>
            <a:r>
              <a:rPr kumimoji="1" lang="zh-CN" altLang="en-US" dirty="0"/>
              <a:t>文献的关联</a:t>
            </a:r>
            <a:r>
              <a:rPr kumimoji="1" lang="en-US" altLang="zh-CN" dirty="0">
                <a:sym typeface="Wingdings" pitchFamily="2" charset="2"/>
              </a:rPr>
              <a:t></a:t>
            </a:r>
            <a:r>
              <a:rPr kumimoji="1" lang="zh-CN" altLang="en-US" dirty="0"/>
              <a:t>信息的关联</a:t>
            </a:r>
            <a:r>
              <a:rPr kumimoji="1" lang="en-US" altLang="zh-CN" dirty="0">
                <a:sym typeface="Wingdings" pitchFamily="2" charset="2"/>
              </a:rPr>
              <a:t></a:t>
            </a:r>
            <a:r>
              <a:rPr kumimoji="1" lang="zh-CN" altLang="en-US" dirty="0">
                <a:sym typeface="Wingdings" pitchFamily="2" charset="2"/>
              </a:rPr>
              <a:t>知识的关联</a:t>
            </a:r>
            <a:endParaRPr kumimoji="1" lang="en-US" altLang="zh-CN" dirty="0">
              <a:sym typeface="Wingdings" pitchFamily="2" charset="2"/>
            </a:endParaRPr>
          </a:p>
          <a:p>
            <a:pPr lvl="1"/>
            <a:r>
              <a:rPr kumimoji="1" lang="zh-CN" altLang="en-US" dirty="0"/>
              <a:t>海量数据，碎片化知识时代通过智能关联实现知识的动态系统化</a:t>
            </a:r>
            <a:endParaRPr kumimoji="1" lang="en-US" altLang="zh-CN" dirty="0"/>
          </a:p>
          <a:p>
            <a:r>
              <a:rPr kumimoji="1" lang="zh-CN" altLang="en-US" dirty="0"/>
              <a:t>智能导读 </a:t>
            </a:r>
            <a:endParaRPr kumimoji="1" lang="en-US" altLang="zh-CN" dirty="0"/>
          </a:p>
          <a:p>
            <a:pPr lvl="1"/>
            <a:r>
              <a:rPr kumimoji="1" lang="zh-CN" altLang="en-US" dirty="0"/>
              <a:t>交互式的智能导读，应道读者正确的阅读内容、方法以及技巧。</a:t>
            </a:r>
            <a:endParaRPr kumimoji="1" lang="en-US" altLang="zh-CN" dirty="0"/>
          </a:p>
          <a:p>
            <a:r>
              <a:rPr kumimoji="1" lang="zh-CN" altLang="en-US" dirty="0"/>
              <a:t>智能检索</a:t>
            </a:r>
            <a:endParaRPr kumimoji="1" lang="en-US" altLang="zh-CN" dirty="0"/>
          </a:p>
          <a:p>
            <a:pPr lvl="1"/>
            <a:r>
              <a:rPr kumimoji="1" lang="zh-CN" altLang="en-US" dirty="0"/>
              <a:t>基于知识图谱的展现、智能化检索实现高精度的查全率与查准率</a:t>
            </a:r>
            <a:endParaRPr kumimoji="1" lang="en-US" altLang="zh-CN" dirty="0"/>
          </a:p>
          <a:p>
            <a:endParaRPr kumimoji="1" lang="en-US" altLang="zh-CN" dirty="0"/>
          </a:p>
        </p:txBody>
      </p:sp>
    </p:spTree>
    <p:extLst>
      <p:ext uri="{BB962C8B-B14F-4D97-AF65-F5344CB8AC3E}">
        <p14:creationId xmlns:p14="http://schemas.microsoft.com/office/powerpoint/2010/main" val="41189678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172074-E1D2-7348-9A0C-428A301BCBF5}"/>
              </a:ext>
            </a:extLst>
          </p:cNvPr>
          <p:cNvSpPr>
            <a:spLocks noGrp="1"/>
          </p:cNvSpPr>
          <p:nvPr>
            <p:ph type="title"/>
          </p:nvPr>
        </p:nvSpPr>
        <p:spPr/>
        <p:txBody>
          <a:bodyPr/>
          <a:lstStyle/>
          <a:p>
            <a:r>
              <a:rPr kumimoji="1" lang="zh-CN" altLang="en-US" dirty="0"/>
              <a:t>智能目录的功能与实现</a:t>
            </a:r>
          </a:p>
        </p:txBody>
      </p:sp>
      <p:sp>
        <p:nvSpPr>
          <p:cNvPr id="3" name="内容占位符 2">
            <a:extLst>
              <a:ext uri="{FF2B5EF4-FFF2-40B4-BE49-F238E27FC236}">
                <a16:creationId xmlns:a16="http://schemas.microsoft.com/office/drawing/2014/main" id="{AA8B2AC7-F2D0-DB44-8662-AB6C8FA832B6}"/>
              </a:ext>
            </a:extLst>
          </p:cNvPr>
          <p:cNvSpPr>
            <a:spLocks noGrp="1"/>
          </p:cNvSpPr>
          <p:nvPr>
            <p:ph idx="1"/>
          </p:nvPr>
        </p:nvSpPr>
        <p:spPr/>
        <p:txBody>
          <a:bodyPr>
            <a:normAutofit lnSpcReduction="10000"/>
          </a:bodyPr>
          <a:lstStyle/>
          <a:p>
            <a:r>
              <a:rPr kumimoji="1" lang="zh-CN" altLang="en-US" dirty="0"/>
              <a:t>智能推荐</a:t>
            </a:r>
            <a:endParaRPr kumimoji="1" lang="en-US" altLang="zh-CN" dirty="0"/>
          </a:p>
          <a:p>
            <a:pPr lvl="1"/>
            <a:r>
              <a:rPr kumimoji="1" lang="zh-CN" altLang="en-US" dirty="0"/>
              <a:t>基于用户偏好度信息、知识系统化信息，智能化推荐合适的知识内容</a:t>
            </a:r>
            <a:endParaRPr kumimoji="1" lang="en-US" altLang="zh-CN" dirty="0"/>
          </a:p>
          <a:p>
            <a:r>
              <a:rPr kumimoji="1" lang="zh-CN" altLang="en-US" dirty="0"/>
              <a:t>智能问答</a:t>
            </a:r>
            <a:endParaRPr kumimoji="1" lang="en-US" altLang="zh-CN" dirty="0"/>
          </a:p>
          <a:p>
            <a:pPr lvl="1"/>
            <a:r>
              <a:rPr kumimoji="1" lang="zh-CN" altLang="en-US" dirty="0"/>
              <a:t>检索的升级，通过逻辑推理、机器学习等技术实现对用户查询方式多样化的支持</a:t>
            </a:r>
            <a:endParaRPr kumimoji="1" lang="en-US" altLang="zh-CN" dirty="0"/>
          </a:p>
          <a:p>
            <a:r>
              <a:rPr kumimoji="1" lang="zh-CN" altLang="en-US" dirty="0"/>
              <a:t>智能评价</a:t>
            </a:r>
            <a:endParaRPr kumimoji="1" lang="en-US" altLang="zh-CN" dirty="0"/>
          </a:p>
          <a:p>
            <a:pPr lvl="1"/>
            <a:r>
              <a:rPr kumimoji="1" lang="zh-CN" altLang="en-US" dirty="0"/>
              <a:t>基于多维度的客观指标进行定性与定量分析，结合同行评议的主观指标，进行智能排行（</a:t>
            </a:r>
            <a:r>
              <a:rPr kumimoji="1" lang="en-US" altLang="zh-CN" dirty="0"/>
              <a:t>GOTO</a:t>
            </a:r>
            <a:r>
              <a:rPr kumimoji="1" lang="zh-CN" altLang="en-US" dirty="0"/>
              <a:t> </a:t>
            </a:r>
            <a:r>
              <a:rPr kumimoji="1" lang="en-US" altLang="zh-CN" dirty="0"/>
              <a:t>Ranking</a:t>
            </a:r>
            <a:r>
              <a:rPr kumimoji="1" lang="zh-CN" altLang="en-US" dirty="0"/>
              <a:t>），进行辅助选择</a:t>
            </a:r>
            <a:endParaRPr kumimoji="1" lang="en-US" altLang="zh-CN" dirty="0"/>
          </a:p>
          <a:p>
            <a:pPr lvl="2"/>
            <a:r>
              <a:rPr kumimoji="1" lang="en-US" altLang="zh-CN" sz="1800" b="1" dirty="0"/>
              <a:t>G</a:t>
            </a:r>
            <a:r>
              <a:rPr kumimoji="1" lang="en-US" altLang="zh-CN" sz="1800" dirty="0"/>
              <a:t>ood data: data have been cleaned and curated</a:t>
            </a:r>
          </a:p>
          <a:p>
            <a:pPr lvl="2"/>
            <a:r>
              <a:rPr kumimoji="1" lang="en-US" altLang="zh-CN" sz="1800" b="1" dirty="0"/>
              <a:t>O</a:t>
            </a:r>
            <a:r>
              <a:rPr kumimoji="1" lang="en-US" altLang="zh-CN" sz="1800" dirty="0"/>
              <a:t>pen: data is available, regarding attributes measured, at least for verification</a:t>
            </a:r>
          </a:p>
          <a:p>
            <a:pPr lvl="2"/>
            <a:r>
              <a:rPr kumimoji="1" lang="en-US" altLang="zh-CN" sz="1800" b="1" dirty="0"/>
              <a:t>T</a:t>
            </a:r>
            <a:r>
              <a:rPr kumimoji="1" lang="en-US" altLang="zh-CN" sz="1800" dirty="0"/>
              <a:t>ransparent: process and methodologies are entirely transparent</a:t>
            </a:r>
          </a:p>
          <a:p>
            <a:pPr lvl="2"/>
            <a:r>
              <a:rPr kumimoji="1" lang="en-US" altLang="zh-CN" sz="1800" b="1" dirty="0"/>
              <a:t>O</a:t>
            </a:r>
            <a:r>
              <a:rPr kumimoji="1" lang="en-US" altLang="zh-CN" sz="1800" dirty="0"/>
              <a:t>bjective: based on measurable attributes</a:t>
            </a:r>
          </a:p>
        </p:txBody>
      </p:sp>
    </p:spTree>
    <p:extLst>
      <p:ext uri="{BB962C8B-B14F-4D97-AF65-F5344CB8AC3E}">
        <p14:creationId xmlns:p14="http://schemas.microsoft.com/office/powerpoint/2010/main" val="15854414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172074-E1D2-7348-9A0C-428A301BCBF5}"/>
              </a:ext>
            </a:extLst>
          </p:cNvPr>
          <p:cNvSpPr>
            <a:spLocks noGrp="1"/>
          </p:cNvSpPr>
          <p:nvPr>
            <p:ph type="title"/>
          </p:nvPr>
        </p:nvSpPr>
        <p:spPr/>
        <p:txBody>
          <a:bodyPr/>
          <a:lstStyle/>
          <a:p>
            <a:r>
              <a:rPr kumimoji="1" lang="zh-CN" altLang="en-US" dirty="0"/>
              <a:t>智能目录的功能与实现</a:t>
            </a:r>
          </a:p>
        </p:txBody>
      </p:sp>
      <p:pic>
        <p:nvPicPr>
          <p:cNvPr id="9" name="图片 8">
            <a:extLst>
              <a:ext uri="{FF2B5EF4-FFF2-40B4-BE49-F238E27FC236}">
                <a16:creationId xmlns:a16="http://schemas.microsoft.com/office/drawing/2014/main" id="{DA08CB43-871B-8B4F-BB54-316C787D5EAF}"/>
              </a:ext>
            </a:extLst>
          </p:cNvPr>
          <p:cNvPicPr>
            <a:picLocks noChangeAspect="1"/>
          </p:cNvPicPr>
          <p:nvPr/>
        </p:nvPicPr>
        <p:blipFill>
          <a:blip r:embed="rId2"/>
          <a:stretch>
            <a:fillRect/>
          </a:stretch>
        </p:blipFill>
        <p:spPr>
          <a:xfrm>
            <a:off x="3152914" y="1411161"/>
            <a:ext cx="6481739" cy="5446839"/>
          </a:xfrm>
          <a:prstGeom prst="rect">
            <a:avLst/>
          </a:prstGeom>
        </p:spPr>
      </p:pic>
    </p:spTree>
    <p:extLst>
      <p:ext uri="{BB962C8B-B14F-4D97-AF65-F5344CB8AC3E}">
        <p14:creationId xmlns:p14="http://schemas.microsoft.com/office/powerpoint/2010/main" val="5006553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172074-E1D2-7348-9A0C-428A301BCBF5}"/>
              </a:ext>
            </a:extLst>
          </p:cNvPr>
          <p:cNvSpPr>
            <a:spLocks noGrp="1"/>
          </p:cNvSpPr>
          <p:nvPr>
            <p:ph type="title"/>
          </p:nvPr>
        </p:nvSpPr>
        <p:spPr/>
        <p:txBody>
          <a:bodyPr/>
          <a:lstStyle/>
          <a:p>
            <a:r>
              <a:rPr kumimoji="1" lang="zh-CN" altLang="en-US" dirty="0"/>
              <a:t>智能目录的应用</a:t>
            </a:r>
          </a:p>
        </p:txBody>
      </p:sp>
      <p:sp>
        <p:nvSpPr>
          <p:cNvPr id="3" name="内容占位符 2">
            <a:extLst>
              <a:ext uri="{FF2B5EF4-FFF2-40B4-BE49-F238E27FC236}">
                <a16:creationId xmlns:a16="http://schemas.microsoft.com/office/drawing/2014/main" id="{AA8B2AC7-F2D0-DB44-8662-AB6C8FA832B6}"/>
              </a:ext>
            </a:extLst>
          </p:cNvPr>
          <p:cNvSpPr>
            <a:spLocks noGrp="1"/>
          </p:cNvSpPr>
          <p:nvPr>
            <p:ph idx="1"/>
          </p:nvPr>
        </p:nvSpPr>
        <p:spPr/>
        <p:txBody>
          <a:bodyPr/>
          <a:lstStyle/>
          <a:p>
            <a:r>
              <a:rPr kumimoji="1" lang="zh-CN" altLang="en-US" dirty="0"/>
              <a:t>智能学者目录</a:t>
            </a:r>
            <a:endParaRPr kumimoji="1" lang="en-US" altLang="zh-CN" dirty="0"/>
          </a:p>
          <a:p>
            <a:r>
              <a:rPr kumimoji="1" lang="zh-CN" altLang="en-US" dirty="0"/>
              <a:t>智能医生目录</a:t>
            </a:r>
            <a:endParaRPr kumimoji="1" lang="en-US" altLang="zh-CN" dirty="0"/>
          </a:p>
          <a:p>
            <a:r>
              <a:rPr kumimoji="1" lang="zh-CN" altLang="en-US" dirty="0"/>
              <a:t>智能律师目录</a:t>
            </a:r>
            <a:endParaRPr kumimoji="1" lang="en-US" altLang="zh-CN" dirty="0"/>
          </a:p>
          <a:p>
            <a:r>
              <a:rPr kumimoji="1" lang="en-US" altLang="zh-CN" dirty="0"/>
              <a:t>……</a:t>
            </a:r>
          </a:p>
        </p:txBody>
      </p:sp>
      <p:sp>
        <p:nvSpPr>
          <p:cNvPr id="4" name="Rectangle 2">
            <a:extLst>
              <a:ext uri="{FF2B5EF4-FFF2-40B4-BE49-F238E27FC236}">
                <a16:creationId xmlns:a16="http://schemas.microsoft.com/office/drawing/2014/main" id="{74B72899-5044-EB48-8EF2-AED2F7C288B5}"/>
              </a:ext>
            </a:extLst>
          </p:cNvPr>
          <p:cNvSpPr>
            <a:spLocks noChangeArrowheads="1"/>
          </p:cNvSpPr>
          <p:nvPr/>
        </p:nvSpPr>
        <p:spPr bwMode="auto">
          <a:xfrm>
            <a:off x="4415881" y="1690687"/>
            <a:ext cx="1508919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036CA1E6-7111-3842-AC7D-ECC0D7C29AB2}"/>
              </a:ext>
            </a:extLst>
          </p:cNvPr>
          <p:cNvGraphicFramePr>
            <a:graphicFrameLocks noChangeAspect="1"/>
          </p:cNvGraphicFramePr>
          <p:nvPr>
            <p:extLst>
              <p:ext uri="{D42A27DB-BD31-4B8C-83A1-F6EECF244321}">
                <p14:modId xmlns:p14="http://schemas.microsoft.com/office/powerpoint/2010/main" val="3914625597"/>
              </p:ext>
            </p:extLst>
          </p:nvPr>
        </p:nvGraphicFramePr>
        <p:xfrm>
          <a:off x="5820936" y="397229"/>
          <a:ext cx="4883954" cy="2767574"/>
        </p:xfrm>
        <a:graphic>
          <a:graphicData uri="http://schemas.openxmlformats.org/presentationml/2006/ole">
            <mc:AlternateContent xmlns:mc="http://schemas.openxmlformats.org/markup-compatibility/2006">
              <mc:Choice xmlns:v="urn:schemas-microsoft-com:vml" Requires="v">
                <p:oleObj spid="_x0000_s1138" r:id="rId3" imgW="10655300" imgH="6070600" progId="Visio.Drawing.15">
                  <p:embed/>
                </p:oleObj>
              </mc:Choice>
              <mc:Fallback>
                <p:oleObj r:id="rId3" imgW="10655300" imgH="6070600"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0936" y="397229"/>
                        <a:ext cx="4883954" cy="2767574"/>
                      </a:xfrm>
                      <a:prstGeom prst="rect">
                        <a:avLst/>
                      </a:prstGeom>
                      <a:noFill/>
                    </p:spPr>
                  </p:pic>
                </p:oleObj>
              </mc:Fallback>
            </mc:AlternateContent>
          </a:graphicData>
        </a:graphic>
      </p:graphicFrame>
      <p:pic>
        <p:nvPicPr>
          <p:cNvPr id="6" name="图片 5">
            <a:extLst>
              <a:ext uri="{FF2B5EF4-FFF2-40B4-BE49-F238E27FC236}">
                <a16:creationId xmlns:a16="http://schemas.microsoft.com/office/drawing/2014/main" id="{974FADB2-FB40-3B49-8208-711414599064}"/>
              </a:ext>
            </a:extLst>
          </p:cNvPr>
          <p:cNvPicPr>
            <a:picLocks noChangeAspect="1"/>
          </p:cNvPicPr>
          <p:nvPr/>
        </p:nvPicPr>
        <p:blipFill>
          <a:blip r:embed="rId5"/>
          <a:stretch>
            <a:fillRect/>
          </a:stretch>
        </p:blipFill>
        <p:spPr>
          <a:xfrm>
            <a:off x="3902926" y="3299740"/>
            <a:ext cx="6801964" cy="3438104"/>
          </a:xfrm>
          <a:prstGeom prst="rect">
            <a:avLst/>
          </a:prstGeom>
        </p:spPr>
      </p:pic>
    </p:spTree>
    <p:extLst>
      <p:ext uri="{BB962C8B-B14F-4D97-AF65-F5344CB8AC3E}">
        <p14:creationId xmlns:p14="http://schemas.microsoft.com/office/powerpoint/2010/main" val="89899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F3D985-70B9-FE40-8185-B6C8A87CFC07}"/>
              </a:ext>
            </a:extLst>
          </p:cNvPr>
          <p:cNvSpPr>
            <a:spLocks noGrp="1"/>
          </p:cNvSpPr>
          <p:nvPr>
            <p:ph type="title"/>
          </p:nvPr>
        </p:nvSpPr>
        <p:spPr>
          <a:xfrm>
            <a:off x="838200" y="576263"/>
            <a:ext cx="10515600" cy="2852737"/>
          </a:xfrm>
        </p:spPr>
        <p:txBody>
          <a:bodyPr/>
          <a:lstStyle/>
          <a:p>
            <a:pPr algn="ctr"/>
            <a:r>
              <a:rPr kumimoji="1" lang="zh-CN" altLang="en-US" dirty="0"/>
              <a:t>谢谢</a:t>
            </a:r>
          </a:p>
        </p:txBody>
      </p:sp>
    </p:spTree>
    <p:extLst>
      <p:ext uri="{BB962C8B-B14F-4D97-AF65-F5344CB8AC3E}">
        <p14:creationId xmlns:p14="http://schemas.microsoft.com/office/powerpoint/2010/main" val="15597447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BD89E7-D816-AB4C-AF0A-DAB2DEA41D99}"/>
              </a:ext>
            </a:extLst>
          </p:cNvPr>
          <p:cNvSpPr>
            <a:spLocks noGrp="1"/>
          </p:cNvSpPr>
          <p:nvPr>
            <p:ph type="title"/>
          </p:nvPr>
        </p:nvSpPr>
        <p:spPr>
          <a:xfrm>
            <a:off x="838200" y="843893"/>
            <a:ext cx="10515600" cy="2852737"/>
          </a:xfrm>
        </p:spPr>
        <p:txBody>
          <a:bodyPr/>
          <a:lstStyle/>
          <a:p>
            <a:pPr algn="ctr"/>
            <a:r>
              <a:rPr kumimoji="1" lang="zh-CN" altLang="en-US" dirty="0"/>
              <a:t>研究课题介绍</a:t>
            </a:r>
          </a:p>
        </p:txBody>
      </p:sp>
    </p:spTree>
    <p:extLst>
      <p:ext uri="{BB962C8B-B14F-4D97-AF65-F5344CB8AC3E}">
        <p14:creationId xmlns:p14="http://schemas.microsoft.com/office/powerpoint/2010/main" val="15308349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542B2E-0565-C146-9BAB-7C51AD4B2541}"/>
              </a:ext>
            </a:extLst>
          </p:cNvPr>
          <p:cNvSpPr>
            <a:spLocks noGrp="1"/>
          </p:cNvSpPr>
          <p:nvPr>
            <p:ph type="title"/>
          </p:nvPr>
        </p:nvSpPr>
        <p:spPr/>
        <p:txBody>
          <a:bodyPr/>
          <a:lstStyle/>
          <a:p>
            <a:r>
              <a:rPr kumimoji="1" lang="zh-CN" altLang="en-US" dirty="0"/>
              <a:t>面向物理网设备的模糊测试技术研究</a:t>
            </a:r>
          </a:p>
        </p:txBody>
      </p:sp>
      <p:pic>
        <p:nvPicPr>
          <p:cNvPr id="4" name="内容占位符 3">
            <a:extLst>
              <a:ext uri="{FF2B5EF4-FFF2-40B4-BE49-F238E27FC236}">
                <a16:creationId xmlns:a16="http://schemas.microsoft.com/office/drawing/2014/main" id="{9208842A-7998-9C49-939B-9EDB88B20DE2}"/>
              </a:ext>
            </a:extLst>
          </p:cNvPr>
          <p:cNvPicPr>
            <a:picLocks noGrp="1" noChangeAspect="1"/>
          </p:cNvPicPr>
          <p:nvPr>
            <p:ph idx="1"/>
          </p:nvPr>
        </p:nvPicPr>
        <p:blipFill>
          <a:blip r:embed="rId2"/>
          <a:stretch>
            <a:fillRect/>
          </a:stretch>
        </p:blipFill>
        <p:spPr>
          <a:xfrm>
            <a:off x="161687" y="1870230"/>
            <a:ext cx="8762232" cy="3683077"/>
          </a:xfrm>
          <a:prstGeom prst="rect">
            <a:avLst/>
          </a:prstGeom>
        </p:spPr>
      </p:pic>
      <p:sp>
        <p:nvSpPr>
          <p:cNvPr id="5" name="内容占位符 2">
            <a:extLst>
              <a:ext uri="{FF2B5EF4-FFF2-40B4-BE49-F238E27FC236}">
                <a16:creationId xmlns:a16="http://schemas.microsoft.com/office/drawing/2014/main" id="{3DF9E606-22D9-7042-A75D-6D24D821278A}"/>
              </a:ext>
            </a:extLst>
          </p:cNvPr>
          <p:cNvSpPr txBox="1">
            <a:spLocks/>
          </p:cNvSpPr>
          <p:nvPr/>
        </p:nvSpPr>
        <p:spPr>
          <a:xfrm>
            <a:off x="9099395" y="1870230"/>
            <a:ext cx="3092605" cy="435133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zh-CN" altLang="en-US" dirty="0"/>
              <a:t>玩转</a:t>
            </a:r>
            <a:r>
              <a:rPr kumimoji="1" lang="en-US" altLang="zh-CN" dirty="0"/>
              <a:t>IoT</a:t>
            </a:r>
            <a:r>
              <a:rPr kumimoji="1" lang="zh-CN" altLang="en-US" dirty="0"/>
              <a:t>智能设备</a:t>
            </a:r>
            <a:endParaRPr kumimoji="1" lang="en-US" altLang="zh-CN" dirty="0"/>
          </a:p>
          <a:p>
            <a:pPr lvl="1"/>
            <a:r>
              <a:rPr kumimoji="1" lang="zh-CN" altLang="en-US" dirty="0"/>
              <a:t>无人机</a:t>
            </a:r>
            <a:endParaRPr kumimoji="1" lang="en-US" altLang="zh-CN" dirty="0"/>
          </a:p>
          <a:p>
            <a:pPr lvl="1"/>
            <a:r>
              <a:rPr kumimoji="1" lang="zh-CN" altLang="en-US" dirty="0"/>
              <a:t>智能摄像</a:t>
            </a:r>
            <a:endParaRPr kumimoji="1" lang="en-US" altLang="zh-CN" dirty="0"/>
          </a:p>
          <a:p>
            <a:pPr lvl="1"/>
            <a:r>
              <a:rPr kumimoji="1" lang="zh-CN" altLang="en-US" dirty="0"/>
              <a:t>无人驾驶汽车</a:t>
            </a:r>
            <a:endParaRPr kumimoji="1" lang="en-US" altLang="zh-CN" dirty="0"/>
          </a:p>
          <a:p>
            <a:r>
              <a:rPr kumimoji="1" lang="zh-CN" altLang="en-US" dirty="0"/>
              <a:t>黑客赏金猎人</a:t>
            </a:r>
            <a:endParaRPr kumimoji="1" lang="en-US" altLang="zh-CN" dirty="0"/>
          </a:p>
          <a:p>
            <a:pPr lvl="1"/>
            <a:r>
              <a:rPr kumimoji="1" lang="zh-CN" altLang="en-US" dirty="0"/>
              <a:t>漏洞挖掘</a:t>
            </a:r>
            <a:endParaRPr kumimoji="1" lang="en-US" altLang="zh-CN" dirty="0"/>
          </a:p>
          <a:p>
            <a:pPr lvl="1"/>
            <a:r>
              <a:rPr kumimoji="1" lang="zh-CN" altLang="en-US" dirty="0"/>
              <a:t>漏洞奖励</a:t>
            </a:r>
            <a:endParaRPr kumimoji="1" lang="en-US" altLang="zh-CN" dirty="0"/>
          </a:p>
          <a:p>
            <a:pPr lvl="1"/>
            <a:r>
              <a:rPr kumimoji="1" lang="zh-CN" altLang="en-US" dirty="0"/>
              <a:t>漏洞攻防</a:t>
            </a:r>
            <a:endParaRPr kumimoji="1" lang="en-US" altLang="zh-CN" dirty="0"/>
          </a:p>
          <a:p>
            <a:r>
              <a:rPr kumimoji="1" lang="zh-CN" altLang="en-US" dirty="0"/>
              <a:t>安全大会</a:t>
            </a:r>
            <a:endParaRPr kumimoji="1" lang="en-US" altLang="zh-CN" dirty="0"/>
          </a:p>
          <a:p>
            <a:pPr lvl="1"/>
            <a:r>
              <a:rPr kumimoji="1" lang="zh-CN" altLang="en-US" dirty="0"/>
              <a:t>论文</a:t>
            </a:r>
            <a:endParaRPr kumimoji="1" lang="en-US" altLang="zh-CN" dirty="0"/>
          </a:p>
          <a:p>
            <a:pPr lvl="1"/>
            <a:r>
              <a:rPr kumimoji="1" lang="zh-CN" altLang="en-US" dirty="0"/>
              <a:t>演讲</a:t>
            </a:r>
            <a:endParaRPr kumimoji="1" lang="en-US" altLang="zh-CN" dirty="0"/>
          </a:p>
          <a:p>
            <a:endParaRPr kumimoji="1" lang="en-US" altLang="zh-CN" dirty="0"/>
          </a:p>
        </p:txBody>
      </p:sp>
      <p:sp>
        <p:nvSpPr>
          <p:cNvPr id="6" name="内容占位符 2">
            <a:extLst>
              <a:ext uri="{FF2B5EF4-FFF2-40B4-BE49-F238E27FC236}">
                <a16:creationId xmlns:a16="http://schemas.microsoft.com/office/drawing/2014/main" id="{11FE5FC9-7EFA-BE47-B276-EABAE01C7F14}"/>
              </a:ext>
            </a:extLst>
          </p:cNvPr>
          <p:cNvSpPr txBox="1">
            <a:spLocks/>
          </p:cNvSpPr>
          <p:nvPr/>
        </p:nvSpPr>
        <p:spPr>
          <a:xfrm>
            <a:off x="265766" y="5803184"/>
            <a:ext cx="8506522" cy="6702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kumimoji="1" lang="zh-CN" altLang="en-US" dirty="0"/>
              <a:t>合作：</a:t>
            </a:r>
            <a:r>
              <a:rPr kumimoji="1" lang="en-US" altLang="zh-CN" dirty="0"/>
              <a:t>14</a:t>
            </a:r>
            <a:r>
              <a:rPr kumimoji="1" lang="zh-CN" altLang="en-US" dirty="0"/>
              <a:t>所，上海控安，蚂蚁金服，国家电网</a:t>
            </a:r>
            <a:endParaRPr kumimoji="1" lang="en-US" altLang="zh-CN" dirty="0"/>
          </a:p>
        </p:txBody>
      </p:sp>
    </p:spTree>
    <p:extLst>
      <p:ext uri="{BB962C8B-B14F-4D97-AF65-F5344CB8AC3E}">
        <p14:creationId xmlns:p14="http://schemas.microsoft.com/office/powerpoint/2010/main" val="7675472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542B2E-0565-C146-9BAB-7C51AD4B2541}"/>
              </a:ext>
            </a:extLst>
          </p:cNvPr>
          <p:cNvSpPr>
            <a:spLocks noGrp="1"/>
          </p:cNvSpPr>
          <p:nvPr>
            <p:ph type="title"/>
          </p:nvPr>
        </p:nvSpPr>
        <p:spPr/>
        <p:txBody>
          <a:bodyPr/>
          <a:lstStyle/>
          <a:p>
            <a:r>
              <a:rPr kumimoji="1" lang="zh-CN" altLang="en-US" dirty="0"/>
              <a:t>软件与系统自主程度分析</a:t>
            </a:r>
          </a:p>
        </p:txBody>
      </p:sp>
      <p:sp>
        <p:nvSpPr>
          <p:cNvPr id="6" name="内容占位符 5">
            <a:extLst>
              <a:ext uri="{FF2B5EF4-FFF2-40B4-BE49-F238E27FC236}">
                <a16:creationId xmlns:a16="http://schemas.microsoft.com/office/drawing/2014/main" id="{66E56650-E6F6-0340-AD9C-7A8082D84E80}"/>
              </a:ext>
            </a:extLst>
          </p:cNvPr>
          <p:cNvSpPr>
            <a:spLocks noGrp="1"/>
          </p:cNvSpPr>
          <p:nvPr>
            <p:ph idx="1"/>
          </p:nvPr>
        </p:nvSpPr>
        <p:spPr/>
        <p:txBody>
          <a:bodyPr/>
          <a:lstStyle/>
          <a:p>
            <a:r>
              <a:rPr lang="zh-CN" altLang="en-US" dirty="0"/>
              <a:t>从软件与系统的自主程度分析中外科技面临的“卡脖子”问题</a:t>
            </a:r>
            <a:endParaRPr lang="en-US" altLang="zh-CN" dirty="0"/>
          </a:p>
          <a:p>
            <a:pPr lvl="1"/>
            <a:r>
              <a:rPr lang="zh-CN" altLang="en-US" dirty="0"/>
              <a:t>对象：面向领域的主流软件与系统</a:t>
            </a:r>
            <a:endParaRPr lang="en-US" altLang="zh-CN" dirty="0"/>
          </a:p>
          <a:p>
            <a:pPr lvl="1"/>
            <a:r>
              <a:rPr lang="zh-CN" altLang="en-US" dirty="0"/>
              <a:t>自主程度分析维度</a:t>
            </a:r>
            <a:endParaRPr lang="en-US" altLang="zh-CN" dirty="0"/>
          </a:p>
          <a:p>
            <a:pPr lvl="2"/>
            <a:r>
              <a:rPr lang="zh-CN" altLang="en-US" dirty="0"/>
              <a:t>可用程度， 可靠程序，安全程度， 依赖程度</a:t>
            </a:r>
            <a:endParaRPr lang="en-US" altLang="zh-CN" dirty="0"/>
          </a:p>
          <a:p>
            <a:pPr lvl="1"/>
            <a:r>
              <a:rPr lang="zh-CN" altLang="en-US" dirty="0"/>
              <a:t>预期结果</a:t>
            </a:r>
            <a:endParaRPr lang="en-US" altLang="zh-CN" dirty="0"/>
          </a:p>
          <a:p>
            <a:pPr lvl="2"/>
            <a:r>
              <a:rPr lang="zh-CN" altLang="en-US" dirty="0"/>
              <a:t>软件自主程度分析系统（克隆分析，依赖分析，漏洞分析等）</a:t>
            </a:r>
            <a:endParaRPr lang="en-US" altLang="zh-CN" dirty="0"/>
          </a:p>
        </p:txBody>
      </p:sp>
      <p:pic>
        <p:nvPicPr>
          <p:cNvPr id="8" name="图片 7">
            <a:extLst>
              <a:ext uri="{FF2B5EF4-FFF2-40B4-BE49-F238E27FC236}">
                <a16:creationId xmlns:a16="http://schemas.microsoft.com/office/drawing/2014/main" id="{65D81180-D565-D84B-AAF4-91AC15255510}"/>
              </a:ext>
            </a:extLst>
          </p:cNvPr>
          <p:cNvPicPr>
            <a:picLocks noChangeAspect="1"/>
          </p:cNvPicPr>
          <p:nvPr/>
        </p:nvPicPr>
        <p:blipFill>
          <a:blip r:embed="rId2"/>
          <a:stretch>
            <a:fillRect/>
          </a:stretch>
        </p:blipFill>
        <p:spPr>
          <a:xfrm>
            <a:off x="2051825" y="4471750"/>
            <a:ext cx="7136780" cy="2206541"/>
          </a:xfrm>
          <a:prstGeom prst="rect">
            <a:avLst/>
          </a:prstGeom>
        </p:spPr>
      </p:pic>
    </p:spTree>
    <p:extLst>
      <p:ext uri="{BB962C8B-B14F-4D97-AF65-F5344CB8AC3E}">
        <p14:creationId xmlns:p14="http://schemas.microsoft.com/office/powerpoint/2010/main" val="19965778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542B2E-0565-C146-9BAB-7C51AD4B2541}"/>
              </a:ext>
            </a:extLst>
          </p:cNvPr>
          <p:cNvSpPr>
            <a:spLocks noGrp="1"/>
          </p:cNvSpPr>
          <p:nvPr>
            <p:ph type="title"/>
          </p:nvPr>
        </p:nvSpPr>
        <p:spPr/>
        <p:txBody>
          <a:bodyPr/>
          <a:lstStyle/>
          <a:p>
            <a:r>
              <a:rPr kumimoji="1" lang="zh-CN" altLang="en-US" dirty="0"/>
              <a:t>其他课题</a:t>
            </a:r>
          </a:p>
        </p:txBody>
      </p:sp>
      <p:sp>
        <p:nvSpPr>
          <p:cNvPr id="6" name="内容占位符 5">
            <a:extLst>
              <a:ext uri="{FF2B5EF4-FFF2-40B4-BE49-F238E27FC236}">
                <a16:creationId xmlns:a16="http://schemas.microsoft.com/office/drawing/2014/main" id="{66E56650-E6F6-0340-AD9C-7A8082D84E80}"/>
              </a:ext>
            </a:extLst>
          </p:cNvPr>
          <p:cNvSpPr>
            <a:spLocks noGrp="1"/>
          </p:cNvSpPr>
          <p:nvPr>
            <p:ph idx="1"/>
          </p:nvPr>
        </p:nvSpPr>
        <p:spPr/>
        <p:txBody>
          <a:bodyPr/>
          <a:lstStyle/>
          <a:p>
            <a:r>
              <a:rPr lang="zh-CN" altLang="en-US" dirty="0"/>
              <a:t>面向南海疆域的证据链构建研究 （沈固朝、石进）</a:t>
            </a:r>
            <a:endParaRPr lang="en-US" altLang="zh-CN" dirty="0"/>
          </a:p>
          <a:p>
            <a:r>
              <a:rPr lang="zh-CN" altLang="en-US" dirty="0"/>
              <a:t>区块链智能合约的安全性分析研究 （蚂蚁金服）</a:t>
            </a:r>
            <a:endParaRPr lang="en-US" altLang="zh-CN" dirty="0"/>
          </a:p>
          <a:p>
            <a:r>
              <a:rPr lang="zh-CN" altLang="en-US" dirty="0"/>
              <a:t>基于</a:t>
            </a:r>
            <a:r>
              <a:rPr lang="en-US" altLang="zh-CN" dirty="0"/>
              <a:t>Clang/LLVM</a:t>
            </a:r>
            <a:r>
              <a:rPr lang="zh-CN" altLang="en-US" dirty="0"/>
              <a:t>的静态分析技术研究 （华为）</a:t>
            </a:r>
          </a:p>
        </p:txBody>
      </p:sp>
    </p:spTree>
    <p:extLst>
      <p:ext uri="{BB962C8B-B14F-4D97-AF65-F5344CB8AC3E}">
        <p14:creationId xmlns:p14="http://schemas.microsoft.com/office/powerpoint/2010/main" val="27184913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1559</TotalTime>
  <Words>1475</Words>
  <Application>Microsoft Macintosh PowerPoint</Application>
  <PresentationFormat>宽屏</PresentationFormat>
  <Paragraphs>138</Paragraphs>
  <Slides>19</Slides>
  <Notes>5</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1</vt:i4>
      </vt:variant>
      <vt:variant>
        <vt:lpstr>幻灯片标题</vt:lpstr>
      </vt:variant>
      <vt:variant>
        <vt:i4>19</vt:i4>
      </vt:variant>
    </vt:vector>
  </HeadingPairs>
  <TitlesOfParts>
    <vt:vector size="26" baseType="lpstr">
      <vt:lpstr>等线</vt:lpstr>
      <vt:lpstr>等线 Light</vt:lpstr>
      <vt:lpstr>宋体</vt:lpstr>
      <vt:lpstr>Arial</vt:lpstr>
      <vt:lpstr>Wingdings</vt:lpstr>
      <vt:lpstr>Office 主题​​</vt:lpstr>
      <vt:lpstr>Visio.Drawing.15</vt:lpstr>
      <vt:lpstr>智能目录</vt:lpstr>
      <vt:lpstr>目录</vt:lpstr>
      <vt:lpstr>什么是目录学</vt:lpstr>
      <vt:lpstr>书目/目录</vt:lpstr>
      <vt:lpstr>目录工作</vt:lpstr>
      <vt:lpstr>目录学的发展：传统目录学</vt:lpstr>
      <vt:lpstr>目录学的发展：数字目录学</vt:lpstr>
      <vt:lpstr>目录学的发：智能目录学</vt:lpstr>
      <vt:lpstr>目录学的发展</vt:lpstr>
      <vt:lpstr>智能目录的创新性</vt:lpstr>
      <vt:lpstr>智能目录的功能与实现</vt:lpstr>
      <vt:lpstr>智能目录的功能与实现</vt:lpstr>
      <vt:lpstr>智能目录的功能与实现</vt:lpstr>
      <vt:lpstr>智能目录的应用</vt:lpstr>
      <vt:lpstr>谢谢</vt:lpstr>
      <vt:lpstr>研究课题介绍</vt:lpstr>
      <vt:lpstr>面向物理网设备的模糊测试技术研究</vt:lpstr>
      <vt:lpstr>软件与系统自主程度分析</vt:lpstr>
      <vt:lpstr>其他课题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智能目录</dc:title>
  <dc:creator>SITU Lingyun</dc:creator>
  <cp:lastModifiedBy>SITU Lingyun</cp:lastModifiedBy>
  <cp:revision>75</cp:revision>
  <dcterms:created xsi:type="dcterms:W3CDTF">2020-09-08T04:53:04Z</dcterms:created>
  <dcterms:modified xsi:type="dcterms:W3CDTF">2020-09-09T06:57:29Z</dcterms:modified>
</cp:coreProperties>
</file>