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4"/>
  </p:notesMasterIdLst>
  <p:sldIdLst>
    <p:sldId id="264" r:id="rId2"/>
    <p:sldId id="265" r:id="rId3"/>
    <p:sldId id="262" r:id="rId4"/>
    <p:sldId id="260" r:id="rId5"/>
    <p:sldId id="273" r:id="rId6"/>
    <p:sldId id="257" r:id="rId7"/>
    <p:sldId id="258" r:id="rId8"/>
    <p:sldId id="263" r:id="rId9"/>
    <p:sldId id="269" r:id="rId10"/>
    <p:sldId id="268" r:id="rId11"/>
    <p:sldId id="270" r:id="rId12"/>
    <p:sldId id="271"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496" autoAdjust="0"/>
    <p:restoredTop sz="75802" autoAdjust="0"/>
  </p:normalViewPr>
  <p:slideViewPr>
    <p:cSldViewPr snapToGrid="0">
      <p:cViewPr varScale="1">
        <p:scale>
          <a:sx n="51" d="100"/>
          <a:sy n="51" d="100"/>
        </p:scale>
        <p:origin x="85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34C573-5AA3-407B-9065-CC77B5338B8A}" type="datetimeFigureOut">
              <a:rPr lang="zh-CN" altLang="en-US" smtClean="0"/>
              <a:t>2020/9/8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4B9CD-BA12-418F-8446-375F3B4FF92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谈谈我的理解。</a:t>
            </a:r>
            <a:endParaRPr lang="en-US" altLang="zh-CN" dirty="0"/>
          </a:p>
          <a:p>
            <a:r>
              <a:rPr lang="zh-CN" altLang="en-US" dirty="0"/>
              <a:t>书目</a:t>
            </a:r>
            <a:r>
              <a:rPr lang="en-US" altLang="zh-CN" dirty="0"/>
              <a:t>/</a:t>
            </a:r>
            <a:r>
              <a:rPr lang="zh-CN" altLang="en-US" dirty="0"/>
              <a:t>目录是为了著录、揭示文献，其表现形式不仅仅是我们熟知的在图书或者论文的正文前面列出的章节分布，</a:t>
            </a:r>
            <a:endParaRPr lang="en-US" altLang="zh-CN" dirty="0"/>
          </a:p>
          <a:p>
            <a:r>
              <a:rPr lang="zh-CN" altLang="en-US" dirty="0"/>
              <a:t>将许多书</a:t>
            </a:r>
            <a:r>
              <a:rPr lang="en-US" altLang="zh-CN" dirty="0"/>
              <a:t>/</a:t>
            </a:r>
            <a:r>
              <a:rPr lang="zh-CN" altLang="en-US" dirty="0"/>
              <a:t>文献的名字、作者、书籍版本、提要等信息都列出来的也是一种书目。</a:t>
            </a:r>
            <a:endParaRPr lang="en-US" altLang="zh-CN" dirty="0"/>
          </a:p>
          <a:p>
            <a:r>
              <a:rPr lang="zh-CN" altLang="en-US" dirty="0"/>
              <a:t>这个工具的活力、价值就体现在，从揭示和报导文献信息的初心出发，可以有不同的主题和形态。</a:t>
            </a:r>
            <a:endParaRPr lang="en-US" altLang="zh-CN"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6</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目录学是时代的产物，它的产生和发展来自于时代的需要，又服务于时代的需要。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作为一门具有悠久历史和优良传统的学科，具有鲜明时代特征和广泛应用价值。</a:t>
            </a:r>
          </a:p>
          <a:p>
            <a:endParaRPr lang="zh-CN" altLang="en-US"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9/8/2020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9/8/2020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zh-CN" altLang="en-US"/>
              <a:t>单击此处编辑母版标题样式</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9/8/2020</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9/8/2020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9/8/2020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9/8/2020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9/8/2020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A16AA21-1863-4931-97CB-99D0A168701B}" type="datetimeFigureOut">
              <a:rPr lang="en-US" dirty="0"/>
              <a:t>9/8/2020</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772C379-9A7C-4C87-A116-CBE9F58B04C5}" type="datetimeFigureOut">
              <a:rPr lang="en-US" dirty="0"/>
              <a:t>9/8/2020</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9/8/2020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9/8/2020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9/8/2020</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目录学</a:t>
            </a:r>
          </a:p>
        </p:txBody>
      </p:sp>
      <p:sp>
        <p:nvSpPr>
          <p:cNvPr id="3" name="文本占位符 2"/>
          <p:cNvSpPr>
            <a:spLocks noGrp="1"/>
          </p:cNvSpPr>
          <p:nvPr>
            <p:ph type="body" idx="1"/>
          </p:nvPr>
        </p:nvSpPr>
        <p:spPr/>
        <p:txBody>
          <a:bodyPr/>
          <a:lstStyle/>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223" y="427482"/>
            <a:ext cx="10058400" cy="1609344"/>
          </a:xfrm>
        </p:spPr>
        <p:txBody>
          <a:bodyPr/>
          <a:lstStyle/>
          <a:p>
            <a:r>
              <a:rPr lang="zh-CN" altLang="en-US" dirty="0"/>
              <a:t>目录学的基本概念</a:t>
            </a:r>
          </a:p>
        </p:txBody>
      </p:sp>
      <p:sp>
        <p:nvSpPr>
          <p:cNvPr id="3" name="内容占位符 2"/>
          <p:cNvSpPr>
            <a:spLocks noGrp="1"/>
          </p:cNvSpPr>
          <p:nvPr>
            <p:ph sz="half" idx="1"/>
          </p:nvPr>
        </p:nvSpPr>
        <p:spPr>
          <a:xfrm>
            <a:off x="1403223" y="2167890"/>
            <a:ext cx="2587752" cy="3977640"/>
          </a:xfrm>
        </p:spPr>
        <p:txBody>
          <a:bodyPr/>
          <a:lstStyle/>
          <a:p>
            <a:r>
              <a:rPr lang="zh-CN" altLang="en-US" sz="2800" dirty="0"/>
              <a:t>与书目有关</a:t>
            </a:r>
            <a:endParaRPr lang="en-US" altLang="zh-CN" sz="2800" dirty="0"/>
          </a:p>
          <a:p>
            <a:pPr marL="0" indent="0">
              <a:lnSpc>
                <a:spcPct val="120000"/>
              </a:lnSpc>
              <a:spcBef>
                <a:spcPts val="0"/>
              </a:spcBef>
              <a:buNone/>
            </a:pPr>
            <a:endParaRPr lang="en-US" altLang="zh-CN" dirty="0"/>
          </a:p>
          <a:p>
            <a:pPr marL="0" indent="0">
              <a:lnSpc>
                <a:spcPct val="120000"/>
              </a:lnSpc>
              <a:spcBef>
                <a:spcPts val="0"/>
              </a:spcBef>
              <a:buNone/>
            </a:pPr>
            <a:r>
              <a:rPr lang="zh-CN" altLang="en-US" sz="2400" dirty="0"/>
              <a:t>书目、</a:t>
            </a:r>
            <a:endParaRPr lang="en-US" altLang="zh-CN" sz="2400" dirty="0"/>
          </a:p>
          <a:p>
            <a:pPr marL="0" indent="0">
              <a:lnSpc>
                <a:spcPct val="120000"/>
              </a:lnSpc>
              <a:spcBef>
                <a:spcPts val="0"/>
              </a:spcBef>
              <a:buNone/>
            </a:pPr>
            <a:r>
              <a:rPr lang="zh-CN" altLang="en-US" sz="2400" dirty="0"/>
              <a:t>国家书目、</a:t>
            </a:r>
            <a:endParaRPr lang="en-US" altLang="zh-CN" sz="2400" dirty="0"/>
          </a:p>
          <a:p>
            <a:pPr marL="0" indent="0">
              <a:lnSpc>
                <a:spcPct val="120000"/>
              </a:lnSpc>
              <a:spcBef>
                <a:spcPts val="0"/>
              </a:spcBef>
              <a:buNone/>
            </a:pPr>
            <a:r>
              <a:rPr lang="zh-CN" altLang="en-US" sz="2400" dirty="0"/>
              <a:t>联合目录、</a:t>
            </a:r>
            <a:endParaRPr lang="en-US" altLang="zh-CN" sz="2400" dirty="0"/>
          </a:p>
          <a:p>
            <a:pPr marL="0" indent="0">
              <a:lnSpc>
                <a:spcPct val="120000"/>
              </a:lnSpc>
              <a:spcBef>
                <a:spcPts val="0"/>
              </a:spcBef>
              <a:buNone/>
            </a:pPr>
            <a:r>
              <a:rPr lang="zh-CN" altLang="en-US" sz="2400" dirty="0"/>
              <a:t>个人著述书目、</a:t>
            </a:r>
            <a:endParaRPr lang="en-US" altLang="zh-CN" sz="2400" dirty="0"/>
          </a:p>
          <a:p>
            <a:pPr marL="0" indent="0">
              <a:lnSpc>
                <a:spcPct val="120000"/>
              </a:lnSpc>
              <a:spcBef>
                <a:spcPts val="0"/>
              </a:spcBef>
              <a:buNone/>
            </a:pPr>
            <a:r>
              <a:rPr lang="zh-CN" altLang="en-US" sz="2400" dirty="0"/>
              <a:t>地方文献书目、</a:t>
            </a:r>
            <a:endParaRPr lang="en-US" altLang="zh-CN" sz="2400" dirty="0"/>
          </a:p>
          <a:p>
            <a:pPr marL="0" indent="0">
              <a:lnSpc>
                <a:spcPct val="120000"/>
              </a:lnSpc>
              <a:spcBef>
                <a:spcPts val="0"/>
              </a:spcBef>
              <a:buNone/>
            </a:pPr>
            <a:r>
              <a:rPr lang="zh-CN" altLang="en-US" sz="2400" dirty="0"/>
              <a:t>推荐书目</a:t>
            </a:r>
            <a:endParaRPr lang="en-US" altLang="zh-CN" sz="2400" dirty="0"/>
          </a:p>
          <a:p>
            <a:pPr marL="0" indent="0">
              <a:lnSpc>
                <a:spcPct val="120000"/>
              </a:lnSpc>
              <a:spcBef>
                <a:spcPts val="0"/>
              </a:spcBef>
              <a:buNone/>
            </a:pPr>
            <a:r>
              <a:rPr lang="en-US" altLang="zh-CN" sz="2400" dirty="0"/>
              <a:t>……</a:t>
            </a:r>
            <a:endParaRPr lang="zh-CN" altLang="en-US" sz="2400" dirty="0"/>
          </a:p>
        </p:txBody>
      </p:sp>
      <p:sp>
        <p:nvSpPr>
          <p:cNvPr id="5" name="内容占位符 2"/>
          <p:cNvSpPr txBox="1"/>
          <p:nvPr/>
        </p:nvSpPr>
        <p:spPr>
          <a:xfrm>
            <a:off x="4654488" y="2167890"/>
            <a:ext cx="2883024" cy="397764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r>
              <a:rPr lang="zh-CN" altLang="en-US" sz="2800" dirty="0"/>
              <a:t>与书目情报有关</a:t>
            </a:r>
            <a:endParaRPr lang="en-US" altLang="zh-CN" sz="2800" dirty="0"/>
          </a:p>
          <a:p>
            <a:pPr marL="0" indent="0">
              <a:lnSpc>
                <a:spcPct val="120000"/>
              </a:lnSpc>
              <a:spcBef>
                <a:spcPts val="0"/>
              </a:spcBef>
              <a:buFont typeface="Wingdings" panose="05000000000000000000" pitchFamily="2" charset="2"/>
              <a:buNone/>
            </a:pPr>
            <a:endParaRPr lang="en-US" altLang="zh-CN" dirty="0"/>
          </a:p>
          <a:p>
            <a:pPr marL="0" indent="0">
              <a:lnSpc>
                <a:spcPct val="120000"/>
              </a:lnSpc>
              <a:spcBef>
                <a:spcPts val="0"/>
              </a:spcBef>
              <a:buFont typeface="Wingdings" panose="05000000000000000000" pitchFamily="2" charset="2"/>
              <a:buNone/>
            </a:pPr>
            <a:r>
              <a:rPr lang="zh-CN" altLang="en-US" sz="2400" dirty="0"/>
              <a:t>书目情报、</a:t>
            </a:r>
            <a:endParaRPr lang="en-US" altLang="zh-CN" sz="2400" dirty="0"/>
          </a:p>
          <a:p>
            <a:pPr marL="0" indent="0">
              <a:lnSpc>
                <a:spcPct val="120000"/>
              </a:lnSpc>
              <a:spcBef>
                <a:spcPts val="0"/>
              </a:spcBef>
              <a:buFont typeface="Wingdings" panose="05000000000000000000" pitchFamily="2" charset="2"/>
              <a:buNone/>
            </a:pPr>
            <a:r>
              <a:rPr lang="zh-CN" altLang="en-US" sz="2400" dirty="0"/>
              <a:t>书目情报服务、</a:t>
            </a:r>
            <a:endParaRPr lang="en-US" altLang="zh-CN" sz="2400" dirty="0"/>
          </a:p>
          <a:p>
            <a:pPr marL="0" indent="0">
              <a:lnSpc>
                <a:spcPct val="120000"/>
              </a:lnSpc>
              <a:spcBef>
                <a:spcPts val="0"/>
              </a:spcBef>
              <a:buFont typeface="Wingdings" panose="05000000000000000000" pitchFamily="2" charset="2"/>
              <a:buNone/>
            </a:pPr>
            <a:r>
              <a:rPr lang="zh-CN" altLang="en-US" sz="2400" dirty="0"/>
              <a:t>书目情报意识、</a:t>
            </a:r>
            <a:endParaRPr lang="en-US" altLang="zh-CN" sz="2400" dirty="0"/>
          </a:p>
          <a:p>
            <a:pPr marL="0" indent="0">
              <a:lnSpc>
                <a:spcPct val="120000"/>
              </a:lnSpc>
              <a:spcBef>
                <a:spcPts val="0"/>
              </a:spcBef>
              <a:buFont typeface="Wingdings" panose="05000000000000000000" pitchFamily="2" charset="2"/>
              <a:buNone/>
            </a:pPr>
            <a:r>
              <a:rPr lang="zh-CN" altLang="en-US" sz="2400" dirty="0"/>
              <a:t>书目情报能力</a:t>
            </a:r>
            <a:endParaRPr lang="en-US" altLang="zh-CN" sz="2400" dirty="0"/>
          </a:p>
          <a:p>
            <a:pPr marL="0" indent="0">
              <a:lnSpc>
                <a:spcPct val="120000"/>
              </a:lnSpc>
              <a:spcBef>
                <a:spcPts val="0"/>
              </a:spcBef>
              <a:buFont typeface="Wingdings" panose="05000000000000000000" pitchFamily="2" charset="2"/>
              <a:buNone/>
            </a:pPr>
            <a:r>
              <a:rPr lang="en-US" altLang="zh-CN" sz="2400" dirty="0"/>
              <a:t>……</a:t>
            </a:r>
            <a:endParaRPr lang="zh-CN" altLang="en-US" sz="2400" dirty="0"/>
          </a:p>
        </p:txBody>
      </p:sp>
      <p:sp>
        <p:nvSpPr>
          <p:cNvPr id="6" name="内容占位符 2"/>
          <p:cNvSpPr txBox="1"/>
          <p:nvPr/>
        </p:nvSpPr>
        <p:spPr>
          <a:xfrm>
            <a:off x="8201025" y="2167890"/>
            <a:ext cx="2883024" cy="397764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r>
              <a:rPr lang="zh-CN" altLang="en-US" sz="2800" dirty="0"/>
              <a:t>与目录学有关</a:t>
            </a:r>
            <a:endParaRPr lang="en-US" altLang="zh-CN" sz="2800" dirty="0"/>
          </a:p>
          <a:p>
            <a:pPr marL="0" indent="0">
              <a:lnSpc>
                <a:spcPct val="120000"/>
              </a:lnSpc>
              <a:spcBef>
                <a:spcPts val="0"/>
              </a:spcBef>
              <a:buFont typeface="Wingdings" panose="05000000000000000000" pitchFamily="2" charset="2"/>
              <a:buNone/>
            </a:pPr>
            <a:endParaRPr lang="en-US" altLang="zh-CN" dirty="0"/>
          </a:p>
          <a:p>
            <a:pPr marL="0" indent="0">
              <a:lnSpc>
                <a:spcPct val="120000"/>
              </a:lnSpc>
              <a:spcBef>
                <a:spcPts val="0"/>
              </a:spcBef>
              <a:buFont typeface="Wingdings" panose="05000000000000000000" pitchFamily="2" charset="2"/>
              <a:buNone/>
            </a:pPr>
            <a:r>
              <a:rPr lang="zh-CN" altLang="en-US" sz="2400" dirty="0"/>
              <a:t>目录学、</a:t>
            </a:r>
            <a:endParaRPr lang="en-US" altLang="zh-CN" sz="2400" dirty="0"/>
          </a:p>
          <a:p>
            <a:pPr marL="0" indent="0">
              <a:lnSpc>
                <a:spcPct val="120000"/>
              </a:lnSpc>
              <a:spcBef>
                <a:spcPts val="0"/>
              </a:spcBef>
              <a:buFont typeface="Wingdings" panose="05000000000000000000" pitchFamily="2" charset="2"/>
              <a:buNone/>
            </a:pPr>
            <a:r>
              <a:rPr lang="zh-CN" altLang="en-US" sz="2400" dirty="0"/>
              <a:t>专科目录学、</a:t>
            </a:r>
            <a:endParaRPr lang="en-US" altLang="zh-CN" sz="2400" dirty="0"/>
          </a:p>
          <a:p>
            <a:pPr marL="0" indent="0">
              <a:lnSpc>
                <a:spcPct val="120000"/>
              </a:lnSpc>
              <a:spcBef>
                <a:spcPts val="0"/>
              </a:spcBef>
              <a:buFont typeface="Wingdings" panose="05000000000000000000" pitchFamily="2" charset="2"/>
              <a:buNone/>
            </a:pPr>
            <a:r>
              <a:rPr lang="zh-CN" altLang="en-US" sz="2400" dirty="0"/>
              <a:t>比较目录学、</a:t>
            </a:r>
            <a:endParaRPr lang="en-US" altLang="zh-CN" sz="2400" dirty="0"/>
          </a:p>
          <a:p>
            <a:pPr marL="0" indent="0">
              <a:lnSpc>
                <a:spcPct val="120000"/>
              </a:lnSpc>
              <a:spcBef>
                <a:spcPts val="0"/>
              </a:spcBef>
              <a:buFont typeface="Wingdings" panose="05000000000000000000" pitchFamily="2" charset="2"/>
              <a:buNone/>
            </a:pPr>
            <a:r>
              <a:rPr lang="en-US" altLang="zh-CN" sz="2400" dirty="0"/>
              <a:t>……</a:t>
            </a:r>
            <a:endParaRPr lang="zh-CN" alt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7315" y="123126"/>
            <a:ext cx="10058400" cy="1609344"/>
          </a:xfrm>
        </p:spPr>
        <p:txBody>
          <a:bodyPr/>
          <a:lstStyle/>
          <a:p>
            <a:r>
              <a:rPr lang="zh-CN" altLang="en-US" dirty="0"/>
              <a:t>书目</a:t>
            </a:r>
            <a:r>
              <a:rPr lang="en-US" altLang="zh-CN" dirty="0"/>
              <a:t>/</a:t>
            </a:r>
            <a:r>
              <a:rPr lang="zh-CN" altLang="en-US" dirty="0"/>
              <a:t>目录</a:t>
            </a:r>
          </a:p>
        </p:txBody>
      </p:sp>
      <p:sp>
        <p:nvSpPr>
          <p:cNvPr id="3" name="内容占位符 2"/>
          <p:cNvSpPr>
            <a:spLocks noGrp="1"/>
          </p:cNvSpPr>
          <p:nvPr>
            <p:ph idx="1"/>
          </p:nvPr>
        </p:nvSpPr>
        <p:spPr>
          <a:xfrm>
            <a:off x="1019715" y="3588685"/>
            <a:ext cx="10457369" cy="2912324"/>
          </a:xfrm>
        </p:spPr>
        <p:txBody>
          <a:bodyPr>
            <a:noAutofit/>
          </a:bodyPr>
          <a:lstStyle/>
          <a:p>
            <a:pPr>
              <a:lnSpc>
                <a:spcPct val="100000"/>
              </a:lnSpc>
              <a:spcBef>
                <a:spcPts val="0"/>
              </a:spcBef>
            </a:pPr>
            <a:r>
              <a:rPr lang="zh-CN" altLang="en-US" sz="2500" dirty="0">
                <a:latin typeface="宋体" panose="02010600030101010101" pitchFamily="2" charset="-122"/>
                <a:ea typeface="宋体" panose="02010600030101010101" pitchFamily="2" charset="-122"/>
              </a:rPr>
              <a:t>书目属于</a:t>
            </a:r>
            <a:r>
              <a:rPr lang="zh-CN" altLang="en-US" sz="2500" dirty="0">
                <a:solidFill>
                  <a:srgbClr val="FF0000"/>
                </a:solidFill>
                <a:latin typeface="宋体" panose="02010600030101010101" pitchFamily="2" charset="-122"/>
                <a:ea typeface="宋体" panose="02010600030101010101" pitchFamily="2" charset="-122"/>
              </a:rPr>
              <a:t>二次文献</a:t>
            </a:r>
            <a:r>
              <a:rPr lang="zh-CN" altLang="en-US" sz="2500" dirty="0">
                <a:latin typeface="宋体" panose="02010600030101010101" pitchFamily="2" charset="-122"/>
                <a:ea typeface="宋体" panose="02010600030101010101" pitchFamily="2" charset="-122"/>
              </a:rPr>
              <a:t>范畴。书目编纂就是运用各种手段，对分散的一次文献（原始文献）所含的知识、信息，进行</a:t>
            </a:r>
            <a:r>
              <a:rPr lang="zh-CN" altLang="en-US" sz="2500" dirty="0">
                <a:solidFill>
                  <a:srgbClr val="FF0000"/>
                </a:solidFill>
                <a:latin typeface="宋体" panose="02010600030101010101" pitchFamily="2" charset="-122"/>
                <a:ea typeface="宋体" panose="02010600030101010101" pitchFamily="2" charset="-122"/>
              </a:rPr>
              <a:t>筛选、压缩、整序</a:t>
            </a:r>
            <a:r>
              <a:rPr lang="zh-CN" altLang="en-US" sz="2500" dirty="0">
                <a:latin typeface="宋体" panose="02010600030101010101" pitchFamily="2" charset="-122"/>
                <a:ea typeface="宋体" panose="02010600030101010101" pitchFamily="2" charset="-122"/>
              </a:rPr>
              <a:t>，</a:t>
            </a:r>
            <a:r>
              <a:rPr lang="zh-CN" altLang="en-US" sz="2500" dirty="0">
                <a:solidFill>
                  <a:srgbClr val="FF0000"/>
                </a:solidFill>
                <a:latin typeface="宋体" panose="02010600030101010101" pitchFamily="2" charset="-122"/>
                <a:ea typeface="宋体" panose="02010600030101010101" pitchFamily="2" charset="-122"/>
              </a:rPr>
              <a:t>揭示其内容</a:t>
            </a:r>
            <a:r>
              <a:rPr lang="zh-CN" altLang="en-US" sz="2500" dirty="0">
                <a:latin typeface="宋体" panose="02010600030101010101" pitchFamily="2" charset="-122"/>
                <a:ea typeface="宋体" panose="02010600030101010101" pitchFamily="2" charset="-122"/>
              </a:rPr>
              <a:t>，</a:t>
            </a:r>
            <a:r>
              <a:rPr lang="zh-CN" altLang="en-US" sz="2500" dirty="0">
                <a:solidFill>
                  <a:srgbClr val="FF0000"/>
                </a:solidFill>
                <a:latin typeface="宋体" panose="02010600030101010101" pitchFamily="2" charset="-122"/>
                <a:ea typeface="宋体" panose="02010600030101010101" pitchFamily="2" charset="-122"/>
              </a:rPr>
              <a:t>著录其外形</a:t>
            </a:r>
            <a:r>
              <a:rPr lang="zh-CN" altLang="en-US" sz="2500" dirty="0">
                <a:latin typeface="宋体" panose="02010600030101010101" pitchFamily="2" charset="-122"/>
                <a:ea typeface="宋体" panose="02010600030101010101" pitchFamily="2" charset="-122"/>
              </a:rPr>
              <a:t>特征，进行科学的编排组织，使之转化为有序的、可以传递的二次文献。</a:t>
            </a:r>
            <a:endParaRPr lang="en-US" altLang="zh-CN" sz="2500" dirty="0">
              <a:latin typeface="宋体" panose="02010600030101010101" pitchFamily="2" charset="-122"/>
              <a:ea typeface="宋体" panose="02010600030101010101" pitchFamily="2" charset="-122"/>
            </a:endParaRPr>
          </a:p>
          <a:p>
            <a:pPr>
              <a:lnSpc>
                <a:spcPct val="100000"/>
              </a:lnSpc>
              <a:spcBef>
                <a:spcPts val="0"/>
              </a:spcBef>
            </a:pPr>
            <a:r>
              <a:rPr lang="zh-CN" altLang="en-US" sz="2500" dirty="0">
                <a:latin typeface="宋体" panose="02010600030101010101" pitchFamily="2" charset="-122"/>
                <a:ea typeface="宋体" panose="02010600030101010101" pitchFamily="2" charset="-122"/>
              </a:rPr>
              <a:t>如今书目已经成为人们有效控制和传递文献信息的工具，具有</a:t>
            </a:r>
            <a:r>
              <a:rPr lang="zh-CN" altLang="en-US" sz="2500" dirty="0">
                <a:solidFill>
                  <a:srgbClr val="FF0000"/>
                </a:solidFill>
                <a:latin typeface="宋体" panose="02010600030101010101" pitchFamily="2" charset="-122"/>
                <a:ea typeface="宋体" panose="02010600030101010101" pitchFamily="2" charset="-122"/>
              </a:rPr>
              <a:t>检索、报导和导读</a:t>
            </a:r>
            <a:r>
              <a:rPr lang="zh-CN" altLang="en-US" sz="2500" dirty="0">
                <a:latin typeface="宋体" panose="02010600030101010101" pitchFamily="2" charset="-122"/>
                <a:ea typeface="宋体" panose="02010600030101010101" pitchFamily="2" charset="-122"/>
              </a:rPr>
              <a:t>等功能。从广义上看，书目数据库、文献系统、网络文献指南都是目录的一种形态。</a:t>
            </a:r>
          </a:p>
        </p:txBody>
      </p:sp>
      <p:sp>
        <p:nvSpPr>
          <p:cNvPr id="7" name="矩形 6"/>
          <p:cNvSpPr/>
          <p:nvPr/>
        </p:nvSpPr>
        <p:spPr>
          <a:xfrm>
            <a:off x="867315" y="3429000"/>
            <a:ext cx="10457369" cy="477054"/>
          </a:xfrm>
          <a:prstGeom prst="rect">
            <a:avLst/>
          </a:prstGeom>
        </p:spPr>
        <p:txBody>
          <a:bodyPr wrap="square">
            <a:spAutoFit/>
          </a:bodyPr>
          <a:lstStyle/>
          <a:p>
            <a:endParaRPr lang="zh-CN" altLang="en-US" sz="2500" dirty="0">
              <a:latin typeface="宋体" panose="02010600030101010101" pitchFamily="2" charset="-122"/>
              <a:ea typeface="宋体" panose="02010600030101010101" pitchFamily="2" charset="-122"/>
            </a:endParaRPr>
          </a:p>
        </p:txBody>
      </p:sp>
      <p:sp>
        <p:nvSpPr>
          <p:cNvPr id="8" name="内容占位符 2"/>
          <p:cNvSpPr txBox="1"/>
          <p:nvPr/>
        </p:nvSpPr>
        <p:spPr>
          <a:xfrm>
            <a:off x="1019715" y="1630321"/>
            <a:ext cx="10457369" cy="2054419"/>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en-US" sz="2500" dirty="0">
                <a:latin typeface="宋体" panose="02010600030101010101" pitchFamily="2" charset="-122"/>
                <a:ea typeface="宋体" panose="02010600030101010101" pitchFamily="2" charset="-122"/>
              </a:rPr>
              <a:t>是著录一批相关文献，按照一定次序编排组织而成的一种</a:t>
            </a:r>
            <a:r>
              <a:rPr lang="zh-CN" altLang="en-US" sz="2500" b="1" dirty="0">
                <a:solidFill>
                  <a:srgbClr val="FF0000"/>
                </a:solidFill>
                <a:latin typeface="宋体" panose="02010600030101010101" pitchFamily="2" charset="-122"/>
                <a:ea typeface="宋体" panose="02010600030101010101" pitchFamily="2" charset="-122"/>
              </a:rPr>
              <a:t>揭示和报导文献信息</a:t>
            </a:r>
            <a:r>
              <a:rPr lang="zh-CN" altLang="en-US" sz="2500" dirty="0">
                <a:latin typeface="宋体" panose="02010600030101010101" pitchFamily="2" charset="-122"/>
                <a:ea typeface="宋体" panose="02010600030101010101" pitchFamily="2" charset="-122"/>
              </a:rPr>
              <a:t>的工具。</a:t>
            </a:r>
            <a:endParaRPr lang="en-US" altLang="zh-CN" sz="2500" dirty="0">
              <a:latin typeface="宋体" panose="02010600030101010101" pitchFamily="2" charset="-122"/>
              <a:ea typeface="宋体" panose="02010600030101010101" pitchFamily="2" charset="-122"/>
            </a:endParaRPr>
          </a:p>
          <a:p>
            <a:pPr>
              <a:lnSpc>
                <a:spcPct val="100000"/>
              </a:lnSpc>
              <a:spcBef>
                <a:spcPts val="0"/>
              </a:spcBef>
            </a:pPr>
            <a:r>
              <a:rPr lang="zh-CN" altLang="en-US" sz="2500" dirty="0">
                <a:latin typeface="宋体" panose="02010600030101010101" pitchFamily="2" charset="-122"/>
                <a:ea typeface="宋体" panose="02010600030101010101" pitchFamily="2" charset="-122"/>
              </a:rPr>
              <a:t>“目”指篇卷的名称，“录”是关于书的内容、作者生平事迹、校勘经过、书的评价等的简要文字说明，又称叙录或书录。</a:t>
            </a:r>
            <a:endParaRPr lang="en-US" altLang="zh-CN" sz="25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85669" y="276999"/>
            <a:ext cx="10058400" cy="1609344"/>
          </a:xfrm>
        </p:spPr>
        <p:txBody>
          <a:bodyPr/>
          <a:lstStyle/>
          <a:p>
            <a:r>
              <a:rPr lang="zh-CN" altLang="en-US" dirty="0"/>
              <a:t>什么是目录学</a:t>
            </a:r>
          </a:p>
        </p:txBody>
      </p:sp>
      <p:sp>
        <p:nvSpPr>
          <p:cNvPr id="3" name="内容占位符 2"/>
          <p:cNvSpPr>
            <a:spLocks noGrp="1"/>
          </p:cNvSpPr>
          <p:nvPr>
            <p:ph idx="1"/>
          </p:nvPr>
        </p:nvSpPr>
        <p:spPr>
          <a:xfrm>
            <a:off x="985669" y="1799735"/>
            <a:ext cx="10220661" cy="4050792"/>
          </a:xfrm>
        </p:spPr>
        <p:txBody>
          <a:bodyPr>
            <a:noAutofit/>
          </a:bodyPr>
          <a:lstStyle/>
          <a:p>
            <a:pPr algn="just">
              <a:lnSpc>
                <a:spcPct val="100000"/>
              </a:lnSpc>
              <a:spcBef>
                <a:spcPts val="0"/>
              </a:spcBef>
            </a:pPr>
            <a:r>
              <a:rPr lang="zh-CN" altLang="en-US" sz="2600" kern="100" dirty="0">
                <a:latin typeface="宋体" panose="02010600030101010101" pitchFamily="2" charset="-122"/>
                <a:ea typeface="宋体" panose="02010600030101010101" pitchFamily="2" charset="-122"/>
              </a:rPr>
              <a:t>发展于先秦，</a:t>
            </a:r>
            <a:r>
              <a:rPr lang="zh-CN" altLang="zh-CN" sz="2600" kern="100" dirty="0">
                <a:latin typeface="宋体" panose="02010600030101010101" pitchFamily="2" charset="-122"/>
                <a:ea typeface="宋体" panose="02010600030101010101" pitchFamily="2" charset="-122"/>
              </a:rPr>
              <a:t>起源于官府用于标记载事器物和书籍次序的标识记录，</a:t>
            </a:r>
            <a:r>
              <a:rPr lang="zh-CN" altLang="zh-CN" sz="2600" dirty="0">
                <a:latin typeface="宋体" panose="02010600030101010101" pitchFamily="2" charset="-122"/>
                <a:ea typeface="宋体" panose="02010600030101010101" pitchFamily="2" charset="-122"/>
              </a:rPr>
              <a:t>以及儒家学派整理各类典籍。</a:t>
            </a:r>
            <a:endParaRPr lang="en-US" altLang="zh-CN" sz="2600" dirty="0">
              <a:latin typeface="宋体" panose="02010600030101010101" pitchFamily="2" charset="-122"/>
              <a:ea typeface="宋体" panose="02010600030101010101" pitchFamily="2" charset="-122"/>
            </a:endParaRPr>
          </a:p>
          <a:p>
            <a:pPr marL="0" indent="0" algn="just">
              <a:lnSpc>
                <a:spcPct val="100000"/>
              </a:lnSpc>
              <a:spcBef>
                <a:spcPts val="0"/>
              </a:spcBef>
              <a:buNone/>
            </a:pPr>
            <a:endParaRPr lang="en-US" altLang="zh-CN" sz="2600" dirty="0">
              <a:latin typeface="宋体" panose="02010600030101010101" pitchFamily="2" charset="-122"/>
              <a:ea typeface="宋体" panose="02010600030101010101" pitchFamily="2" charset="-122"/>
            </a:endParaRPr>
          </a:p>
          <a:p>
            <a:pPr algn="just">
              <a:lnSpc>
                <a:spcPct val="100000"/>
              </a:lnSpc>
              <a:spcBef>
                <a:spcPts val="0"/>
              </a:spcBef>
            </a:pPr>
            <a:r>
              <a:rPr lang="zh-CN" altLang="en-US" sz="2600" dirty="0">
                <a:latin typeface="宋体" panose="02010600030101010101" pitchFamily="2" charset="-122"/>
                <a:ea typeface="宋体" panose="02010600030101010101" pitchFamily="2" charset="-122"/>
              </a:rPr>
              <a:t>关于目录学的理解包括研究对象和定义两方面，主要有图书、目录、图书和目录、关系、矛盾和规律几种角度的表达。</a:t>
            </a:r>
            <a:endParaRPr lang="en-US" altLang="zh-CN" sz="2600" dirty="0">
              <a:latin typeface="宋体" panose="02010600030101010101" pitchFamily="2" charset="-122"/>
              <a:ea typeface="宋体" panose="02010600030101010101" pitchFamily="2" charset="-122"/>
            </a:endParaRPr>
          </a:p>
          <a:p>
            <a:pPr marL="0" indent="0">
              <a:lnSpc>
                <a:spcPct val="100000"/>
              </a:lnSpc>
              <a:spcBef>
                <a:spcPts val="0"/>
              </a:spcBef>
              <a:buNone/>
            </a:pPr>
            <a:r>
              <a:rPr lang="zh-CN" altLang="en-US" sz="2600" dirty="0">
                <a:latin typeface="宋体" panose="02010600030101010101" pitchFamily="2" charset="-122"/>
                <a:ea typeface="宋体" panose="02010600030101010101" pitchFamily="2" charset="-122"/>
              </a:rPr>
              <a:t>    彭斐章</a:t>
            </a:r>
            <a:r>
              <a:rPr lang="en-US" altLang="zh-CN" sz="2600" baseline="300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提出“</a:t>
            </a:r>
            <a:r>
              <a:rPr lang="zh-CN" altLang="en-US" sz="2600" b="1" dirty="0">
                <a:latin typeface="宋体" panose="02010600030101010101" pitchFamily="2" charset="-122"/>
                <a:ea typeface="宋体" panose="02010600030101010101" pitchFamily="2" charset="-122"/>
              </a:rPr>
              <a:t>目录学是研究目录工作形成和发展的一般规律（即研究书目情报运动规律）的科学</a:t>
            </a:r>
            <a:r>
              <a:rPr lang="zh-CN" altLang="en-US" sz="2600" dirty="0">
                <a:latin typeface="宋体" panose="02010600030101010101" pitchFamily="2" charset="-122"/>
                <a:ea typeface="宋体" panose="02010600030101010101" pitchFamily="2" charset="-122"/>
              </a:rPr>
              <a:t>”，将研究对象与定义进行统一，成为当前较为统一的观点。</a:t>
            </a:r>
            <a:endParaRPr lang="en-US" altLang="zh-CN" sz="2600" dirty="0">
              <a:latin typeface="宋体" panose="02010600030101010101" pitchFamily="2" charset="-122"/>
              <a:ea typeface="宋体" panose="02010600030101010101" pitchFamily="2" charset="-122"/>
            </a:endParaRPr>
          </a:p>
        </p:txBody>
      </p:sp>
      <p:sp>
        <p:nvSpPr>
          <p:cNvPr id="4" name="文本框 3"/>
          <p:cNvSpPr txBox="1"/>
          <p:nvPr/>
        </p:nvSpPr>
        <p:spPr>
          <a:xfrm>
            <a:off x="985669" y="5850527"/>
            <a:ext cx="1096772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目录学（修订版）</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,2003:4.</a:t>
            </a:r>
            <a:endParaRPr lang="zh-CN" altLang="zh-CN" dirty="0">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目录工作</a:t>
            </a:r>
          </a:p>
        </p:txBody>
      </p:sp>
      <p:sp>
        <p:nvSpPr>
          <p:cNvPr id="3" name="内容占位符 2"/>
          <p:cNvSpPr>
            <a:spLocks noGrp="1"/>
          </p:cNvSpPr>
          <p:nvPr>
            <p:ph idx="1"/>
          </p:nvPr>
        </p:nvSpPr>
        <p:spPr>
          <a:xfrm>
            <a:off x="1069848" y="1920992"/>
            <a:ext cx="10058400" cy="1874395"/>
          </a:xfrm>
        </p:spPr>
        <p:txBody>
          <a:bodyPr>
            <a:normAutofit/>
          </a:bodyPr>
          <a:lstStyle/>
          <a:p>
            <a:pPr>
              <a:lnSpc>
                <a:spcPct val="100000"/>
              </a:lnSpc>
              <a:spcBef>
                <a:spcPts val="0"/>
              </a:spcBef>
            </a:pPr>
            <a:r>
              <a:rPr lang="zh-CN" altLang="en-US" sz="2800" dirty="0">
                <a:latin typeface="宋体" panose="02010600030101010101" pitchFamily="2" charset="-122"/>
                <a:ea typeface="宋体" panose="02010600030101010101" pitchFamily="2" charset="-122"/>
              </a:rPr>
              <a:t>目录工作就是通过</a:t>
            </a:r>
            <a:r>
              <a:rPr lang="zh-CN" altLang="en-US" sz="2800" dirty="0">
                <a:solidFill>
                  <a:srgbClr val="FF0000"/>
                </a:solidFill>
                <a:latin typeface="宋体" panose="02010600030101010101" pitchFamily="2" charset="-122"/>
                <a:ea typeface="宋体" panose="02010600030101010101" pitchFamily="2" charset="-122"/>
              </a:rPr>
              <a:t>查寻、著录、部次、评介、揭示和报导文献信息</a:t>
            </a:r>
            <a:r>
              <a:rPr lang="zh-CN" altLang="en-US" sz="2800" dirty="0">
                <a:latin typeface="宋体" panose="02010600030101010101" pitchFamily="2" charset="-122"/>
                <a:ea typeface="宋体" panose="02010600030101010101" pitchFamily="2" charset="-122"/>
              </a:rPr>
              <a:t>，提供</a:t>
            </a:r>
            <a:r>
              <a:rPr lang="zh-CN" altLang="en-US" sz="2800" dirty="0">
                <a:solidFill>
                  <a:srgbClr val="FF0000"/>
                </a:solidFill>
                <a:latin typeface="宋体" panose="02010600030101010101" pitchFamily="2" charset="-122"/>
                <a:ea typeface="宋体" panose="02010600030101010101" pitchFamily="2" charset="-122"/>
              </a:rPr>
              <a:t>书目情报服务</a:t>
            </a:r>
            <a:r>
              <a:rPr lang="zh-CN" altLang="en-US" sz="2800" dirty="0">
                <a:latin typeface="宋体" panose="02010600030101010101" pitchFamily="2" charset="-122"/>
                <a:ea typeface="宋体" panose="02010600030101010101" pitchFamily="2" charset="-122"/>
              </a:rPr>
              <a:t>等全部活动。目录工作是一个广义的概念，它包括索引工作、文摘工作、综述工作、数据库工作、书目参考工作等内容</a:t>
            </a:r>
            <a:r>
              <a:rPr lang="en-US" altLang="zh-CN" sz="2800" baseline="300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p>
          <a:p>
            <a:pPr marL="0" indent="0">
              <a:lnSpc>
                <a:spcPct val="100000"/>
              </a:lnSpc>
              <a:spcBef>
                <a:spcPts val="0"/>
              </a:spcBef>
              <a:buNone/>
            </a:pPr>
            <a:endParaRPr lang="en-US" altLang="zh-CN" sz="2800" dirty="0">
              <a:latin typeface="宋体" panose="02010600030101010101" pitchFamily="2" charset="-122"/>
              <a:ea typeface="宋体" panose="02010600030101010101" pitchFamily="2" charset="-122"/>
            </a:endParaRPr>
          </a:p>
        </p:txBody>
      </p:sp>
      <p:sp>
        <p:nvSpPr>
          <p:cNvPr id="4" name="文本框 3"/>
          <p:cNvSpPr txBox="1"/>
          <p:nvPr/>
        </p:nvSpPr>
        <p:spPr>
          <a:xfrm>
            <a:off x="1224280" y="6133870"/>
            <a:ext cx="1096772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目录学</a:t>
            </a:r>
            <a:r>
              <a:rPr lang="zh-CN" altLang="en-US" dirty="0">
                <a:latin typeface="宋体" panose="02010600030101010101" pitchFamily="2" charset="-122"/>
                <a:ea typeface="宋体" panose="02010600030101010101" pitchFamily="2" charset="-122"/>
              </a:rPr>
              <a:t>教程</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2005:4.</a:t>
            </a:r>
            <a:endParaRPr lang="zh-CN" altLang="zh-CN" dirty="0">
              <a:latin typeface="宋体" panose="02010600030101010101" pitchFamily="2" charset="-122"/>
              <a:ea typeface="宋体" panose="02010600030101010101" pitchFamily="2" charset="-122"/>
            </a:endParaRPr>
          </a:p>
        </p:txBody>
      </p:sp>
      <p:sp>
        <p:nvSpPr>
          <p:cNvPr id="6" name="内容占位符 2"/>
          <p:cNvSpPr txBox="1"/>
          <p:nvPr/>
        </p:nvSpPr>
        <p:spPr>
          <a:xfrm>
            <a:off x="1069848" y="4027431"/>
            <a:ext cx="10058400" cy="187439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en-US" sz="2800" dirty="0">
                <a:latin typeface="宋体" panose="02010600030101010101" pitchFamily="2" charset="-122"/>
                <a:ea typeface="宋体" panose="02010600030101010101" pitchFamily="2" charset="-122"/>
              </a:rPr>
              <a:t>目的：将有关的文献信息及时准确地提供给读者，使得每一篇文献都能在最需要它的时间、地点和特定读者中得到充分利用。</a:t>
            </a:r>
            <a:endParaRPr lang="en-US" altLang="zh-CN" sz="2800" dirty="0">
              <a:latin typeface="宋体" panose="02010600030101010101" pitchFamily="2" charset="-122"/>
              <a:ea typeface="宋体" panose="02010600030101010101" pitchFamily="2" charset="-122"/>
            </a:endParaRPr>
          </a:p>
          <a:p>
            <a:pPr>
              <a:lnSpc>
                <a:spcPct val="100000"/>
              </a:lnSpc>
              <a:spcBef>
                <a:spcPts val="0"/>
              </a:spcBef>
            </a:pP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揭示、报导文献</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人们对文献特定需要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之间的矛盾运动，推动着目录工作不断向前发展。</a:t>
            </a:r>
            <a:endParaRPr lang="en-US" altLang="zh-CN" sz="28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6800" y="1275588"/>
            <a:ext cx="10058400" cy="4050792"/>
          </a:xfrm>
        </p:spPr>
        <p:txBody>
          <a:bodyPr/>
          <a:lstStyle/>
          <a:p>
            <a:pPr>
              <a:lnSpc>
                <a:spcPct val="120000"/>
              </a:lnSpc>
              <a:spcBef>
                <a:spcPts val="0"/>
              </a:spcBef>
            </a:pPr>
            <a:r>
              <a:rPr lang="zh-CN" altLang="en-US" sz="2800" dirty="0">
                <a:latin typeface="宋体" panose="02010600030101010101" pitchFamily="2" charset="-122"/>
                <a:ea typeface="宋体" panose="02010600030101010101" pitchFamily="2" charset="-122"/>
              </a:rPr>
              <a:t>目录学对目录相关理论以及目录工作实践进行总结与升华，是致用之学。</a:t>
            </a:r>
            <a:r>
              <a:rPr lang="zh-CN" altLang="en-US" sz="2800" b="1" dirty="0">
                <a:solidFill>
                  <a:srgbClr val="FF0000"/>
                </a:solidFill>
                <a:latin typeface="宋体" panose="02010600030101010101" pitchFamily="2" charset="-122"/>
                <a:ea typeface="宋体" panose="02010600030101010101" pitchFamily="2" charset="-122"/>
              </a:rPr>
              <a:t>致用是目录学的生命线</a:t>
            </a:r>
            <a:endParaRPr lang="en-US" altLang="zh-CN" sz="2800" b="1" dirty="0">
              <a:solidFill>
                <a:srgbClr val="FF0000"/>
              </a:solidFill>
              <a:latin typeface="宋体" panose="02010600030101010101" pitchFamily="2" charset="-122"/>
              <a:ea typeface="宋体" panose="02010600030101010101" pitchFamily="2" charset="-122"/>
            </a:endParaRPr>
          </a:p>
          <a:p>
            <a:pPr>
              <a:lnSpc>
                <a:spcPct val="120000"/>
              </a:lnSpc>
              <a:spcBef>
                <a:spcPts val="0"/>
              </a:spcBef>
            </a:pPr>
            <a:endParaRPr lang="en-US" altLang="zh-CN" sz="2800" b="1" dirty="0">
              <a:solidFill>
                <a:srgbClr val="FF0000"/>
              </a:solidFill>
              <a:latin typeface="宋体" panose="02010600030101010101" pitchFamily="2" charset="-122"/>
              <a:ea typeface="宋体" panose="02010600030101010101" pitchFamily="2" charset="-122"/>
            </a:endParaRPr>
          </a:p>
          <a:p>
            <a:pPr>
              <a:lnSpc>
                <a:spcPct val="120000"/>
              </a:lnSpc>
              <a:spcBef>
                <a:spcPts val="0"/>
              </a:spcBef>
            </a:pPr>
            <a:r>
              <a:rPr lang="zh-CN" altLang="zh-CN" sz="2800" dirty="0">
                <a:latin typeface="宋体" panose="02010600030101010101" pitchFamily="2" charset="-122"/>
                <a:ea typeface="宋体" panose="02010600030101010101" pitchFamily="2" charset="-122"/>
              </a:rPr>
              <a:t>传统目录学除了帮助</a:t>
            </a:r>
            <a:r>
              <a:rPr lang="zh-CN" altLang="zh-CN" sz="2800" b="1" dirty="0">
                <a:solidFill>
                  <a:srgbClr val="FF0000"/>
                </a:solidFill>
                <a:latin typeface="宋体" panose="02010600030101010101" pitchFamily="2" charset="-122"/>
                <a:ea typeface="宋体" panose="02010600030101010101" pitchFamily="2" charset="-122"/>
              </a:rPr>
              <a:t>整理文献典籍</a:t>
            </a:r>
            <a:r>
              <a:rPr lang="zh-CN" altLang="zh-CN" sz="2800" dirty="0">
                <a:latin typeface="宋体" panose="02010600030101010101" pitchFamily="2" charset="-122"/>
                <a:ea typeface="宋体" panose="02010600030101010101" pitchFamily="2" charset="-122"/>
              </a:rPr>
              <a:t>外</a:t>
            </a:r>
            <a:r>
              <a:rPr lang="zh-CN" altLang="en-US" sz="2800" dirty="0">
                <a:latin typeface="宋体" panose="02010600030101010101" pitchFamily="2" charset="-122"/>
                <a:ea typeface="宋体" panose="02010600030101010101" pitchFamily="2" charset="-122"/>
              </a:rPr>
              <a:t>（叙录、类例、解题、注释、小序、排检等目录学方法）</a:t>
            </a:r>
            <a:endParaRPr lang="en-US" altLang="zh-CN" sz="2800" dirty="0">
              <a:latin typeface="宋体" panose="02010600030101010101" pitchFamily="2" charset="-122"/>
              <a:ea typeface="宋体" panose="02010600030101010101" pitchFamily="2" charset="-122"/>
            </a:endParaRPr>
          </a:p>
          <a:p>
            <a:pPr>
              <a:lnSpc>
                <a:spcPct val="120000"/>
              </a:lnSpc>
              <a:spcBef>
                <a:spcPts val="0"/>
              </a:spcBef>
            </a:pPr>
            <a:r>
              <a:rPr lang="zh-CN" altLang="zh-CN" sz="2800" dirty="0">
                <a:latin typeface="宋体" panose="02010600030101010101" pitchFamily="2" charset="-122"/>
                <a:ea typeface="宋体" panose="02010600030101010101" pitchFamily="2" charset="-122"/>
              </a:rPr>
              <a:t>还有</a:t>
            </a:r>
            <a:r>
              <a:rPr lang="en-US" altLang="zh-CN"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即类求书，因书究学</a:t>
            </a:r>
            <a:r>
              <a:rPr lang="en-US" altLang="zh-CN" sz="2800" dirty="0">
                <a:latin typeface="宋体" panose="02010600030101010101" pitchFamily="2" charset="-122"/>
                <a:ea typeface="宋体" panose="02010600030101010101" pitchFamily="2" charset="-122"/>
              </a:rPr>
              <a:t>”</a:t>
            </a:r>
            <a:r>
              <a:rPr lang="zh-CN" altLang="zh-CN" sz="2800" dirty="0">
                <a:latin typeface="宋体" panose="02010600030101010101" pitchFamily="2" charset="-122"/>
                <a:ea typeface="宋体" panose="02010600030101010101" pitchFamily="2" charset="-122"/>
              </a:rPr>
              <a:t>的</a:t>
            </a:r>
            <a:r>
              <a:rPr lang="zh-CN" altLang="zh-CN" sz="2800" b="1" dirty="0">
                <a:solidFill>
                  <a:srgbClr val="FF0000"/>
                </a:solidFill>
                <a:latin typeface="宋体" panose="02010600030101010101" pitchFamily="2" charset="-122"/>
                <a:ea typeface="宋体" panose="02010600030101010101" pitchFamily="2" charset="-122"/>
              </a:rPr>
              <a:t>治学</a:t>
            </a:r>
            <a:r>
              <a:rPr lang="zh-CN" altLang="zh-CN" sz="2800" dirty="0">
                <a:latin typeface="宋体" panose="02010600030101010101" pitchFamily="2" charset="-122"/>
                <a:ea typeface="宋体" panose="02010600030101010101" pitchFamily="2" charset="-122"/>
              </a:rPr>
              <a:t>作用，即通过查找目录可以得到线索和地址，再获取原文、研究学术。</a:t>
            </a:r>
            <a:endParaRPr lang="en-US" altLang="zh-CN" sz="2800" dirty="0">
              <a:latin typeface="宋体" panose="02010600030101010101" pitchFamily="2" charset="-122"/>
              <a:ea typeface="宋体" panose="02010600030101010101" pitchFamily="2" charset="-122"/>
            </a:endParaRPr>
          </a:p>
          <a:p>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6800" y="1601700"/>
            <a:ext cx="10058400" cy="1827300"/>
          </a:xfrm>
        </p:spPr>
        <p:txBody>
          <a:bodyPr>
            <a:normAutofit/>
          </a:bodyPr>
          <a:lstStyle/>
          <a:p>
            <a:pPr>
              <a:lnSpc>
                <a:spcPct val="120000"/>
              </a:lnSpc>
              <a:spcBef>
                <a:spcPts val="0"/>
              </a:spcBef>
            </a:pPr>
            <a:r>
              <a:rPr lang="zh-CN" altLang="en-US" sz="2500" dirty="0">
                <a:latin typeface="宋体" panose="02010600030101010101" pitchFamily="2" charset="-122"/>
                <a:ea typeface="宋体" panose="02010600030101010101" pitchFamily="2" charset="-122"/>
              </a:rPr>
              <a:t>目录学不能停留在对传统目录工作的总结与升华上，应该考虑到时代的需求，</a:t>
            </a:r>
            <a:r>
              <a:rPr lang="zh-CN" altLang="zh-CN" sz="2500" dirty="0">
                <a:latin typeface="宋体" panose="02010600030101010101" pitchFamily="2" charset="-122"/>
                <a:ea typeface="宋体" panose="02010600030101010101" pitchFamily="2" charset="-122"/>
              </a:rPr>
              <a:t>突破传统目录形式的限制，</a:t>
            </a:r>
            <a:r>
              <a:rPr lang="zh-CN" altLang="en-US" sz="2500" dirty="0">
                <a:latin typeface="宋体" panose="02010600030101010101" pitchFamily="2" charset="-122"/>
                <a:ea typeface="宋体" panose="02010600030101010101" pitchFamily="2" charset="-122"/>
              </a:rPr>
              <a:t>注重目录工作智能化的研究以及学科理论和教育体系的更新。</a:t>
            </a:r>
            <a:endParaRPr lang="en-US" altLang="zh-CN" sz="2500" dirty="0">
              <a:latin typeface="宋体" panose="02010600030101010101" pitchFamily="2" charset="-122"/>
              <a:ea typeface="宋体" panose="02010600030101010101" pitchFamily="2" charset="-122"/>
            </a:endParaRPr>
          </a:p>
        </p:txBody>
      </p:sp>
      <p:sp>
        <p:nvSpPr>
          <p:cNvPr id="4" name="标题 1"/>
          <p:cNvSpPr>
            <a:spLocks noGrp="1"/>
          </p:cNvSpPr>
          <p:nvPr>
            <p:ph type="title"/>
          </p:nvPr>
        </p:nvSpPr>
        <p:spPr>
          <a:xfrm>
            <a:off x="1066800" y="232728"/>
            <a:ext cx="10058400" cy="1609725"/>
          </a:xfrm>
        </p:spPr>
        <p:txBody>
          <a:bodyPr/>
          <a:lstStyle/>
          <a:p>
            <a:r>
              <a:rPr lang="zh-CN" altLang="en-US" dirty="0"/>
              <a:t>创新、转型</a:t>
            </a:r>
          </a:p>
        </p:txBody>
      </p:sp>
      <p:sp>
        <p:nvSpPr>
          <p:cNvPr id="5" name="矩形 4"/>
          <p:cNvSpPr/>
          <p:nvPr/>
        </p:nvSpPr>
        <p:spPr>
          <a:xfrm>
            <a:off x="1066800" y="6255940"/>
            <a:ext cx="9943338" cy="369332"/>
          </a:xfrm>
          <a:prstGeom prst="rect">
            <a:avLst/>
          </a:prstGeom>
        </p:spPr>
        <p:txBody>
          <a:bodyPr wrap="square">
            <a:spAutoFit/>
          </a:bodyPr>
          <a:lstStyle/>
          <a:p>
            <a:pPr algn="just">
              <a:spcAft>
                <a:spcPts val="0"/>
              </a:spcAft>
            </a:pPr>
            <a:r>
              <a:rPr lang="en-US" altLang="zh-CN" kern="100" dirty="0">
                <a:latin typeface="宋体" panose="02010600030101010101" pitchFamily="2" charset="-122"/>
                <a:ea typeface="宋体" panose="02010600030101010101" pitchFamily="2" charset="-122"/>
                <a:cs typeface="Times New Roman" panose="02020603050405020304" pitchFamily="18" charset="0"/>
              </a:rPr>
              <a:t>[3]</a:t>
            </a:r>
            <a:r>
              <a:rPr lang="zh-CN" altLang="zh-CN" kern="100" dirty="0">
                <a:latin typeface="宋体" panose="02010600030101010101" pitchFamily="2" charset="-122"/>
                <a:ea typeface="宋体" panose="02010600030101010101" pitchFamily="2" charset="-122"/>
                <a:cs typeface="Times New Roman" panose="02020603050405020304" pitchFamily="18" charset="0"/>
              </a:rPr>
              <a:t>柯平</a:t>
            </a:r>
            <a:r>
              <a:rPr lang="en-US" altLang="zh-CN" kern="100" dirty="0">
                <a:latin typeface="宋体" panose="02010600030101010101" pitchFamily="2" charset="-122"/>
                <a:ea typeface="宋体" panose="02010600030101010101" pitchFamily="2" charset="-122"/>
                <a:cs typeface="Times New Roman" panose="02020603050405020304" pitchFamily="18" charset="0"/>
              </a:rPr>
              <a:t>.</a:t>
            </a:r>
            <a:r>
              <a:rPr lang="zh-CN" altLang="zh-CN" kern="100" dirty="0">
                <a:latin typeface="宋体" panose="02010600030101010101" pitchFamily="2" charset="-122"/>
                <a:ea typeface="宋体" panose="02010600030101010101" pitchFamily="2" charset="-122"/>
                <a:cs typeface="Times New Roman" panose="02020603050405020304" pitchFamily="18" charset="0"/>
              </a:rPr>
              <a:t>试论以信息理论为基础的现代目录学</a:t>
            </a:r>
            <a:r>
              <a:rPr lang="en-US" altLang="zh-CN" kern="100" dirty="0">
                <a:latin typeface="宋体" panose="02010600030101010101" pitchFamily="2" charset="-122"/>
                <a:ea typeface="宋体" panose="02010600030101010101" pitchFamily="2" charset="-122"/>
                <a:cs typeface="Times New Roman" panose="02020603050405020304" pitchFamily="18" charset="0"/>
              </a:rPr>
              <a:t>[J].</a:t>
            </a:r>
            <a:r>
              <a:rPr lang="zh-CN" altLang="zh-CN" kern="100" dirty="0">
                <a:latin typeface="宋体" panose="02010600030101010101" pitchFamily="2" charset="-122"/>
                <a:ea typeface="宋体" panose="02010600030101010101" pitchFamily="2" charset="-122"/>
                <a:cs typeface="Times New Roman" panose="02020603050405020304" pitchFamily="18" charset="0"/>
              </a:rPr>
              <a:t>图书情报知识</a:t>
            </a:r>
            <a:r>
              <a:rPr lang="en-US" altLang="zh-CN" kern="100" dirty="0">
                <a:latin typeface="宋体" panose="02010600030101010101" pitchFamily="2" charset="-122"/>
                <a:ea typeface="宋体" panose="02010600030101010101" pitchFamily="2" charset="-122"/>
                <a:cs typeface="Times New Roman" panose="02020603050405020304" pitchFamily="18" charset="0"/>
              </a:rPr>
              <a:t>,1994(02):22-25.</a:t>
            </a:r>
          </a:p>
        </p:txBody>
      </p:sp>
      <p:sp>
        <p:nvSpPr>
          <p:cNvPr id="7" name="内容占位符 2"/>
          <p:cNvSpPr txBox="1"/>
          <p:nvPr/>
        </p:nvSpPr>
        <p:spPr>
          <a:xfrm>
            <a:off x="1066800" y="3608750"/>
            <a:ext cx="10058400" cy="1827300"/>
          </a:xfrm>
          <a:prstGeom prst="rect">
            <a:avLst/>
          </a:prstGeom>
        </p:spPr>
        <p:txBody>
          <a:bodyPr vert="horz" lIns="91440" tIns="45720" rIns="91440" bIns="45720" rtlCol="0">
            <a:normAutofit fontScale="92500" lnSpcReduction="10000"/>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20000"/>
              </a:lnSpc>
              <a:spcBef>
                <a:spcPts val="0"/>
              </a:spcBef>
            </a:pPr>
            <a:r>
              <a:rPr lang="zh-CN" altLang="zh-CN" sz="2800" dirty="0">
                <a:latin typeface="宋体" panose="02010600030101010101" pitchFamily="2" charset="-122"/>
                <a:ea typeface="宋体" panose="02010600030101010101" pitchFamily="2" charset="-122"/>
              </a:rPr>
              <a:t>自</a:t>
            </a:r>
            <a:r>
              <a:rPr lang="en-US" altLang="zh-CN" sz="2800" dirty="0">
                <a:latin typeface="宋体" panose="02010600030101010101" pitchFamily="2" charset="-122"/>
                <a:ea typeface="宋体" panose="02010600030101010101" pitchFamily="2" charset="-122"/>
              </a:rPr>
              <a:t>20</a:t>
            </a:r>
            <a:r>
              <a:rPr lang="zh-CN" altLang="zh-CN" sz="2800" dirty="0">
                <a:latin typeface="宋体" panose="02010600030101010101" pitchFamily="2" charset="-122"/>
                <a:ea typeface="宋体" panose="02010600030101010101" pitchFamily="2" charset="-122"/>
              </a:rPr>
              <a:t>世纪</a:t>
            </a:r>
            <a:r>
              <a:rPr lang="en-US" altLang="zh-CN" sz="2800" dirty="0">
                <a:latin typeface="宋体" panose="02010600030101010101" pitchFamily="2" charset="-122"/>
                <a:ea typeface="宋体" panose="02010600030101010101" pitchFamily="2" charset="-122"/>
              </a:rPr>
              <a:t>90</a:t>
            </a:r>
            <a:r>
              <a:rPr lang="zh-CN" altLang="zh-CN" sz="2800" dirty="0">
                <a:latin typeface="宋体" panose="02010600030101010101" pitchFamily="2" charset="-122"/>
                <a:ea typeface="宋体" panose="02010600030101010101" pitchFamily="2" charset="-122"/>
              </a:rPr>
              <a:t>年代有学者指出目录学正往数字化发展起</a:t>
            </a:r>
            <a:r>
              <a:rPr lang="en-US" altLang="zh-CN" sz="2800" baseline="30000" dirty="0">
                <a:latin typeface="宋体" panose="02010600030101010101" pitchFamily="2" charset="-122"/>
                <a:ea typeface="宋体" panose="02010600030101010101" pitchFamily="2" charset="-122"/>
              </a:rPr>
              <a:t>[3]</a:t>
            </a:r>
            <a:r>
              <a:rPr lang="zh-CN" altLang="zh-CN" sz="2800" dirty="0">
                <a:latin typeface="宋体" panose="02010600030101010101" pitchFamily="2" charset="-122"/>
                <a:ea typeface="宋体" panose="02010600030101010101" pitchFamily="2" charset="-122"/>
              </a:rPr>
              <a:t>，数字时代目录学的创新与发展就成为了学界热点，</a:t>
            </a:r>
            <a:r>
              <a:rPr lang="zh-CN" altLang="zh-CN" sz="2800" b="1" dirty="0">
                <a:solidFill>
                  <a:srgbClr val="FF0000"/>
                </a:solidFill>
                <a:latin typeface="宋体" panose="02010600030101010101" pitchFamily="2" charset="-122"/>
                <a:ea typeface="宋体" panose="02010600030101010101" pitchFamily="2" charset="-122"/>
              </a:rPr>
              <a:t>数字目录学</a:t>
            </a:r>
            <a:r>
              <a:rPr lang="zh-CN" altLang="zh-CN" sz="2800" dirty="0">
                <a:latin typeface="宋体" panose="02010600030101010101" pitchFamily="2" charset="-122"/>
                <a:ea typeface="宋体" panose="02010600030101010101" pitchFamily="2" charset="-122"/>
              </a:rPr>
              <a:t>应运而生。目录学不再局限于文献典籍的整理和导读，开始关注到</a:t>
            </a:r>
            <a:r>
              <a:rPr lang="zh-CN" altLang="zh-CN" sz="2800" b="1" dirty="0">
                <a:solidFill>
                  <a:srgbClr val="FF0000"/>
                </a:solidFill>
                <a:latin typeface="宋体" panose="02010600030101010101" pitchFamily="2" charset="-122"/>
                <a:ea typeface="宋体" panose="02010600030101010101" pitchFamily="2" charset="-122"/>
              </a:rPr>
              <a:t>网络书目情报工作</a:t>
            </a:r>
            <a:r>
              <a:rPr lang="zh-CN" altLang="zh-CN" sz="2800" dirty="0">
                <a:latin typeface="宋体" panose="02010600030101010101" pitchFamily="2" charset="-122"/>
                <a:ea typeface="宋体" panose="02010600030101010101" pitchFamily="2" charset="-122"/>
              </a:rPr>
              <a:t>以及</a:t>
            </a:r>
            <a:r>
              <a:rPr lang="zh-CN" altLang="zh-CN" sz="2800" b="1" dirty="0">
                <a:solidFill>
                  <a:srgbClr val="FF0000"/>
                </a:solidFill>
                <a:latin typeface="宋体" panose="02010600030101010101" pitchFamily="2" charset="-122"/>
                <a:ea typeface="宋体" panose="02010600030101010101" pitchFamily="2" charset="-122"/>
              </a:rPr>
              <a:t>信息资源的管理与服务</a:t>
            </a:r>
            <a:r>
              <a:rPr lang="zh-CN" altLang="zh-CN" sz="2800" dirty="0">
                <a:latin typeface="宋体" panose="02010600030101010101" pitchFamily="2" charset="-122"/>
                <a:ea typeface="宋体" panose="02010600030101010101" pitchFamily="2" charset="-122"/>
              </a:rPr>
              <a:t>。</a:t>
            </a:r>
            <a:endParaRPr lang="en-US" altLang="zh-CN" sz="1050" dirty="0">
              <a:latin typeface="宋体" panose="02010600030101010101" pitchFamily="2" charset="-122"/>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410" y="0"/>
            <a:ext cx="1714500" cy="6476238"/>
          </a:xfrm>
        </p:spPr>
        <p:txBody>
          <a:bodyPr>
            <a:noAutofit/>
          </a:bodyPr>
          <a:lstStyle/>
          <a:p>
            <a:r>
              <a:rPr lang="zh-CN" altLang="en-US" sz="8800" dirty="0"/>
              <a:t>数字目录学</a:t>
            </a:r>
          </a:p>
        </p:txBody>
      </p:sp>
      <p:sp>
        <p:nvSpPr>
          <p:cNvPr id="5" name="内容占位符 4"/>
          <p:cNvSpPr>
            <a:spLocks noGrp="1"/>
          </p:cNvSpPr>
          <p:nvPr>
            <p:ph idx="1"/>
          </p:nvPr>
        </p:nvSpPr>
        <p:spPr>
          <a:xfrm>
            <a:off x="739140" y="1870881"/>
            <a:ext cx="7616190" cy="3116238"/>
          </a:xfrm>
          <a:prstGeom prst="rect">
            <a:avLst/>
          </a:prstGeom>
        </p:spPr>
        <p:txBody>
          <a:bodyPr wrap="square">
            <a:spAutoFit/>
          </a:bodyPr>
          <a:lstStyle/>
          <a:p>
            <a:pPr marL="0" indent="0">
              <a:lnSpc>
                <a:spcPct val="120000"/>
              </a:lnSpc>
              <a:spcBef>
                <a:spcPts val="0"/>
              </a:spcBef>
              <a:buNone/>
            </a:pPr>
            <a:r>
              <a:rPr lang="zh-CN" altLang="en-US" sz="4000" b="1" dirty="0">
                <a:latin typeface="宋体" panose="02010600030101010101" pitchFamily="2" charset="-122"/>
                <a:ea typeface="宋体" panose="02010600030101010101" pitchFamily="2" charset="-122"/>
              </a:rPr>
              <a:t>数字时代目录学理论变革</a:t>
            </a:r>
            <a:r>
              <a:rPr lang="en-US" altLang="zh-CN" sz="4000" b="1" baseline="30000" dirty="0">
                <a:latin typeface="宋体" panose="02010600030101010101" pitchFamily="2" charset="-122"/>
                <a:ea typeface="宋体" panose="02010600030101010101" pitchFamily="2" charset="-122"/>
              </a:rPr>
              <a:t>[4]</a:t>
            </a:r>
          </a:p>
          <a:p>
            <a:pPr>
              <a:lnSpc>
                <a:spcPct val="120000"/>
              </a:lnSpc>
              <a:spcBef>
                <a:spcPts val="0"/>
              </a:spcBef>
            </a:pPr>
            <a:r>
              <a:rPr lang="zh-CN" altLang="en-US" sz="3200" dirty="0">
                <a:latin typeface="宋体" panose="02010600030101010101" pitchFamily="2" charset="-122"/>
                <a:ea typeface="宋体" panose="02010600030101010101" pitchFamily="2" charset="-122"/>
              </a:rPr>
              <a:t>必须符合读者书目情报需求变化的需要</a:t>
            </a:r>
            <a:endParaRPr lang="en-US" altLang="zh-CN" sz="3200" dirty="0">
              <a:latin typeface="宋体" panose="02010600030101010101" pitchFamily="2" charset="-122"/>
              <a:ea typeface="宋体" panose="02010600030101010101" pitchFamily="2" charset="-122"/>
            </a:endParaRPr>
          </a:p>
          <a:p>
            <a:pPr>
              <a:lnSpc>
                <a:spcPct val="120000"/>
              </a:lnSpc>
              <a:spcBef>
                <a:spcPts val="0"/>
              </a:spcBef>
            </a:pPr>
            <a:r>
              <a:rPr lang="zh-CN" altLang="en-US" sz="3200" dirty="0">
                <a:latin typeface="宋体" panose="02010600030101010101" pitchFamily="2" charset="-122"/>
                <a:ea typeface="宋体" panose="02010600030101010101" pitchFamily="2" charset="-122"/>
              </a:rPr>
              <a:t>必须符合书目情报工作实践的要求</a:t>
            </a:r>
            <a:endParaRPr lang="en-US" altLang="zh-CN" sz="3200" dirty="0">
              <a:latin typeface="宋体" panose="02010600030101010101" pitchFamily="2" charset="-122"/>
              <a:ea typeface="宋体" panose="02010600030101010101" pitchFamily="2" charset="-122"/>
            </a:endParaRPr>
          </a:p>
          <a:p>
            <a:pPr>
              <a:lnSpc>
                <a:spcPct val="120000"/>
              </a:lnSpc>
              <a:spcBef>
                <a:spcPts val="0"/>
              </a:spcBef>
            </a:pPr>
            <a:r>
              <a:rPr lang="zh-CN" altLang="en-US" sz="3200" dirty="0">
                <a:latin typeface="宋体" panose="02010600030101010101" pitchFamily="2" charset="-122"/>
                <a:ea typeface="宋体" panose="02010600030101010101" pitchFamily="2" charset="-122"/>
              </a:rPr>
              <a:t>必须与全球信息化发展趋势相一致</a:t>
            </a:r>
            <a:endParaRPr lang="en-US" altLang="zh-CN" sz="3200" dirty="0">
              <a:latin typeface="宋体" panose="02010600030101010101" pitchFamily="2" charset="-122"/>
              <a:ea typeface="宋体" panose="02010600030101010101" pitchFamily="2" charset="-122"/>
            </a:endParaRPr>
          </a:p>
          <a:p>
            <a:pPr>
              <a:lnSpc>
                <a:spcPct val="120000"/>
              </a:lnSpc>
              <a:spcBef>
                <a:spcPts val="0"/>
              </a:spcBef>
            </a:pPr>
            <a:r>
              <a:rPr lang="zh-CN" altLang="en-US" sz="3200" dirty="0">
                <a:latin typeface="宋体" panose="02010600030101010101" pitchFamily="2" charset="-122"/>
                <a:ea typeface="宋体" panose="02010600030101010101" pitchFamily="2" charset="-122"/>
              </a:rPr>
              <a:t>必须考虑大众化的需要</a:t>
            </a:r>
            <a:endParaRPr lang="en-US" altLang="zh-CN" sz="3200" dirty="0">
              <a:latin typeface="宋体" panose="02010600030101010101" pitchFamily="2" charset="-122"/>
              <a:ea typeface="宋体" panose="02010600030101010101" pitchFamily="2" charset="-122"/>
            </a:endParaRPr>
          </a:p>
        </p:txBody>
      </p:sp>
      <p:sp>
        <p:nvSpPr>
          <p:cNvPr id="9" name="文本框 8"/>
          <p:cNvSpPr txBox="1"/>
          <p:nvPr/>
        </p:nvSpPr>
        <p:spPr>
          <a:xfrm>
            <a:off x="304800" y="6291572"/>
            <a:ext cx="1096772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[4]</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数字时代目录学的理论变革与发展研究</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2009:2-3.</a:t>
            </a:r>
            <a:endParaRPr lang="zh-CN" altLang="zh-CN"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410" y="0"/>
            <a:ext cx="1714500" cy="6476238"/>
          </a:xfrm>
        </p:spPr>
        <p:txBody>
          <a:bodyPr>
            <a:noAutofit/>
          </a:bodyPr>
          <a:lstStyle/>
          <a:p>
            <a:r>
              <a:rPr lang="zh-CN" altLang="en-US" sz="8800" dirty="0"/>
              <a:t>数字目录学</a:t>
            </a:r>
          </a:p>
        </p:txBody>
      </p:sp>
      <p:sp>
        <p:nvSpPr>
          <p:cNvPr id="8" name="内容占位符 4"/>
          <p:cNvSpPr txBox="1"/>
          <p:nvPr/>
        </p:nvSpPr>
        <p:spPr>
          <a:xfrm>
            <a:off x="407670" y="580720"/>
            <a:ext cx="8073390" cy="5527282"/>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marL="0" indent="0">
              <a:lnSpc>
                <a:spcPct val="110000"/>
              </a:lnSpc>
              <a:spcBef>
                <a:spcPts val="0"/>
              </a:spcBef>
              <a:buFont typeface="Wingdings" panose="05000000000000000000" pitchFamily="2" charset="2"/>
              <a:buNone/>
            </a:pPr>
            <a:r>
              <a:rPr lang="zh-CN" altLang="en-US" sz="4000" b="1" dirty="0">
                <a:latin typeface="宋体" panose="02010600030101010101" pitchFamily="2" charset="-122"/>
                <a:ea typeface="宋体" panose="02010600030101010101" pitchFamily="2" charset="-122"/>
              </a:rPr>
              <a:t>数字目录学主要研究领域</a:t>
            </a:r>
            <a:r>
              <a:rPr lang="en-US" altLang="zh-CN" sz="4000" b="1" baseline="30000" dirty="0">
                <a:latin typeface="宋体" panose="02010600030101010101" pitchFamily="2" charset="-122"/>
                <a:ea typeface="宋体" panose="02010600030101010101" pitchFamily="2" charset="-122"/>
              </a:rPr>
              <a:t>[5]</a:t>
            </a:r>
          </a:p>
          <a:p>
            <a:pPr>
              <a:lnSpc>
                <a:spcPct val="110000"/>
              </a:lnSpc>
              <a:spcBef>
                <a:spcPts val="0"/>
              </a:spcBef>
            </a:pPr>
            <a:r>
              <a:rPr lang="zh-CN" altLang="en-US" sz="2800" b="1" dirty="0">
                <a:latin typeface="宋体" panose="02010600030101010101" pitchFamily="2" charset="-122"/>
                <a:ea typeface="宋体" panose="02010600030101010101" pitchFamily="2" charset="-122"/>
              </a:rPr>
              <a:t>数字资源系统</a:t>
            </a:r>
            <a:r>
              <a:rPr lang="zh-CN" altLang="en-US" sz="2400" dirty="0">
                <a:latin typeface="宋体" panose="02010600030101010101" pitchFamily="2" charset="-122"/>
                <a:ea typeface="宋体" panose="02010600030101010101" pitchFamily="2" charset="-122"/>
              </a:rPr>
              <a:t>（电子资源的分类编目与检索）</a:t>
            </a:r>
            <a:endParaRPr lang="en-US" altLang="zh-CN" sz="2400"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sz="2400" dirty="0">
                <a:latin typeface="宋体" panose="02010600030101010101" pitchFamily="2" charset="-122"/>
                <a:ea typeface="宋体" panose="02010600030101010101" pitchFamily="2" charset="-122"/>
              </a:rPr>
              <a:t>数字图书馆目录、网络编目、联机编目系统、文后电子资源著录、网络资源分类、网络资源组织等等</a:t>
            </a:r>
            <a:endParaRPr lang="en-US" altLang="zh-CN" sz="2400"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sz="1000" dirty="0">
              <a:latin typeface="宋体" panose="02010600030101010101" pitchFamily="2" charset="-122"/>
              <a:ea typeface="宋体" panose="02010600030101010101" pitchFamily="2" charset="-122"/>
            </a:endParaRPr>
          </a:p>
          <a:p>
            <a:pPr>
              <a:lnSpc>
                <a:spcPct val="110000"/>
              </a:lnSpc>
              <a:spcBef>
                <a:spcPts val="0"/>
              </a:spcBef>
            </a:pPr>
            <a:r>
              <a:rPr lang="zh-CN" altLang="en-US" sz="2800" b="1" dirty="0">
                <a:latin typeface="宋体" panose="02010600030101010101" pitchFamily="2" charset="-122"/>
                <a:ea typeface="宋体" panose="02010600030101010101" pitchFamily="2" charset="-122"/>
              </a:rPr>
              <a:t>数字参考咨询</a:t>
            </a:r>
            <a:endParaRPr lang="en-US" altLang="zh-CN" sz="2800" b="1"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sz="2400" dirty="0">
                <a:latin typeface="宋体" panose="02010600030101010101" pitchFamily="2" charset="-122"/>
                <a:ea typeface="宋体" panose="02010600030101010101" pitchFamily="2" charset="-122"/>
              </a:rPr>
              <a:t>数字参考工具研发、学术资源导航、学术信息门户、知识检索、基于创新平台的信息服务与知识服务、知识中介服务、查新服务、数字咨询服务等等</a:t>
            </a:r>
            <a:endParaRPr lang="en-US" altLang="zh-CN" sz="2400"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sz="1000" dirty="0">
              <a:latin typeface="宋体" panose="02010600030101010101" pitchFamily="2" charset="-122"/>
              <a:ea typeface="宋体" panose="02010600030101010101" pitchFamily="2" charset="-122"/>
            </a:endParaRPr>
          </a:p>
          <a:p>
            <a:pPr>
              <a:lnSpc>
                <a:spcPct val="110000"/>
              </a:lnSpc>
              <a:spcBef>
                <a:spcPts val="0"/>
              </a:spcBef>
            </a:pPr>
            <a:r>
              <a:rPr lang="zh-CN" altLang="en-US" sz="2800" b="1" dirty="0">
                <a:latin typeface="宋体" panose="02010600030101010101" pitchFamily="2" charset="-122"/>
                <a:ea typeface="宋体" panose="02010600030101010101" pitchFamily="2" charset="-122"/>
              </a:rPr>
              <a:t>数字化学习指导</a:t>
            </a:r>
            <a:r>
              <a:rPr lang="zh-CN" altLang="en-US" sz="2400" dirty="0">
                <a:latin typeface="宋体" panose="02010600030101010101" pitchFamily="2" charset="-122"/>
                <a:ea typeface="宋体" panose="02010600030101010101" pitchFamily="2" charset="-122"/>
              </a:rPr>
              <a:t>（解决数字资源增长与阅读的矛盾）</a:t>
            </a:r>
            <a:endParaRPr lang="en-US" altLang="zh-CN" sz="2400"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sz="2400" dirty="0">
                <a:latin typeface="宋体" panose="02010600030101010101" pitchFamily="2" charset="-122"/>
                <a:ea typeface="宋体" panose="02010600030101010101" pitchFamily="2" charset="-122"/>
              </a:rPr>
              <a:t>虚拟学习平台开发、数字导读、数字读者教育和学习方法等等</a:t>
            </a:r>
            <a:endParaRPr lang="en-US" altLang="zh-CN" sz="2400" dirty="0">
              <a:latin typeface="宋体" panose="02010600030101010101" pitchFamily="2" charset="-122"/>
              <a:ea typeface="宋体" panose="02010600030101010101" pitchFamily="2" charset="-122"/>
            </a:endParaRPr>
          </a:p>
        </p:txBody>
      </p:sp>
      <p:sp>
        <p:nvSpPr>
          <p:cNvPr id="7" name="文本框 6"/>
          <p:cNvSpPr txBox="1"/>
          <p:nvPr/>
        </p:nvSpPr>
        <p:spPr>
          <a:xfrm>
            <a:off x="304800" y="6291572"/>
            <a:ext cx="1096772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[5]</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数字时代目录学的理论变革与发展研究</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2009:313.</a:t>
            </a:r>
            <a:endParaRPr lang="zh-CN" altLang="zh-CN"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410" y="0"/>
            <a:ext cx="1714500" cy="6476238"/>
          </a:xfrm>
        </p:spPr>
        <p:txBody>
          <a:bodyPr>
            <a:noAutofit/>
          </a:bodyPr>
          <a:lstStyle/>
          <a:p>
            <a:r>
              <a:rPr lang="zh-CN" altLang="en-US" sz="8800" dirty="0"/>
              <a:t>智能目录学</a:t>
            </a:r>
          </a:p>
        </p:txBody>
      </p:sp>
      <p:sp>
        <p:nvSpPr>
          <p:cNvPr id="5" name="内容占位符 4"/>
          <p:cNvSpPr>
            <a:spLocks noGrp="1"/>
          </p:cNvSpPr>
          <p:nvPr>
            <p:ph idx="1"/>
          </p:nvPr>
        </p:nvSpPr>
        <p:spPr>
          <a:xfrm>
            <a:off x="919985" y="807481"/>
            <a:ext cx="7372246" cy="2343783"/>
          </a:xfrm>
          <a:prstGeom prst="rect">
            <a:avLst/>
          </a:prstGeom>
        </p:spPr>
        <p:txBody>
          <a:bodyPr wrap="square">
            <a:spAutoFit/>
          </a:bodyPr>
          <a:lstStyle/>
          <a:p>
            <a:pPr>
              <a:lnSpc>
                <a:spcPct val="110000"/>
              </a:lnSpc>
            </a:pPr>
            <a:r>
              <a:rPr lang="zh-CN" altLang="en-US" sz="4000" b="1" dirty="0">
                <a:latin typeface="宋体" panose="02010600030101010101" pitchFamily="2" charset="-122"/>
                <a:ea typeface="宋体" panose="02010600030101010101" pitchFamily="2" charset="-122"/>
              </a:rPr>
              <a:t>缘由</a:t>
            </a:r>
            <a:r>
              <a:rPr lang="en-US" altLang="zh-CN" sz="4000" b="1" dirty="0">
                <a:latin typeface="宋体" panose="02010600030101010101" pitchFamily="2" charset="-122"/>
                <a:ea typeface="宋体" panose="02010600030101010101" pitchFamily="2" charset="-122"/>
              </a:rPr>
              <a:t>/</a:t>
            </a:r>
            <a:r>
              <a:rPr lang="zh-CN" altLang="en-US" sz="4000" b="1" dirty="0">
                <a:latin typeface="宋体" panose="02010600030101010101" pitchFamily="2" charset="-122"/>
                <a:ea typeface="宋体" panose="02010600030101010101" pitchFamily="2" charset="-122"/>
              </a:rPr>
              <a:t>需求</a:t>
            </a:r>
            <a:endParaRPr lang="en-US" altLang="zh-CN" sz="4000" b="1" dirty="0">
              <a:latin typeface="宋体" panose="02010600030101010101" pitchFamily="2" charset="-122"/>
              <a:ea typeface="宋体" panose="02010600030101010101" pitchFamily="2" charset="-122"/>
            </a:endParaRPr>
          </a:p>
          <a:p>
            <a:pPr marL="0" indent="0">
              <a:lnSpc>
                <a:spcPct val="110000"/>
              </a:lnSpc>
              <a:buNone/>
            </a:pPr>
            <a:r>
              <a:rPr lang="zh-CN" altLang="zh-CN" sz="2600" dirty="0">
                <a:latin typeface="宋体" panose="02010600030101010101" pitchFamily="2" charset="-122"/>
                <a:ea typeface="宋体" panose="02010600030101010101" pitchFamily="2" charset="-122"/>
              </a:rPr>
              <a:t>书目控制对象、技术环境和用户需求的不断变化</a:t>
            </a:r>
            <a:endParaRPr lang="en-US" altLang="zh-CN" sz="2600" dirty="0">
              <a:latin typeface="宋体" panose="02010600030101010101" pitchFamily="2" charset="-122"/>
              <a:ea typeface="宋体" panose="02010600030101010101" pitchFamily="2" charset="-122"/>
            </a:endParaRPr>
          </a:p>
          <a:p>
            <a:pPr marL="0" indent="0">
              <a:lnSpc>
                <a:spcPct val="110000"/>
              </a:lnSpc>
              <a:buNone/>
            </a:pPr>
            <a:r>
              <a:rPr lang="zh-CN" altLang="en-US" sz="2600" dirty="0">
                <a:latin typeface="宋体" panose="02010600030101010101" pitchFamily="2" charset="-122"/>
                <a:ea typeface="宋体" panose="02010600030101010101" pitchFamily="2" charset="-122"/>
              </a:rPr>
              <a:t>（</a:t>
            </a:r>
            <a:r>
              <a:rPr lang="zh-CN" altLang="zh-CN" sz="2600" dirty="0">
                <a:latin typeface="宋体" panose="02010600030101010101" pitchFamily="2" charset="-122"/>
                <a:ea typeface="宋体" panose="02010600030101010101" pitchFamily="2" charset="-122"/>
              </a:rPr>
              <a:t>目前诸多网站平台面临海量数据的组织、存储、呈现、检索、推荐</a:t>
            </a:r>
            <a:r>
              <a:rPr lang="zh-CN" altLang="en-US" sz="2600" dirty="0">
                <a:latin typeface="宋体" panose="02010600030101010101" pitchFamily="2" charset="-122"/>
                <a:ea typeface="宋体" panose="02010600030101010101" pitchFamily="2" charset="-122"/>
              </a:rPr>
              <a:t>的难题）</a:t>
            </a:r>
            <a:endParaRPr lang="zh-CN" altLang="zh-CN" sz="2600" dirty="0">
              <a:latin typeface="宋体" panose="02010600030101010101" pitchFamily="2" charset="-122"/>
              <a:ea typeface="宋体" panose="02010600030101010101" pitchFamily="2" charset="-122"/>
            </a:endParaRPr>
          </a:p>
        </p:txBody>
      </p:sp>
      <p:sp>
        <p:nvSpPr>
          <p:cNvPr id="6" name="内容占位符 4"/>
          <p:cNvSpPr txBox="1"/>
          <p:nvPr/>
        </p:nvSpPr>
        <p:spPr>
          <a:xfrm>
            <a:off x="919985" y="3385300"/>
            <a:ext cx="7372246" cy="2915222"/>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10000"/>
              </a:lnSpc>
            </a:pPr>
            <a:r>
              <a:rPr lang="zh-CN" altLang="en-US" sz="4000" b="1" dirty="0">
                <a:latin typeface="宋体" panose="02010600030101010101" pitchFamily="2" charset="-122"/>
                <a:ea typeface="宋体" panose="02010600030101010101" pitchFamily="2" charset="-122"/>
              </a:rPr>
              <a:t>基础</a:t>
            </a:r>
            <a:endParaRPr lang="en-US" altLang="zh-CN" sz="4000" b="1" dirty="0">
              <a:latin typeface="宋体" panose="02010600030101010101" pitchFamily="2" charset="-122"/>
              <a:ea typeface="宋体" panose="02010600030101010101" pitchFamily="2" charset="-122"/>
            </a:endParaRPr>
          </a:p>
          <a:p>
            <a:pPr marL="0" indent="0">
              <a:lnSpc>
                <a:spcPct val="110000"/>
              </a:lnSpc>
              <a:buNone/>
            </a:pPr>
            <a:r>
              <a:rPr lang="zh-CN" altLang="en-US" sz="2800" dirty="0">
                <a:latin typeface="宋体" panose="02010600030101010101" pitchFamily="2" charset="-122"/>
                <a:ea typeface="宋体" panose="02010600030101010101" pitchFamily="2" charset="-122"/>
              </a:rPr>
              <a:t>用于组织书目文献的目录、索引和文摘已经可以通过计算机编制来实现</a:t>
            </a:r>
            <a:endParaRPr lang="en-US" altLang="zh-CN" sz="2800" dirty="0">
              <a:latin typeface="宋体" panose="02010600030101010101" pitchFamily="2" charset="-122"/>
              <a:ea typeface="宋体" panose="02010600030101010101" pitchFamily="2" charset="-122"/>
            </a:endParaRPr>
          </a:p>
          <a:p>
            <a:pPr marL="0" indent="0">
              <a:lnSpc>
                <a:spcPct val="110000"/>
              </a:lnSpc>
              <a:buNone/>
            </a:pPr>
            <a:r>
              <a:rPr lang="zh-CN" altLang="en-US" sz="2800" dirty="0">
                <a:latin typeface="宋体" panose="02010600030101010101" pitchFamily="2" charset="-122"/>
                <a:ea typeface="宋体" panose="02010600030101010101" pitchFamily="2" charset="-122"/>
              </a:rPr>
              <a:t>已经</a:t>
            </a:r>
            <a:r>
              <a:rPr lang="zh-CN" altLang="zh-CN" sz="2800" dirty="0">
                <a:latin typeface="宋体" panose="02010600030101010101" pitchFamily="2" charset="-122"/>
                <a:ea typeface="宋体" panose="02010600030101010101" pitchFamily="2" charset="-122"/>
              </a:rPr>
              <a:t>产生了许多</a:t>
            </a:r>
            <a:r>
              <a:rPr lang="zh-CN" altLang="en-US" sz="2800" dirty="0">
                <a:latin typeface="宋体" panose="02010600030101010101" pitchFamily="2" charset="-122"/>
                <a:ea typeface="宋体" panose="02010600030101010101" pitchFamily="2" charset="-122"/>
              </a:rPr>
              <a:t>将新兴智能</a:t>
            </a:r>
            <a:r>
              <a:rPr lang="zh-CN" altLang="zh-CN" sz="2800" dirty="0">
                <a:latin typeface="宋体" panose="02010600030101010101" pitchFamily="2" charset="-122"/>
                <a:ea typeface="宋体" panose="02010600030101010101" pitchFamily="2" charset="-122"/>
              </a:rPr>
              <a:t>技术运用于目录工作的研究</a:t>
            </a:r>
            <a:endParaRPr lang="zh-CN" altLang="en-US" sz="28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410" y="0"/>
            <a:ext cx="1714500" cy="6476238"/>
          </a:xfrm>
        </p:spPr>
        <p:txBody>
          <a:bodyPr>
            <a:noAutofit/>
          </a:bodyPr>
          <a:lstStyle/>
          <a:p>
            <a:r>
              <a:rPr lang="zh-CN" altLang="en-US" sz="8800" dirty="0"/>
              <a:t>智能目录学</a:t>
            </a:r>
          </a:p>
        </p:txBody>
      </p:sp>
      <p:sp>
        <p:nvSpPr>
          <p:cNvPr id="5" name="内容占位符 4"/>
          <p:cNvSpPr>
            <a:spLocks noGrp="1"/>
          </p:cNvSpPr>
          <p:nvPr>
            <p:ph idx="1"/>
          </p:nvPr>
        </p:nvSpPr>
        <p:spPr>
          <a:xfrm>
            <a:off x="1073341" y="728281"/>
            <a:ext cx="6711950" cy="1136273"/>
          </a:xfrm>
          <a:prstGeom prst="rect">
            <a:avLst/>
          </a:prstGeom>
        </p:spPr>
        <p:txBody>
          <a:bodyPr wrap="square">
            <a:spAutoFit/>
          </a:bodyPr>
          <a:lstStyle/>
          <a:p>
            <a:pPr>
              <a:lnSpc>
                <a:spcPct val="110000"/>
              </a:lnSpc>
            </a:pPr>
            <a:r>
              <a:rPr lang="zh-CN" altLang="en-US" sz="2800" dirty="0">
                <a:latin typeface="宋体" panose="02010600030101010101" pitchFamily="2" charset="-122"/>
                <a:ea typeface="宋体" panose="02010600030101010101" pitchFamily="2" charset="-122"/>
              </a:rPr>
              <a:t>电子化、网络化、集成化、智能化</a:t>
            </a:r>
            <a:endParaRPr lang="en-US" altLang="zh-CN" sz="2800" dirty="0">
              <a:latin typeface="宋体" panose="02010600030101010101" pitchFamily="2" charset="-122"/>
              <a:ea typeface="宋体" panose="02010600030101010101" pitchFamily="2" charset="-122"/>
            </a:endParaRPr>
          </a:p>
          <a:p>
            <a:pPr marL="0" indent="0">
              <a:lnSpc>
                <a:spcPct val="110000"/>
              </a:lnSpc>
              <a:buNone/>
            </a:pPr>
            <a:r>
              <a:rPr lang="zh-CN" altLang="en-US" sz="2800" dirty="0">
                <a:latin typeface="宋体" panose="02010600030101010101" pitchFamily="2" charset="-122"/>
                <a:ea typeface="宋体" panose="02010600030101010101" pitchFamily="2" charset="-122"/>
              </a:rPr>
              <a:t>促成传统目录学向</a:t>
            </a:r>
            <a:r>
              <a:rPr lang="zh-CN" altLang="en-US" sz="2800" b="1" dirty="0">
                <a:solidFill>
                  <a:srgbClr val="FF0000"/>
                </a:solidFill>
                <a:latin typeface="宋体" panose="02010600030101010101" pitchFamily="2" charset="-122"/>
                <a:ea typeface="宋体" panose="02010600030101010101" pitchFamily="2" charset="-122"/>
              </a:rPr>
              <a:t>智能目录学</a:t>
            </a:r>
            <a:r>
              <a:rPr lang="zh-CN" altLang="en-US" sz="2800" dirty="0">
                <a:latin typeface="宋体" panose="02010600030101010101" pitchFamily="2" charset="-122"/>
                <a:ea typeface="宋体" panose="02010600030101010101" pitchFamily="2" charset="-122"/>
              </a:rPr>
              <a:t>的转变</a:t>
            </a:r>
          </a:p>
        </p:txBody>
      </p:sp>
      <p:sp>
        <p:nvSpPr>
          <p:cNvPr id="7" name="内容占位符 4"/>
          <p:cNvSpPr txBox="1"/>
          <p:nvPr/>
        </p:nvSpPr>
        <p:spPr>
          <a:xfrm>
            <a:off x="1073341" y="2301998"/>
            <a:ext cx="7216923" cy="1358898"/>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10000"/>
              </a:lnSpc>
            </a:pPr>
            <a:r>
              <a:rPr lang="zh-CN" altLang="en-US" sz="2600" dirty="0">
                <a:latin typeface="宋体" panose="02010600030101010101" pitchFamily="2" charset="-122"/>
                <a:ea typeface="宋体" panose="02010600030101010101" pitchFamily="2" charset="-122"/>
              </a:rPr>
              <a:t>面对</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技术</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与</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目录</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的脱节，为了解决</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文献信息的数字化</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与</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人们对数字资源的深度利用需要</a:t>
            </a:r>
            <a:r>
              <a:rPr lang="en-US" altLang="zh-CN" sz="2600" dirty="0">
                <a:latin typeface="宋体" panose="02010600030101010101" pitchFamily="2" charset="-122"/>
                <a:ea typeface="宋体" panose="02010600030101010101" pitchFamily="2" charset="-122"/>
              </a:rPr>
              <a:t>】</a:t>
            </a:r>
            <a:r>
              <a:rPr lang="zh-CN" altLang="en-US" sz="2600" dirty="0">
                <a:latin typeface="宋体" panose="02010600030101010101" pitchFamily="2" charset="-122"/>
                <a:ea typeface="宋体" panose="02010600030101010101" pitchFamily="2" charset="-122"/>
              </a:rPr>
              <a:t>的矛盾</a:t>
            </a:r>
            <a:endParaRPr lang="en-US" altLang="zh-CN" sz="2600" dirty="0">
              <a:latin typeface="宋体" panose="02010600030101010101" pitchFamily="2" charset="-122"/>
              <a:ea typeface="宋体" panose="02010600030101010101" pitchFamily="2" charset="-122"/>
            </a:endParaRPr>
          </a:p>
        </p:txBody>
      </p:sp>
      <p:sp>
        <p:nvSpPr>
          <p:cNvPr id="3" name="矩形 2"/>
          <p:cNvSpPr/>
          <p:nvPr/>
        </p:nvSpPr>
        <p:spPr>
          <a:xfrm>
            <a:off x="1073341" y="3842416"/>
            <a:ext cx="7216923" cy="1949060"/>
          </a:xfrm>
          <a:prstGeom prst="rect">
            <a:avLst/>
          </a:prstGeom>
        </p:spPr>
        <p:txBody>
          <a:bodyPr wrap="square">
            <a:spAutoFit/>
          </a:bodyPr>
          <a:lstStyle/>
          <a:p>
            <a:pPr>
              <a:lnSpc>
                <a:spcPct val="120000"/>
              </a:lnSpc>
            </a:pPr>
            <a:r>
              <a:rPr lang="zh-CN" altLang="en-US" sz="2600" dirty="0">
                <a:latin typeface="宋体" panose="02010600030101010101" pitchFamily="2" charset="-122"/>
                <a:ea typeface="宋体" panose="02010600030101010101" pitchFamily="2" charset="-122"/>
              </a:rPr>
              <a:t>在</a:t>
            </a:r>
            <a:r>
              <a:rPr lang="zh-CN" altLang="en-US" sz="2600" dirty="0">
                <a:solidFill>
                  <a:srgbClr val="FF0000"/>
                </a:solidFill>
                <a:latin typeface="宋体" panose="02010600030101010101" pitchFamily="2" charset="-122"/>
                <a:ea typeface="宋体" panose="02010600030101010101" pitchFamily="2" charset="-122"/>
              </a:rPr>
              <a:t>整合、组织</a:t>
            </a:r>
            <a:r>
              <a:rPr lang="zh-CN" altLang="en-US" sz="2600" dirty="0">
                <a:latin typeface="宋体" panose="02010600030101010101" pitchFamily="2" charset="-122"/>
                <a:ea typeface="宋体" panose="02010600030101010101" pitchFamily="2" charset="-122"/>
              </a:rPr>
              <a:t>纸质资源和数字资源的基础上，</a:t>
            </a:r>
            <a:endParaRPr lang="en-US" altLang="zh-CN" sz="2600" dirty="0">
              <a:latin typeface="宋体" panose="02010600030101010101" pitchFamily="2" charset="-122"/>
              <a:ea typeface="宋体" panose="02010600030101010101" pitchFamily="2" charset="-122"/>
            </a:endParaRPr>
          </a:p>
          <a:p>
            <a:pPr>
              <a:lnSpc>
                <a:spcPct val="120000"/>
              </a:lnSpc>
            </a:pPr>
            <a:r>
              <a:rPr lang="zh-CN" altLang="en-US" sz="2600" dirty="0">
                <a:latin typeface="宋体" panose="02010600030101010101" pitchFamily="2" charset="-122"/>
                <a:ea typeface="宋体" panose="02010600030101010101" pitchFamily="2" charset="-122"/>
              </a:rPr>
              <a:t>目录、索引、文摘等作为</a:t>
            </a:r>
            <a:r>
              <a:rPr lang="zh-CN" altLang="en-US" sz="2600" dirty="0">
                <a:solidFill>
                  <a:srgbClr val="FF0000"/>
                </a:solidFill>
                <a:latin typeface="宋体" panose="02010600030101010101" pitchFamily="2" charset="-122"/>
                <a:ea typeface="宋体" panose="02010600030101010101" pitchFamily="2" charset="-122"/>
              </a:rPr>
              <a:t>工具</a:t>
            </a:r>
            <a:r>
              <a:rPr lang="zh-CN" altLang="en-US" sz="2600" dirty="0">
                <a:latin typeface="宋体" panose="02010600030101010101" pitchFamily="2" charset="-122"/>
                <a:ea typeface="宋体" panose="02010600030101010101" pitchFamily="2" charset="-122"/>
              </a:rPr>
              <a:t>，</a:t>
            </a:r>
            <a:endParaRPr lang="en-US" altLang="zh-CN" sz="2600" dirty="0">
              <a:latin typeface="宋体" panose="02010600030101010101" pitchFamily="2" charset="-122"/>
              <a:ea typeface="宋体" panose="02010600030101010101" pitchFamily="2" charset="-122"/>
            </a:endParaRPr>
          </a:p>
          <a:p>
            <a:pPr>
              <a:lnSpc>
                <a:spcPct val="120000"/>
              </a:lnSpc>
            </a:pPr>
            <a:r>
              <a:rPr lang="zh-CN" altLang="en-US" sz="2600" dirty="0">
                <a:solidFill>
                  <a:srgbClr val="FF0000"/>
                </a:solidFill>
                <a:latin typeface="宋体" panose="02010600030101010101" pitchFamily="2" charset="-122"/>
                <a:ea typeface="宋体" panose="02010600030101010101" pitchFamily="2" charset="-122"/>
              </a:rPr>
              <a:t>技术</a:t>
            </a:r>
            <a:r>
              <a:rPr lang="zh-CN" altLang="en-US" sz="2600" dirty="0">
                <a:latin typeface="宋体" panose="02010600030101010101" pitchFamily="2" charset="-122"/>
                <a:ea typeface="宋体" panose="02010600030101010101" pitchFamily="2" charset="-122"/>
              </a:rPr>
              <a:t>（大数据、知识图谱、可视化等）作为支撑，</a:t>
            </a:r>
            <a:endParaRPr lang="en-US" altLang="zh-CN" sz="2600" dirty="0">
              <a:latin typeface="宋体" panose="02010600030101010101" pitchFamily="2" charset="-122"/>
              <a:ea typeface="宋体" panose="02010600030101010101" pitchFamily="2" charset="-122"/>
            </a:endParaRPr>
          </a:p>
          <a:p>
            <a:pPr>
              <a:lnSpc>
                <a:spcPct val="120000"/>
              </a:lnSpc>
            </a:pPr>
            <a:r>
              <a:rPr lang="zh-CN" altLang="en-US" sz="2600" dirty="0">
                <a:latin typeface="宋体" panose="02010600030101010101" pitchFamily="2" charset="-122"/>
                <a:ea typeface="宋体" panose="02010600030101010101" pitchFamily="2" charset="-122"/>
              </a:rPr>
              <a:t>寻求理论和实践的创新和发展</a:t>
            </a:r>
            <a:endParaRPr lang="en-US" altLang="zh-CN" sz="2600"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410" y="0"/>
            <a:ext cx="1714500" cy="6476238"/>
          </a:xfrm>
        </p:spPr>
        <p:txBody>
          <a:bodyPr>
            <a:noAutofit/>
          </a:bodyPr>
          <a:lstStyle/>
          <a:p>
            <a:r>
              <a:rPr lang="zh-CN" altLang="en-US" sz="8800" dirty="0"/>
              <a:t>智能目录学</a:t>
            </a:r>
          </a:p>
        </p:txBody>
      </p:sp>
      <p:sp>
        <p:nvSpPr>
          <p:cNvPr id="5" name="内容占位符 4"/>
          <p:cNvSpPr>
            <a:spLocks noGrp="1"/>
          </p:cNvSpPr>
          <p:nvPr>
            <p:ph idx="1"/>
          </p:nvPr>
        </p:nvSpPr>
        <p:spPr>
          <a:xfrm>
            <a:off x="925830" y="693152"/>
            <a:ext cx="7452360" cy="1814830"/>
          </a:xfrm>
          <a:prstGeom prst="rect">
            <a:avLst/>
          </a:prstGeom>
        </p:spPr>
        <p:txBody>
          <a:bodyPr wrap="square">
            <a:spAutoFit/>
          </a:bodyPr>
          <a:lstStyle/>
          <a:p>
            <a:pPr>
              <a:lnSpc>
                <a:spcPct val="100000"/>
              </a:lnSpc>
              <a:spcBef>
                <a:spcPts val="0"/>
              </a:spcBef>
            </a:pPr>
            <a:r>
              <a:rPr lang="zh-CN" altLang="zh-CN" sz="2800" dirty="0">
                <a:latin typeface="宋体" panose="02010600030101010101" pitchFamily="2" charset="-122"/>
                <a:ea typeface="宋体" panose="02010600030101010101" pitchFamily="2" charset="-122"/>
              </a:rPr>
              <a:t>智能目录学并非只专注于信息描述和知识组织，而是将这一部分作为基础。</a:t>
            </a:r>
            <a:endParaRPr lang="en-US" altLang="zh-CN" sz="2800" dirty="0">
              <a:latin typeface="宋体" panose="02010600030101010101" pitchFamily="2" charset="-122"/>
              <a:ea typeface="宋体" panose="02010600030101010101" pitchFamily="2" charset="-122"/>
            </a:endParaRPr>
          </a:p>
          <a:p>
            <a:pPr>
              <a:lnSpc>
                <a:spcPct val="100000"/>
              </a:lnSpc>
              <a:spcBef>
                <a:spcPts val="0"/>
              </a:spcBef>
            </a:pPr>
            <a:r>
              <a:rPr lang="zh-CN" altLang="zh-CN" sz="2800" dirty="0">
                <a:latin typeface="宋体" panose="02010600030101010101" pitchFamily="2" charset="-122"/>
                <a:ea typeface="宋体" panose="02010600030101010101" pitchFamily="2" charset="-122"/>
              </a:rPr>
              <a:t>目录学更需要发展的是传统目录、索引发挥的功能，</a:t>
            </a:r>
            <a:r>
              <a:rPr lang="zh-CN" altLang="zh-CN" sz="2800" b="1" dirty="0">
                <a:solidFill>
                  <a:srgbClr val="FF0000"/>
                </a:solidFill>
                <a:latin typeface="宋体" panose="02010600030101010101" pitchFamily="2" charset="-122"/>
                <a:ea typeface="宋体" panose="02010600030101010101" pitchFamily="2" charset="-122"/>
              </a:rPr>
              <a:t>寻求导读、治学作用的拓展</a:t>
            </a:r>
            <a:r>
              <a:rPr lang="zh-CN" altLang="zh-CN" sz="2800" dirty="0">
                <a:latin typeface="宋体" panose="02010600030101010101" pitchFamily="2" charset="-122"/>
                <a:ea typeface="宋体" panose="02010600030101010101" pitchFamily="2" charset="-122"/>
              </a:rPr>
              <a:t>。</a:t>
            </a:r>
          </a:p>
        </p:txBody>
      </p:sp>
      <p:sp>
        <p:nvSpPr>
          <p:cNvPr id="7" name="内容占位符 4"/>
          <p:cNvSpPr txBox="1"/>
          <p:nvPr/>
        </p:nvSpPr>
        <p:spPr>
          <a:xfrm>
            <a:off x="925830" y="2871986"/>
            <a:ext cx="8286750" cy="892552"/>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zh-CN" sz="2600" dirty="0">
                <a:latin typeface="宋体" panose="02010600030101010101" pitchFamily="2" charset="-122"/>
                <a:ea typeface="宋体" panose="02010600030101010101" pitchFamily="2" charset="-122"/>
              </a:rPr>
              <a:t>原本目录学帮助人们找地址再获取原文，</a:t>
            </a:r>
            <a:endParaRPr lang="en-US" altLang="zh-CN" sz="26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600" dirty="0">
                <a:latin typeface="宋体" panose="02010600030101010101" pitchFamily="2" charset="-122"/>
                <a:ea typeface="宋体" panose="02010600030101010101" pitchFamily="2" charset="-122"/>
              </a:rPr>
              <a:t> </a:t>
            </a:r>
            <a:r>
              <a:rPr lang="zh-CN" altLang="zh-CN" sz="2600" dirty="0">
                <a:latin typeface="宋体" panose="02010600030101010101" pitchFamily="2" charset="-122"/>
                <a:ea typeface="宋体" panose="02010600030101010101" pitchFamily="2" charset="-122"/>
              </a:rPr>
              <a:t>如今要研究的是如何提高</a:t>
            </a:r>
            <a:r>
              <a:rPr lang="zh-CN" altLang="zh-CN" sz="2600" dirty="0">
                <a:solidFill>
                  <a:srgbClr val="FF0000"/>
                </a:solidFill>
                <a:latin typeface="宋体" panose="02010600030101010101" pitchFamily="2" charset="-122"/>
                <a:ea typeface="宋体" panose="02010600030101010101" pitchFamily="2" charset="-122"/>
              </a:rPr>
              <a:t>检索</a:t>
            </a:r>
            <a:r>
              <a:rPr lang="zh-CN" altLang="zh-CN" sz="2600" dirty="0">
                <a:latin typeface="宋体" panose="02010600030101010101" pitchFamily="2" charset="-122"/>
                <a:ea typeface="宋体" panose="02010600030101010101" pitchFamily="2" charset="-122"/>
              </a:rPr>
              <a:t>效率；</a:t>
            </a:r>
          </a:p>
        </p:txBody>
      </p:sp>
      <p:sp>
        <p:nvSpPr>
          <p:cNvPr id="6" name="内容占位符 4"/>
          <p:cNvSpPr txBox="1"/>
          <p:nvPr/>
        </p:nvSpPr>
        <p:spPr>
          <a:xfrm>
            <a:off x="925830" y="4053098"/>
            <a:ext cx="8572500" cy="892552"/>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zh-CN" sz="2600" dirty="0">
                <a:latin typeface="宋体" panose="02010600030101010101" pitchFamily="2" charset="-122"/>
                <a:ea typeface="宋体" panose="02010600030101010101" pitchFamily="2" charset="-122"/>
              </a:rPr>
              <a:t>原本人们为了解惑而阅读文章，</a:t>
            </a:r>
            <a:endParaRPr lang="en-US" altLang="zh-CN" sz="26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600" dirty="0">
                <a:latin typeface="宋体" panose="02010600030101010101" pitchFamily="2" charset="-122"/>
                <a:ea typeface="宋体" panose="02010600030101010101" pitchFamily="2" charset="-122"/>
              </a:rPr>
              <a:t> </a:t>
            </a:r>
            <a:r>
              <a:rPr lang="zh-CN" altLang="zh-CN" sz="2600" dirty="0">
                <a:latin typeface="宋体" panose="02010600030101010101" pitchFamily="2" charset="-122"/>
                <a:ea typeface="宋体" panose="02010600030101010101" pitchFamily="2" charset="-122"/>
              </a:rPr>
              <a:t>如今要研究如何速度又准确地</a:t>
            </a:r>
            <a:r>
              <a:rPr lang="zh-CN" altLang="zh-CN" sz="2600" dirty="0">
                <a:solidFill>
                  <a:srgbClr val="FF0000"/>
                </a:solidFill>
                <a:latin typeface="宋体" panose="02010600030101010101" pitchFamily="2" charset="-122"/>
                <a:ea typeface="宋体" panose="02010600030101010101" pitchFamily="2" charset="-122"/>
              </a:rPr>
              <a:t>回答用户提问</a:t>
            </a:r>
            <a:r>
              <a:rPr lang="zh-CN" altLang="zh-CN" sz="2600" dirty="0">
                <a:latin typeface="宋体" panose="02010600030101010101" pitchFamily="2" charset="-122"/>
                <a:ea typeface="宋体" panose="02010600030101010101" pitchFamily="2" charset="-122"/>
              </a:rPr>
              <a:t>；</a:t>
            </a:r>
          </a:p>
        </p:txBody>
      </p:sp>
      <p:sp>
        <p:nvSpPr>
          <p:cNvPr id="8" name="内容占位符 4"/>
          <p:cNvSpPr txBox="1"/>
          <p:nvPr/>
        </p:nvSpPr>
        <p:spPr>
          <a:xfrm>
            <a:off x="925830" y="5234210"/>
            <a:ext cx="7669530" cy="892552"/>
          </a:xfrm>
          <a:prstGeom prst="rect">
            <a:avLst/>
          </a:prstGeom>
        </p:spPr>
        <p:txBody>
          <a:bodyPr vert="horz" wrap="square" lIns="91440" tIns="45720" rIns="91440" bIns="45720" rtlCol="0">
            <a:sp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zh-CN" sz="2600" dirty="0">
                <a:latin typeface="宋体" panose="02010600030101010101" pitchFamily="2" charset="-122"/>
                <a:ea typeface="宋体" panose="02010600030101010101" pitchFamily="2" charset="-122"/>
              </a:rPr>
              <a:t>原本著者目录、主题目录、推荐目录等指导阅读，</a:t>
            </a:r>
            <a:endParaRPr lang="en-US" altLang="zh-CN" sz="2600" dirty="0">
              <a:latin typeface="宋体" panose="02010600030101010101" pitchFamily="2" charset="-122"/>
              <a:ea typeface="宋体" panose="02010600030101010101" pitchFamily="2" charset="-122"/>
            </a:endParaRPr>
          </a:p>
          <a:p>
            <a:pPr marL="0" indent="0">
              <a:lnSpc>
                <a:spcPct val="100000"/>
              </a:lnSpc>
              <a:spcBef>
                <a:spcPts val="0"/>
              </a:spcBef>
              <a:buNone/>
            </a:pPr>
            <a:r>
              <a:rPr lang="en-US" altLang="zh-CN" sz="2600" dirty="0">
                <a:latin typeface="宋体" panose="02010600030101010101" pitchFamily="2" charset="-122"/>
                <a:ea typeface="宋体" panose="02010600030101010101" pitchFamily="2" charset="-122"/>
              </a:rPr>
              <a:t> </a:t>
            </a:r>
            <a:r>
              <a:rPr lang="zh-CN" altLang="zh-CN" sz="2600" dirty="0">
                <a:latin typeface="宋体" panose="02010600030101010101" pitchFamily="2" charset="-122"/>
                <a:ea typeface="宋体" panose="02010600030101010101" pitchFamily="2" charset="-122"/>
              </a:rPr>
              <a:t>如今要探索更多种</a:t>
            </a:r>
            <a:r>
              <a:rPr lang="zh-CN" altLang="zh-CN" sz="2600" dirty="0">
                <a:solidFill>
                  <a:srgbClr val="FF0000"/>
                </a:solidFill>
                <a:latin typeface="宋体" panose="02010600030101010101" pitchFamily="2" charset="-122"/>
                <a:ea typeface="宋体" panose="02010600030101010101" pitchFamily="2" charset="-122"/>
              </a:rPr>
              <a:t>导读</a:t>
            </a:r>
            <a:r>
              <a:rPr lang="zh-CN" altLang="zh-CN" sz="2600" dirty="0">
                <a:latin typeface="宋体" panose="02010600030101010101" pitchFamily="2" charset="-122"/>
                <a:ea typeface="宋体" panose="02010600030101010101" pitchFamily="2" charset="-122"/>
              </a:rPr>
              <a:t>和</a:t>
            </a:r>
            <a:r>
              <a:rPr lang="zh-CN" altLang="zh-CN" sz="2600" dirty="0">
                <a:solidFill>
                  <a:srgbClr val="FF0000"/>
                </a:solidFill>
                <a:latin typeface="宋体" panose="02010600030101010101" pitchFamily="2" charset="-122"/>
                <a:ea typeface="宋体" panose="02010600030101010101" pitchFamily="2" charset="-122"/>
              </a:rPr>
              <a:t>推荐</a:t>
            </a:r>
            <a:r>
              <a:rPr lang="zh-CN" altLang="zh-CN" sz="2600" dirty="0">
                <a:latin typeface="宋体" panose="02010600030101010101" pitchFamily="2" charset="-122"/>
                <a:ea typeface="宋体" panose="02010600030101010101" pitchFamily="2" charset="-122"/>
              </a:rPr>
              <a:t>的途径。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8"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材纹理">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TM03090434[[fn=木材纹理]]</Template>
  <TotalTime>0</TotalTime>
  <Words>1335</Words>
  <Application>Microsoft Office PowerPoint</Application>
  <PresentationFormat>宽屏</PresentationFormat>
  <Paragraphs>99</Paragraphs>
  <Slides>12</Slides>
  <Notes>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等线</vt:lpstr>
      <vt:lpstr>宋体</vt:lpstr>
      <vt:lpstr>Rockwell</vt:lpstr>
      <vt:lpstr>Rockwell Condensed</vt:lpstr>
      <vt:lpstr>Wingdings</vt:lpstr>
      <vt:lpstr>木材纹理</vt:lpstr>
      <vt:lpstr>目录学</vt:lpstr>
      <vt:lpstr>目录学的基本概念</vt:lpstr>
      <vt:lpstr>书目/目录</vt:lpstr>
      <vt:lpstr>什么是目录学</vt:lpstr>
      <vt:lpstr>目录工作</vt:lpstr>
      <vt:lpstr>PowerPoint 演示文稿</vt:lpstr>
      <vt:lpstr>创新、转型</vt:lpstr>
      <vt:lpstr>数字目录学</vt:lpstr>
      <vt:lpstr>数字目录学</vt:lpstr>
      <vt:lpstr>智能目录学</vt:lpstr>
      <vt:lpstr>智能目录学</vt:lpstr>
      <vt:lpstr>智能目录学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基于智能目录学的目录 服务平台构建</dc:title>
  <dc:creator>l yt</dc:creator>
  <cp:lastModifiedBy>l yt</cp:lastModifiedBy>
  <cp:revision>72</cp:revision>
  <dcterms:created xsi:type="dcterms:W3CDTF">2019-10-07T01:20:00Z</dcterms:created>
  <dcterms:modified xsi:type="dcterms:W3CDTF">2020-09-08T07:17:38Z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2052-11.1.0.8214</vt:lpwstr>
  </property>
</Properties>
</file>