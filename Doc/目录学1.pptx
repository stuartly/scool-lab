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8" r:id="rId3"/>
    <p:sldId id="270" r:id="rId4"/>
    <p:sldId id="258" r:id="rId5"/>
    <p:sldId id="269" r:id="rId6"/>
    <p:sldId id="261" r:id="rId7"/>
    <p:sldId id="271" r:id="rId8"/>
    <p:sldId id="257" r:id="rId9"/>
    <p:sldId id="272" r:id="rId10"/>
    <p:sldId id="273" r:id="rId11"/>
    <p:sldId id="274" r:id="rId12"/>
    <p:sldId id="277" r:id="rId13"/>
    <p:sldId id="278" r:id="rId14"/>
    <p:sldId id="279" r:id="rId15"/>
    <p:sldId id="264" r:id="rId16"/>
    <p:sldId id="276" r:id="rId17"/>
    <p:sldId id="267"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7E3CEB-F9D2-45A7-AE12-C9A1661D43DC}" type="datetimeFigureOut">
              <a:rPr lang="zh-CN" altLang="en-US" smtClean="0"/>
              <a:t>2019/5/20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4DC61F-85A9-441C-9329-E60E6379A191}" type="slidenum">
              <a:rPr lang="zh-CN" altLang="en-US" smtClean="0"/>
              <a:t>‹#›</a:t>
            </a:fld>
            <a:endParaRPr lang="zh-CN" altLang="en-US"/>
          </a:p>
        </p:txBody>
      </p:sp>
    </p:spTree>
    <p:extLst>
      <p:ext uri="{BB962C8B-B14F-4D97-AF65-F5344CB8AC3E}">
        <p14:creationId xmlns:p14="http://schemas.microsoft.com/office/powerpoint/2010/main" val="3200535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宋体" panose="02010600030101010101" pitchFamily="2" charset="-122"/>
                <a:ea typeface="宋体" panose="02010600030101010101" pitchFamily="2" charset="-122"/>
              </a:rPr>
              <a:t>多年来，目录学界从矛盾和规律两个角度展开争鸣，产生了许多不同的表达。</a:t>
            </a:r>
            <a:endParaRPr lang="en-US" altLang="zh-CN"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774DC61F-85A9-441C-9329-E60E6379A191}" type="slidenum">
              <a:rPr lang="zh-CN" altLang="en-US" smtClean="0"/>
              <a:t>2</a:t>
            </a:fld>
            <a:endParaRPr lang="zh-CN" altLang="en-US"/>
          </a:p>
        </p:txBody>
      </p:sp>
    </p:spTree>
    <p:extLst>
      <p:ext uri="{BB962C8B-B14F-4D97-AF65-F5344CB8AC3E}">
        <p14:creationId xmlns:p14="http://schemas.microsoft.com/office/powerpoint/2010/main" val="772732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宋体" panose="02010600030101010101" pitchFamily="2" charset="-122"/>
                <a:ea typeface="宋体" panose="02010600030101010101" pitchFamily="2" charset="-122"/>
              </a:rPr>
              <a:t>多年来，目录学界从矛盾和规律两个角度展开争鸣，产生了许多不同的表达。</a:t>
            </a:r>
            <a:endParaRPr lang="en-US" altLang="zh-CN"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774DC61F-85A9-441C-9329-E60E6379A191}" type="slidenum">
              <a:rPr lang="zh-CN" altLang="en-US" smtClean="0"/>
              <a:t>3</a:t>
            </a:fld>
            <a:endParaRPr lang="zh-CN" altLang="en-US"/>
          </a:p>
        </p:txBody>
      </p:sp>
    </p:spTree>
    <p:extLst>
      <p:ext uri="{BB962C8B-B14F-4D97-AF65-F5344CB8AC3E}">
        <p14:creationId xmlns:p14="http://schemas.microsoft.com/office/powerpoint/2010/main" val="3275026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4DC61F-85A9-441C-9329-E60E6379A191}" type="slidenum">
              <a:rPr lang="zh-CN" altLang="en-US" smtClean="0"/>
              <a:t>6</a:t>
            </a:fld>
            <a:endParaRPr lang="zh-CN" altLang="en-US"/>
          </a:p>
        </p:txBody>
      </p:sp>
    </p:spTree>
    <p:extLst>
      <p:ext uri="{BB962C8B-B14F-4D97-AF65-F5344CB8AC3E}">
        <p14:creationId xmlns:p14="http://schemas.microsoft.com/office/powerpoint/2010/main" val="1318000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4DC61F-85A9-441C-9329-E60E6379A191}" type="slidenum">
              <a:rPr lang="zh-CN" altLang="en-US" smtClean="0"/>
              <a:t>8</a:t>
            </a:fld>
            <a:endParaRPr lang="zh-CN" altLang="en-US"/>
          </a:p>
        </p:txBody>
      </p:sp>
    </p:spTree>
    <p:extLst>
      <p:ext uri="{BB962C8B-B14F-4D97-AF65-F5344CB8AC3E}">
        <p14:creationId xmlns:p14="http://schemas.microsoft.com/office/powerpoint/2010/main" val="3386973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4DC61F-85A9-441C-9329-E60E6379A191}" type="slidenum">
              <a:rPr lang="zh-CN" altLang="en-US" smtClean="0"/>
              <a:t>9</a:t>
            </a:fld>
            <a:endParaRPr lang="zh-CN" altLang="en-US"/>
          </a:p>
        </p:txBody>
      </p:sp>
    </p:spTree>
    <p:extLst>
      <p:ext uri="{BB962C8B-B14F-4D97-AF65-F5344CB8AC3E}">
        <p14:creationId xmlns:p14="http://schemas.microsoft.com/office/powerpoint/2010/main" val="1983006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4DC61F-85A9-441C-9329-E60E6379A191}" type="slidenum">
              <a:rPr lang="zh-CN" altLang="en-US" smtClean="0"/>
              <a:t>10</a:t>
            </a:fld>
            <a:endParaRPr lang="zh-CN" altLang="en-US"/>
          </a:p>
        </p:txBody>
      </p:sp>
    </p:spTree>
    <p:extLst>
      <p:ext uri="{BB962C8B-B14F-4D97-AF65-F5344CB8AC3E}">
        <p14:creationId xmlns:p14="http://schemas.microsoft.com/office/powerpoint/2010/main" val="484901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DBB536-C640-4E52-A53D-8FC12DE77DB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7C4E591-5BF3-4C6F-89D0-EB4DA5F315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D8970FB-8CF8-45C0-9E7F-BA8989E7AF64}"/>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5" name="页脚占位符 4">
            <a:extLst>
              <a:ext uri="{FF2B5EF4-FFF2-40B4-BE49-F238E27FC236}">
                <a16:creationId xmlns:a16="http://schemas.microsoft.com/office/drawing/2014/main" id="{0A13B114-B7B5-4765-A35D-E48BE433162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5EAB98-6E4F-4380-9FA5-5339FBE730DB}"/>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305829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B7D334-BC38-414E-8A9D-035D6DF986F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EC1C65D-9978-4533-B7DE-716B80468C7E}"/>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B607F63-082F-4264-A9F5-7219A06D5DEC}"/>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5" name="页脚占位符 4">
            <a:extLst>
              <a:ext uri="{FF2B5EF4-FFF2-40B4-BE49-F238E27FC236}">
                <a16:creationId xmlns:a16="http://schemas.microsoft.com/office/drawing/2014/main" id="{BAECFA64-BA0F-4F69-A7BC-6F618F4B9D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0502C93-8AB1-4848-BAC9-D7DD358762A9}"/>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2266494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0E6F1D-C192-44B9-B5A5-DD6DDFB6DD8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CA66838-2EC7-4B62-9A19-B3EDE3F550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04AF3C6E-3F7B-49E2-AE7E-EE789351C49C}"/>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5" name="页脚占位符 4">
            <a:extLst>
              <a:ext uri="{FF2B5EF4-FFF2-40B4-BE49-F238E27FC236}">
                <a16:creationId xmlns:a16="http://schemas.microsoft.com/office/drawing/2014/main" id="{D5C0CC9F-12EE-4C0D-A137-EEE07D13A52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AB80EB-C14B-458F-966D-214D50BFA979}"/>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3367012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F078D7-05CF-44CC-B115-329551AE17F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4F53AB3-3FB5-4451-ADC8-FEF77E2ECB06}"/>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56C18DC1-30AA-48F2-AB59-34D42E01B036}"/>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FCF1DB7F-CAB0-4027-A93F-0ED5244DC484}"/>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6" name="页脚占位符 5">
            <a:extLst>
              <a:ext uri="{FF2B5EF4-FFF2-40B4-BE49-F238E27FC236}">
                <a16:creationId xmlns:a16="http://schemas.microsoft.com/office/drawing/2014/main" id="{1E5C24E9-151E-4C7C-8381-FB0E80AA174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0B1A991-D2E1-4DDE-A5C0-7E775C57ACC8}"/>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421873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AFB58C-1D03-4B62-8329-60598103136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4FB261B-A88F-4390-AF62-5621A647B5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0F62B550-7173-435C-9D85-2B82D0BB6B90}"/>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058B938-FD41-4304-8F5A-8FDF7DE3D8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0092543-1D14-4218-961A-D5BB57C27497}"/>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1DD83C4A-B8B5-43E0-BE59-F89C1C3EBF0E}"/>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8" name="页脚占位符 7">
            <a:extLst>
              <a:ext uri="{FF2B5EF4-FFF2-40B4-BE49-F238E27FC236}">
                <a16:creationId xmlns:a16="http://schemas.microsoft.com/office/drawing/2014/main" id="{7208026C-E011-4232-9131-5825FD451DD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FC4FAB4-BCE2-448F-9F08-495BBDCB02D5}"/>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414649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D8EDBE-1F17-44C5-A5A1-D2CCEC30715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8244FBF-99A0-4F49-BD7E-2E0FEA13DA80}"/>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4" name="页脚占位符 3">
            <a:extLst>
              <a:ext uri="{FF2B5EF4-FFF2-40B4-BE49-F238E27FC236}">
                <a16:creationId xmlns:a16="http://schemas.microsoft.com/office/drawing/2014/main" id="{C8F8A9CC-8D44-4BD0-A0B9-3E65B715705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B452157-9B3B-4B98-854F-941FB34E4F76}"/>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4247452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059BDDC-A877-4707-AC7F-E71F77DAB149}"/>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3" name="页脚占位符 2">
            <a:extLst>
              <a:ext uri="{FF2B5EF4-FFF2-40B4-BE49-F238E27FC236}">
                <a16:creationId xmlns:a16="http://schemas.microsoft.com/office/drawing/2014/main" id="{F17F3AE8-29F0-43E4-B6BF-D264CB7467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B11E62F-4125-4E39-B37F-4A4E52C9D6C3}"/>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2801828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9BA096-1BFA-4653-97DC-DD10917EDCF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25D3101-BEEE-4C7F-9833-912FA002B1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369DF86C-E65A-4E24-B525-21653E8AA6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7318949-4A68-4871-8886-2E22B9139AAF}"/>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6" name="页脚占位符 5">
            <a:extLst>
              <a:ext uri="{FF2B5EF4-FFF2-40B4-BE49-F238E27FC236}">
                <a16:creationId xmlns:a16="http://schemas.microsoft.com/office/drawing/2014/main" id="{2D4A6179-E330-4930-A52D-4092FA72C7A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D91A635-BB50-4B5D-B727-467439A817DE}"/>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2007450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C7A911-5CC0-4B67-A7A8-940BB096679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FA410AF-73BC-4F99-9455-D4BCBFE267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B05CF8A-5871-4E9C-ACDD-200004DC6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AC2885F-A616-493D-84C6-101F19F06326}"/>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6" name="页脚占位符 5">
            <a:extLst>
              <a:ext uri="{FF2B5EF4-FFF2-40B4-BE49-F238E27FC236}">
                <a16:creationId xmlns:a16="http://schemas.microsoft.com/office/drawing/2014/main" id="{271BB3E5-5365-4C35-AC36-7800C0F1493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3C7E11D-01DE-47DA-A18E-E5CF48CB4E2E}"/>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1965197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CD5E79-B6A8-42E3-BC94-2D2292500CC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833325D-59D4-4725-843A-BB945CB4EC36}"/>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AF56081-421C-41D7-9565-A2139EAC7E16}"/>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5" name="页脚占位符 4">
            <a:extLst>
              <a:ext uri="{FF2B5EF4-FFF2-40B4-BE49-F238E27FC236}">
                <a16:creationId xmlns:a16="http://schemas.microsoft.com/office/drawing/2014/main" id="{7DB67E42-D745-4C70-B5B3-70AED60910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8651EE-6604-4458-BFED-5047E4B7AFAE}"/>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2596355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5BA11BA1-C145-4B2C-9E7F-4F2463CF84E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AA86E87-C7BD-4C48-A9A3-E75E2CBB22E0}"/>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4B149CB-B138-4677-A8A8-CC13021A3154}"/>
              </a:ext>
            </a:extLst>
          </p:cNvPr>
          <p:cNvSpPr>
            <a:spLocks noGrp="1"/>
          </p:cNvSpPr>
          <p:nvPr>
            <p:ph type="dt" sz="half" idx="10"/>
          </p:nvPr>
        </p:nvSpPr>
        <p:spPr/>
        <p:txBody>
          <a:bodyPr/>
          <a:lstStyle/>
          <a:p>
            <a:fld id="{22A0B9F3-21C0-4015-B702-72003B9951CF}" type="datetimeFigureOut">
              <a:rPr lang="zh-CN" altLang="en-US" smtClean="0"/>
              <a:t>2019/5/20</a:t>
            </a:fld>
            <a:endParaRPr lang="zh-CN" altLang="en-US"/>
          </a:p>
        </p:txBody>
      </p:sp>
      <p:sp>
        <p:nvSpPr>
          <p:cNvPr id="5" name="页脚占位符 4">
            <a:extLst>
              <a:ext uri="{FF2B5EF4-FFF2-40B4-BE49-F238E27FC236}">
                <a16:creationId xmlns:a16="http://schemas.microsoft.com/office/drawing/2014/main" id="{1A1344B6-3963-4CDF-A6E8-75DA2E26C8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F3DF5CD-2721-4E17-843B-83806041FB59}"/>
              </a:ext>
            </a:extLst>
          </p:cNvPr>
          <p:cNvSpPr>
            <a:spLocks noGrp="1"/>
          </p:cNvSpPr>
          <p:nvPr>
            <p:ph type="sldNum" sz="quarter" idx="12"/>
          </p:nvPr>
        </p:nvSpPr>
        <p:spPr/>
        <p:txBody>
          <a:body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1739070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A8466D2-6495-4944-A9DD-CA017712A8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AB206D5-6EF6-4769-95A5-8E962C5F32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414D265-6D59-4DED-87F5-0C5B340486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A0B9F3-21C0-4015-B702-72003B9951CF}" type="datetimeFigureOut">
              <a:rPr lang="zh-CN" altLang="en-US" smtClean="0"/>
              <a:t>2019/5/20</a:t>
            </a:fld>
            <a:endParaRPr lang="zh-CN" altLang="en-US"/>
          </a:p>
        </p:txBody>
      </p:sp>
      <p:sp>
        <p:nvSpPr>
          <p:cNvPr id="5" name="页脚占位符 4">
            <a:extLst>
              <a:ext uri="{FF2B5EF4-FFF2-40B4-BE49-F238E27FC236}">
                <a16:creationId xmlns:a16="http://schemas.microsoft.com/office/drawing/2014/main" id="{84952214-2372-491E-A5EA-C25E39F5DB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2CF9008-E848-49CB-8FF7-81F1F56D55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3BC949-F120-4769-8D9C-62AFAB5D71B1}" type="slidenum">
              <a:rPr lang="zh-CN" altLang="en-US" smtClean="0"/>
              <a:t>‹#›</a:t>
            </a:fld>
            <a:endParaRPr lang="zh-CN" altLang="en-US"/>
          </a:p>
        </p:txBody>
      </p:sp>
    </p:spTree>
    <p:extLst>
      <p:ext uri="{BB962C8B-B14F-4D97-AF65-F5344CB8AC3E}">
        <p14:creationId xmlns:p14="http://schemas.microsoft.com/office/powerpoint/2010/main" val="4048202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E812C5-1959-4734-A093-BA9777B49D2E}"/>
              </a:ext>
            </a:extLst>
          </p:cNvPr>
          <p:cNvSpPr>
            <a:spLocks noGrp="1"/>
          </p:cNvSpPr>
          <p:nvPr>
            <p:ph type="ctrTitle"/>
          </p:nvPr>
        </p:nvSpPr>
        <p:spPr>
          <a:xfrm>
            <a:off x="916940" y="1443038"/>
            <a:ext cx="10358120" cy="1985962"/>
          </a:xfrm>
        </p:spPr>
        <p:txBody>
          <a:bodyPr>
            <a:normAutofit/>
          </a:bodyPr>
          <a:lstStyle/>
          <a:p>
            <a:r>
              <a:rPr lang="zh-CN" altLang="en-US" b="1" dirty="0">
                <a:latin typeface="宋体" panose="02010600030101010101" pitchFamily="2" charset="-122"/>
                <a:ea typeface="宋体" panose="02010600030101010101" pitchFamily="2" charset="-122"/>
              </a:rPr>
              <a:t>智能目录学的致用性研究</a:t>
            </a:r>
          </a:p>
        </p:txBody>
      </p:sp>
      <p:sp>
        <p:nvSpPr>
          <p:cNvPr id="3" name="副标题 2">
            <a:extLst>
              <a:ext uri="{FF2B5EF4-FFF2-40B4-BE49-F238E27FC236}">
                <a16:creationId xmlns:a16="http://schemas.microsoft.com/office/drawing/2014/main" id="{5ED28ACD-EA30-40D8-B598-3C644778323D}"/>
              </a:ext>
            </a:extLst>
          </p:cNvPr>
          <p:cNvSpPr>
            <a:spLocks noGrp="1"/>
          </p:cNvSpPr>
          <p:nvPr>
            <p:ph type="subTitle" idx="1"/>
          </p:nvPr>
        </p:nvSpPr>
        <p:spPr>
          <a:xfrm>
            <a:off x="1524000" y="4049078"/>
            <a:ext cx="9144000" cy="1655762"/>
          </a:xfrm>
        </p:spPr>
        <p:txBody>
          <a:bodyPr/>
          <a:lstStyle/>
          <a:p>
            <a:pPr algn="r"/>
            <a:r>
              <a:rPr lang="zh-CN" altLang="en-US" dirty="0">
                <a:latin typeface="宋体" panose="02010600030101010101" pitchFamily="2" charset="-122"/>
                <a:ea typeface="宋体" panose="02010600030101010101" pitchFamily="2" charset="-122"/>
              </a:rPr>
              <a:t>汇报人：李益婷</a:t>
            </a:r>
          </a:p>
        </p:txBody>
      </p:sp>
    </p:spTree>
    <p:extLst>
      <p:ext uri="{BB962C8B-B14F-4D97-AF65-F5344CB8AC3E}">
        <p14:creationId xmlns:p14="http://schemas.microsoft.com/office/powerpoint/2010/main" val="2946971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14602A-50A9-46B7-9BF3-081730A53754}"/>
              </a:ext>
            </a:extLst>
          </p:cNvPr>
          <p:cNvSpPr>
            <a:spLocks noGrp="1"/>
          </p:cNvSpPr>
          <p:nvPr>
            <p:ph type="title"/>
          </p:nvPr>
        </p:nvSpPr>
        <p:spPr>
          <a:xfrm>
            <a:off x="934720" y="333176"/>
            <a:ext cx="10515600" cy="1114425"/>
          </a:xfrm>
        </p:spPr>
        <p:txBody>
          <a:bodyPr>
            <a:normAutofit/>
          </a:bodyPr>
          <a:lstStyle/>
          <a:p>
            <a:r>
              <a:rPr lang="zh-CN" altLang="en-US" sz="4200" b="1" dirty="0">
                <a:latin typeface="宋体" panose="02010600030101010101" pitchFamily="2" charset="-122"/>
                <a:ea typeface="宋体" panose="02010600030101010101" pitchFamily="2" charset="-122"/>
              </a:rPr>
              <a:t>什么是目录学</a:t>
            </a:r>
          </a:p>
        </p:txBody>
      </p:sp>
      <p:sp>
        <p:nvSpPr>
          <p:cNvPr id="3" name="内容占位符 2">
            <a:extLst>
              <a:ext uri="{FF2B5EF4-FFF2-40B4-BE49-F238E27FC236}">
                <a16:creationId xmlns:a16="http://schemas.microsoft.com/office/drawing/2014/main" id="{D982E816-0F99-40EE-BC23-20C4CF6D1EB5}"/>
              </a:ext>
            </a:extLst>
          </p:cNvPr>
          <p:cNvSpPr>
            <a:spLocks noGrp="1"/>
          </p:cNvSpPr>
          <p:nvPr>
            <p:ph idx="1"/>
          </p:nvPr>
        </p:nvSpPr>
        <p:spPr>
          <a:xfrm>
            <a:off x="934720" y="2894229"/>
            <a:ext cx="9870440" cy="3040441"/>
          </a:xfrm>
        </p:spPr>
        <p:txBody>
          <a:bodyPr>
            <a:normAutofit/>
          </a:bodyPr>
          <a:lstStyle/>
          <a:p>
            <a:pPr marL="0" indent="0">
              <a:lnSpc>
                <a:spcPct val="110000"/>
              </a:lnSpc>
              <a:spcBef>
                <a:spcPts val="0"/>
              </a:spcBef>
              <a:buNone/>
            </a:pPr>
            <a:r>
              <a:rPr lang="zh-CN" altLang="en-US" sz="2600" dirty="0">
                <a:latin typeface="宋体" panose="02010600030101010101" pitchFamily="2" charset="-122"/>
                <a:ea typeface="宋体" panose="02010600030101010101" pitchFamily="2" charset="-122"/>
              </a:rPr>
              <a:t>（</a:t>
            </a:r>
            <a:r>
              <a:rPr lang="en-US" altLang="zh-CN" sz="2600" dirty="0">
                <a:latin typeface="宋体" panose="02010600030101010101" pitchFamily="2" charset="-122"/>
                <a:ea typeface="宋体" panose="02010600030101010101" pitchFamily="2" charset="-122"/>
              </a:rPr>
              <a:t>1</a:t>
            </a:r>
            <a:r>
              <a:rPr lang="zh-CN" altLang="en-US" sz="2600" dirty="0">
                <a:latin typeface="宋体" panose="02010600030101010101" pitchFamily="2" charset="-122"/>
                <a:ea typeface="宋体" panose="02010600030101010101" pitchFamily="2" charset="-122"/>
              </a:rPr>
              <a:t>）</a:t>
            </a:r>
            <a:r>
              <a:rPr lang="zh-CN" altLang="en-US" sz="2600" b="1" dirty="0">
                <a:latin typeface="宋体" panose="02010600030101010101" pitchFamily="2" charset="-122"/>
                <a:ea typeface="宋体" panose="02010600030101010101" pitchFamily="2" charset="-122"/>
              </a:rPr>
              <a:t>矛盾说</a:t>
            </a:r>
            <a:r>
              <a:rPr lang="zh-CN" altLang="en-US" sz="2600" dirty="0">
                <a:latin typeface="宋体" panose="02010600030101010101" pitchFamily="2" charset="-122"/>
                <a:ea typeface="宋体" panose="02010600030101010101" pitchFamily="2" charset="-122"/>
              </a:rPr>
              <a:t>主要认为目录学的研究对象是揭示与报导文献信息与人们对文献信息的特定需要的矛盾，但受到了目录学界的多次批评与质疑</a:t>
            </a:r>
            <a:r>
              <a:rPr lang="en-US" altLang="zh-CN" sz="2600" baseline="30000" dirty="0">
                <a:latin typeface="宋体" panose="02010600030101010101" pitchFamily="2" charset="-122"/>
                <a:ea typeface="宋体" panose="02010600030101010101" pitchFamily="2" charset="-122"/>
              </a:rPr>
              <a:t>[1]</a:t>
            </a:r>
            <a:r>
              <a:rPr lang="zh-CN" altLang="en-US" sz="2600" dirty="0">
                <a:latin typeface="宋体" panose="02010600030101010101" pitchFamily="2" charset="-122"/>
                <a:ea typeface="宋体" panose="02010600030101010101" pitchFamily="2" charset="-122"/>
              </a:rPr>
              <a:t>。</a:t>
            </a:r>
            <a:endParaRPr lang="en-US" altLang="zh-CN" sz="2600" dirty="0">
              <a:latin typeface="宋体" panose="02010600030101010101" pitchFamily="2" charset="-122"/>
              <a:ea typeface="宋体" panose="02010600030101010101" pitchFamily="2" charset="-122"/>
            </a:endParaRPr>
          </a:p>
          <a:p>
            <a:pPr marL="0" indent="0">
              <a:lnSpc>
                <a:spcPct val="110000"/>
              </a:lnSpc>
              <a:spcBef>
                <a:spcPts val="0"/>
              </a:spcBef>
              <a:buNone/>
            </a:pPr>
            <a:endParaRPr lang="en-US" altLang="zh-CN" sz="1000" dirty="0">
              <a:latin typeface="宋体" panose="02010600030101010101" pitchFamily="2" charset="-122"/>
              <a:ea typeface="宋体" panose="02010600030101010101" pitchFamily="2" charset="-122"/>
            </a:endParaRPr>
          </a:p>
          <a:p>
            <a:pPr marL="0" indent="0">
              <a:lnSpc>
                <a:spcPct val="110000"/>
              </a:lnSpc>
              <a:spcBef>
                <a:spcPts val="0"/>
              </a:spcBef>
              <a:buNone/>
            </a:pPr>
            <a:r>
              <a:rPr lang="zh-CN" altLang="en-US" sz="2600" dirty="0">
                <a:latin typeface="宋体" panose="02010600030101010101" pitchFamily="2" charset="-122"/>
                <a:ea typeface="宋体" panose="02010600030101010101" pitchFamily="2" charset="-122"/>
              </a:rPr>
              <a:t>（</a:t>
            </a:r>
            <a:r>
              <a:rPr lang="en-US" altLang="zh-CN" sz="2600" dirty="0">
                <a:latin typeface="宋体" panose="02010600030101010101" pitchFamily="2" charset="-122"/>
                <a:ea typeface="宋体" panose="02010600030101010101" pitchFamily="2" charset="-122"/>
              </a:rPr>
              <a:t>2</a:t>
            </a:r>
            <a:r>
              <a:rPr lang="zh-CN" altLang="en-US" sz="2600" dirty="0">
                <a:latin typeface="宋体" panose="02010600030101010101" pitchFamily="2" charset="-122"/>
                <a:ea typeface="宋体" panose="02010600030101010101" pitchFamily="2" charset="-122"/>
              </a:rPr>
              <a:t>）</a:t>
            </a:r>
            <a:r>
              <a:rPr lang="zh-CN" altLang="en-US" sz="2600" b="1" dirty="0">
                <a:latin typeface="宋体" panose="02010600030101010101" pitchFamily="2" charset="-122"/>
                <a:ea typeface="宋体" panose="02010600030101010101" pitchFamily="2" charset="-122"/>
              </a:rPr>
              <a:t>规律说</a:t>
            </a:r>
            <a:r>
              <a:rPr lang="zh-CN" altLang="en-US" sz="2600" dirty="0">
                <a:latin typeface="宋体" panose="02010600030101010101" pitchFamily="2" charset="-122"/>
                <a:ea typeface="宋体" panose="02010600030101010101" pitchFamily="2" charset="-122"/>
              </a:rPr>
              <a:t>中彭斐章</a:t>
            </a:r>
            <a:r>
              <a:rPr lang="en-US" altLang="zh-CN" sz="2600" baseline="30000" dirty="0">
                <a:latin typeface="宋体" panose="02010600030101010101" pitchFamily="2" charset="-122"/>
                <a:ea typeface="宋体" panose="02010600030101010101" pitchFamily="2" charset="-122"/>
              </a:rPr>
              <a:t>[2]</a:t>
            </a:r>
            <a:r>
              <a:rPr lang="zh-CN" altLang="en-US" sz="2600" dirty="0">
                <a:latin typeface="宋体" panose="02010600030101010101" pitchFamily="2" charset="-122"/>
                <a:ea typeface="宋体" panose="02010600030101010101" pitchFamily="2" charset="-122"/>
              </a:rPr>
              <a:t>提出“</a:t>
            </a:r>
            <a:r>
              <a:rPr lang="zh-CN" altLang="en-US" sz="2600" b="1" dirty="0">
                <a:latin typeface="宋体" panose="02010600030101010101" pitchFamily="2" charset="-122"/>
                <a:ea typeface="宋体" panose="02010600030101010101" pitchFamily="2" charset="-122"/>
              </a:rPr>
              <a:t>目录学是研究目录工作形成和发展的一般规律（即研究书目情报运动规律）的科学</a:t>
            </a:r>
            <a:r>
              <a:rPr lang="zh-CN" altLang="en-US" sz="2600" dirty="0">
                <a:latin typeface="宋体" panose="02010600030101010101" pitchFamily="2" charset="-122"/>
                <a:ea typeface="宋体" panose="02010600030101010101" pitchFamily="2" charset="-122"/>
              </a:rPr>
              <a:t>”，将研究对象与定义进行统一，成为当前较为统一的观点。</a:t>
            </a:r>
            <a:endParaRPr lang="en-US" altLang="zh-CN" sz="2600"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1B75DFB8-E8A1-403D-9404-F936211F018C}"/>
              </a:ext>
            </a:extLst>
          </p:cNvPr>
          <p:cNvSpPr txBox="1"/>
          <p:nvPr/>
        </p:nvSpPr>
        <p:spPr>
          <a:xfrm>
            <a:off x="612140" y="5934670"/>
            <a:ext cx="10967720" cy="923330"/>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刘国华</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评目录学研究对象</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矛盾说</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兼论目录学研究对象</a:t>
            </a:r>
            <a:r>
              <a:rPr lang="en-US" altLang="zh-CN" dirty="0">
                <a:latin typeface="宋体" panose="02010600030101010101" pitchFamily="2" charset="-122"/>
                <a:ea typeface="宋体" panose="02010600030101010101" pitchFamily="2" charset="-122"/>
              </a:rPr>
              <a:t>[J]. </a:t>
            </a:r>
            <a:r>
              <a:rPr lang="zh-CN" altLang="zh-CN" dirty="0">
                <a:latin typeface="宋体" panose="02010600030101010101" pitchFamily="2" charset="-122"/>
                <a:ea typeface="宋体" panose="02010600030101010101" pitchFamily="2" charset="-122"/>
              </a:rPr>
              <a:t>图书情报工作</a:t>
            </a:r>
            <a:r>
              <a:rPr lang="en-US" altLang="zh-CN" dirty="0">
                <a:latin typeface="宋体" panose="02010600030101010101" pitchFamily="2" charset="-122"/>
                <a:ea typeface="宋体" panose="02010600030101010101" pitchFamily="2" charset="-122"/>
              </a:rPr>
              <a:t>, 1999(03): 22-27.</a:t>
            </a:r>
            <a:endParaRPr lang="zh-CN"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彭斐章等</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目录学（修订版）</a:t>
            </a:r>
            <a:r>
              <a:rPr lang="en-US" altLang="zh-CN" dirty="0">
                <a:latin typeface="宋体" panose="02010600030101010101" pitchFamily="2" charset="-122"/>
                <a:ea typeface="宋体" panose="02010600030101010101" pitchFamily="2" charset="-122"/>
              </a:rPr>
              <a:t>[M]. </a:t>
            </a:r>
            <a:r>
              <a:rPr lang="zh-CN" altLang="zh-CN" dirty="0">
                <a:latin typeface="宋体" panose="02010600030101010101" pitchFamily="2" charset="-122"/>
                <a:ea typeface="宋体" panose="02010600030101010101" pitchFamily="2" charset="-122"/>
              </a:rPr>
              <a:t>武汉</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武汉大学出版社</a:t>
            </a:r>
            <a:r>
              <a:rPr lang="en-US" altLang="zh-CN" dirty="0">
                <a:latin typeface="宋体" panose="02010600030101010101" pitchFamily="2" charset="-122"/>
                <a:ea typeface="宋体" panose="02010600030101010101" pitchFamily="2" charset="-122"/>
              </a:rPr>
              <a:t>, 2003: 4.</a:t>
            </a:r>
            <a:endParaRPr lang="zh-CN" altLang="zh-CN" dirty="0">
              <a:latin typeface="宋体" panose="02010600030101010101" pitchFamily="2" charset="-122"/>
              <a:ea typeface="宋体" panose="02010600030101010101" pitchFamily="2" charset="-122"/>
            </a:endParaRPr>
          </a:p>
          <a:p>
            <a:endParaRPr lang="zh-CN" altLang="en-US" dirty="0"/>
          </a:p>
        </p:txBody>
      </p:sp>
      <p:sp>
        <p:nvSpPr>
          <p:cNvPr id="5" name="矩形 4">
            <a:extLst>
              <a:ext uri="{FF2B5EF4-FFF2-40B4-BE49-F238E27FC236}">
                <a16:creationId xmlns:a16="http://schemas.microsoft.com/office/drawing/2014/main" id="{7502502B-6753-4959-BE4B-7C865D40CE43}"/>
              </a:ext>
            </a:extLst>
          </p:cNvPr>
          <p:cNvSpPr/>
          <p:nvPr/>
        </p:nvSpPr>
        <p:spPr>
          <a:xfrm>
            <a:off x="934720" y="1273729"/>
            <a:ext cx="9977120" cy="1446550"/>
          </a:xfrm>
          <a:prstGeom prst="rect">
            <a:avLst/>
          </a:prstGeom>
        </p:spPr>
        <p:txBody>
          <a:bodyPr wrap="square">
            <a:spAutoFit/>
          </a:bodyPr>
          <a:lstStyle/>
          <a:p>
            <a:pPr algn="just"/>
            <a:r>
              <a:rPr lang="zh-CN" altLang="en-US" sz="2200" kern="100" dirty="0">
                <a:latin typeface="宋体" panose="02010600030101010101" pitchFamily="2" charset="-122"/>
                <a:ea typeface="宋体" panose="02010600030101010101" pitchFamily="2" charset="-122"/>
              </a:rPr>
              <a:t>发展于先秦，</a:t>
            </a:r>
            <a:r>
              <a:rPr lang="zh-CN" altLang="zh-CN" sz="2200" kern="100" dirty="0">
                <a:latin typeface="宋体" panose="02010600030101010101" pitchFamily="2" charset="-122"/>
                <a:ea typeface="宋体" panose="02010600030101010101" pitchFamily="2" charset="-122"/>
              </a:rPr>
              <a:t>起源于官府用于标记载事器物和书籍次序的标识记录，以及儒家学派整理各类典籍。</a:t>
            </a:r>
            <a:endParaRPr lang="en-US" altLang="zh-CN" sz="2200" kern="100" dirty="0">
              <a:latin typeface="宋体" panose="02010600030101010101" pitchFamily="2" charset="-122"/>
              <a:ea typeface="宋体" panose="02010600030101010101" pitchFamily="2" charset="-122"/>
            </a:endParaRPr>
          </a:p>
          <a:p>
            <a:pPr algn="just"/>
            <a:endParaRPr lang="en-US" altLang="zh-CN" sz="2200" kern="100" dirty="0">
              <a:latin typeface="宋体" panose="02010600030101010101" pitchFamily="2" charset="-122"/>
              <a:ea typeface="宋体" panose="02010600030101010101" pitchFamily="2" charset="-122"/>
            </a:endParaRPr>
          </a:p>
          <a:p>
            <a:pPr algn="just"/>
            <a:r>
              <a:rPr lang="zh-CN" altLang="en-US" sz="2200" dirty="0">
                <a:latin typeface="宋体" panose="02010600030101010101" pitchFamily="2" charset="-122"/>
                <a:ea typeface="宋体" panose="02010600030101010101" pitchFamily="2" charset="-122"/>
              </a:rPr>
              <a:t>关于目录学的理解包括研究对象和定义两方面，矛盾和规律两种角度的表达。</a:t>
            </a:r>
            <a:endParaRPr lang="en-US" altLang="zh-CN"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952202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982E816-0F99-40EE-BC23-20C4CF6D1EB5}"/>
              </a:ext>
            </a:extLst>
          </p:cNvPr>
          <p:cNvSpPr>
            <a:spLocks noGrp="1"/>
          </p:cNvSpPr>
          <p:nvPr>
            <p:ph idx="1"/>
          </p:nvPr>
        </p:nvSpPr>
        <p:spPr>
          <a:xfrm>
            <a:off x="1267460" y="1261983"/>
            <a:ext cx="9839960" cy="2700417"/>
          </a:xfrm>
        </p:spPr>
        <p:txBody>
          <a:bodyPr>
            <a:normAutofit lnSpcReduction="10000"/>
          </a:bodyPr>
          <a:lstStyle/>
          <a:p>
            <a:pPr marL="0" indent="0">
              <a:lnSpc>
                <a:spcPct val="110000"/>
              </a:lnSpc>
              <a:spcBef>
                <a:spcPts val="0"/>
              </a:spcBef>
              <a:buNone/>
            </a:pPr>
            <a:endParaRPr lang="en-US" altLang="zh-CN" sz="1500" dirty="0">
              <a:latin typeface="宋体" panose="02010600030101010101" pitchFamily="2" charset="-122"/>
              <a:ea typeface="宋体" panose="02010600030101010101" pitchFamily="2" charset="-122"/>
            </a:endParaRPr>
          </a:p>
          <a:p>
            <a:pPr>
              <a:lnSpc>
                <a:spcPct val="120000"/>
              </a:lnSpc>
              <a:spcBef>
                <a:spcPts val="0"/>
              </a:spcBef>
            </a:pPr>
            <a:r>
              <a:rPr lang="zh-CN" altLang="en-US" dirty="0">
                <a:latin typeface="宋体" panose="02010600030101010101" pitchFamily="2" charset="-122"/>
                <a:ea typeface="宋体" panose="02010600030101010101" pitchFamily="2" charset="-122"/>
              </a:rPr>
              <a:t>目录学对目录相关理论以及目录工作实践进行总结与升华，是致用之学。</a:t>
            </a:r>
            <a:endParaRPr lang="en-US" altLang="zh-CN" sz="1100" dirty="0">
              <a:latin typeface="宋体" panose="02010600030101010101" pitchFamily="2" charset="-122"/>
              <a:ea typeface="宋体" panose="02010600030101010101" pitchFamily="2" charset="-122"/>
            </a:endParaRPr>
          </a:p>
          <a:p>
            <a:pPr>
              <a:lnSpc>
                <a:spcPct val="120000"/>
              </a:lnSpc>
              <a:spcBef>
                <a:spcPts val="0"/>
              </a:spcBef>
            </a:pPr>
            <a:r>
              <a:rPr lang="zh-CN" altLang="zh-CN" dirty="0">
                <a:latin typeface="宋体" panose="02010600030101010101" pitchFamily="2" charset="-122"/>
                <a:ea typeface="宋体" panose="02010600030101010101" pitchFamily="2" charset="-122"/>
              </a:rPr>
              <a:t>传统目录学除了帮助整理文献典籍外，还有</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即类求书，因书究学</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的治学作用，即通过查找目录可以得到线索和地址，再获取原文、研究学术。</a:t>
            </a:r>
            <a:endParaRPr lang="en-US" altLang="zh-CN" dirty="0">
              <a:latin typeface="宋体" panose="02010600030101010101" pitchFamily="2" charset="-122"/>
              <a:ea typeface="宋体" panose="02010600030101010101" pitchFamily="2" charset="-122"/>
            </a:endParaRPr>
          </a:p>
        </p:txBody>
      </p:sp>
      <p:sp>
        <p:nvSpPr>
          <p:cNvPr id="4" name="标题 1">
            <a:extLst>
              <a:ext uri="{FF2B5EF4-FFF2-40B4-BE49-F238E27FC236}">
                <a16:creationId xmlns:a16="http://schemas.microsoft.com/office/drawing/2014/main" id="{CD53D73F-CF9E-4438-86B6-281372CA44DA}"/>
              </a:ext>
            </a:extLst>
          </p:cNvPr>
          <p:cNvSpPr>
            <a:spLocks noGrp="1"/>
          </p:cNvSpPr>
          <p:nvPr>
            <p:ph type="title"/>
          </p:nvPr>
        </p:nvSpPr>
        <p:spPr>
          <a:xfrm>
            <a:off x="934720" y="333176"/>
            <a:ext cx="10515600" cy="1114425"/>
          </a:xfrm>
        </p:spPr>
        <p:txBody>
          <a:bodyPr>
            <a:normAutofit/>
          </a:bodyPr>
          <a:lstStyle/>
          <a:p>
            <a:r>
              <a:rPr lang="zh-CN" altLang="en-US" sz="4200" b="1" dirty="0">
                <a:latin typeface="宋体" panose="02010600030101010101" pitchFamily="2" charset="-122"/>
                <a:ea typeface="宋体" panose="02010600030101010101" pitchFamily="2" charset="-122"/>
              </a:rPr>
              <a:t>什么是目录学</a:t>
            </a:r>
          </a:p>
        </p:txBody>
      </p:sp>
      <p:sp>
        <p:nvSpPr>
          <p:cNvPr id="5" name="矩形 4">
            <a:extLst>
              <a:ext uri="{FF2B5EF4-FFF2-40B4-BE49-F238E27FC236}">
                <a16:creationId xmlns:a16="http://schemas.microsoft.com/office/drawing/2014/main" id="{471A62B6-1BFE-4DDD-921D-63FC939D7A20}"/>
              </a:ext>
            </a:extLst>
          </p:cNvPr>
          <p:cNvSpPr/>
          <p:nvPr/>
        </p:nvSpPr>
        <p:spPr>
          <a:xfrm>
            <a:off x="1371600" y="5180518"/>
            <a:ext cx="9735820" cy="830997"/>
          </a:xfrm>
          <a:prstGeom prst="rect">
            <a:avLst/>
          </a:prstGeom>
        </p:spPr>
        <p:txBody>
          <a:bodyPr wrap="square">
            <a:spAutoFit/>
          </a:bodyPr>
          <a:lstStyle/>
          <a:p>
            <a:r>
              <a:rPr lang="zh-CN" altLang="en-US" sz="2400" dirty="0">
                <a:latin typeface="宋体" panose="02010600030101010101" pitchFamily="2" charset="-122"/>
                <a:ea typeface="宋体" panose="02010600030101010101" pitchFamily="2" charset="-122"/>
              </a:rPr>
              <a:t>致用：尽其所用</a:t>
            </a:r>
          </a:p>
          <a:p>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易</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系辞上</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：“备物致用，立成器以为天下利，莫大乎圣人。”</a:t>
            </a:r>
          </a:p>
        </p:txBody>
      </p:sp>
      <p:sp>
        <p:nvSpPr>
          <p:cNvPr id="6" name="标题 1">
            <a:extLst>
              <a:ext uri="{FF2B5EF4-FFF2-40B4-BE49-F238E27FC236}">
                <a16:creationId xmlns:a16="http://schemas.microsoft.com/office/drawing/2014/main" id="{E313C0EC-7517-48AE-8458-2F703C768CD2}"/>
              </a:ext>
            </a:extLst>
          </p:cNvPr>
          <p:cNvSpPr txBox="1">
            <a:spLocks/>
          </p:cNvSpPr>
          <p:nvPr/>
        </p:nvSpPr>
        <p:spPr>
          <a:xfrm>
            <a:off x="934720" y="4139863"/>
            <a:ext cx="10515600" cy="11144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200" b="1" dirty="0">
                <a:latin typeface="宋体" panose="02010600030101010101" pitchFamily="2" charset="-122"/>
                <a:ea typeface="宋体" panose="02010600030101010101" pitchFamily="2" charset="-122"/>
              </a:rPr>
              <a:t>什么是致用性</a:t>
            </a:r>
          </a:p>
        </p:txBody>
      </p:sp>
    </p:spTree>
    <p:extLst>
      <p:ext uri="{BB962C8B-B14F-4D97-AF65-F5344CB8AC3E}">
        <p14:creationId xmlns:p14="http://schemas.microsoft.com/office/powerpoint/2010/main" val="3617710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1E3CE1-18EA-4263-B05E-0C4A4ED43B23}"/>
              </a:ext>
            </a:extLst>
          </p:cNvPr>
          <p:cNvSpPr>
            <a:spLocks noGrp="1"/>
          </p:cNvSpPr>
          <p:nvPr>
            <p:ph type="title"/>
          </p:nvPr>
        </p:nvSpPr>
        <p:spPr>
          <a:xfrm>
            <a:off x="652780" y="386080"/>
            <a:ext cx="1775460" cy="1047115"/>
          </a:xfrm>
        </p:spPr>
        <p:txBody>
          <a:bodyPr>
            <a:normAutofit/>
          </a:bodyPr>
          <a:lstStyle/>
          <a:p>
            <a:r>
              <a:rPr lang="zh-CN" altLang="en-US" sz="4200" b="1" dirty="0">
                <a:latin typeface="宋体" panose="02010600030101010101" pitchFamily="2" charset="-122"/>
                <a:ea typeface="宋体" panose="02010600030101010101" pitchFamily="2" charset="-122"/>
              </a:rPr>
              <a:t>背景</a:t>
            </a:r>
          </a:p>
        </p:txBody>
      </p:sp>
      <p:sp>
        <p:nvSpPr>
          <p:cNvPr id="5" name="内容占位符 2">
            <a:extLst>
              <a:ext uri="{FF2B5EF4-FFF2-40B4-BE49-F238E27FC236}">
                <a16:creationId xmlns:a16="http://schemas.microsoft.com/office/drawing/2014/main" id="{6A6C23C4-6D6D-4BC3-9ABF-8A5C3398135E}"/>
              </a:ext>
            </a:extLst>
          </p:cNvPr>
          <p:cNvSpPr>
            <a:spLocks noGrp="1"/>
          </p:cNvSpPr>
          <p:nvPr>
            <p:ph idx="1"/>
          </p:nvPr>
        </p:nvSpPr>
        <p:spPr>
          <a:xfrm>
            <a:off x="1169670" y="1273651"/>
            <a:ext cx="9852660" cy="5289709"/>
          </a:xfrm>
        </p:spPr>
        <p:txBody>
          <a:bodyPr>
            <a:normAutofit lnSpcReduction="10000"/>
          </a:bodyPr>
          <a:lstStyle/>
          <a:p>
            <a:pPr marL="0" indent="0">
              <a:lnSpc>
                <a:spcPct val="120000"/>
              </a:lnSpc>
              <a:spcBef>
                <a:spcPts val="0"/>
              </a:spcBef>
              <a:buNone/>
            </a:pPr>
            <a:r>
              <a:rPr lang="en-US" altLang="zh-CN" sz="2000" dirty="0">
                <a:latin typeface="宋体" panose="02010600030101010101" pitchFamily="2" charset="-122"/>
                <a:ea typeface="宋体" panose="02010600030101010101" pitchFamily="2" charset="-122"/>
              </a:rPr>
              <a:t> 20</a:t>
            </a:r>
            <a:r>
              <a:rPr lang="zh-CN" altLang="en-US" sz="2000" dirty="0">
                <a:latin typeface="宋体" panose="02010600030101010101" pitchFamily="2" charset="-122"/>
                <a:ea typeface="宋体" panose="02010600030101010101" pitchFamily="2" charset="-122"/>
              </a:rPr>
              <a:t>世纪</a:t>
            </a:r>
            <a:r>
              <a:rPr lang="en-US" altLang="zh-CN" sz="2000" dirty="0">
                <a:latin typeface="宋体" panose="02010600030101010101" pitchFamily="2" charset="-122"/>
                <a:ea typeface="宋体" panose="02010600030101010101" pitchFamily="2" charset="-122"/>
              </a:rPr>
              <a:t>80</a:t>
            </a:r>
            <a:r>
              <a:rPr lang="zh-CN" altLang="en-US" sz="2000" dirty="0">
                <a:latin typeface="宋体" panose="02010600030101010101" pitchFamily="2" charset="-122"/>
                <a:ea typeface="宋体" panose="02010600030101010101" pitchFamily="2" charset="-122"/>
              </a:rPr>
              <a:t>年代以来，我国目录学家一直寻求文献目录学的突破，</a:t>
            </a:r>
            <a:r>
              <a:rPr lang="zh-CN" altLang="en-US" b="1" dirty="0">
                <a:latin typeface="宋体" panose="02010600030101010101" pitchFamily="2" charset="-122"/>
                <a:ea typeface="宋体" panose="02010600030101010101" pitchFamily="2" charset="-122"/>
              </a:rPr>
              <a:t>书目情报理论</a:t>
            </a:r>
            <a:r>
              <a:rPr lang="zh-CN" altLang="en-US" sz="2000" dirty="0">
                <a:latin typeface="宋体" panose="02010600030101010101" pitchFamily="2" charset="-122"/>
                <a:ea typeface="宋体" panose="02010600030101010101" pitchFamily="2" charset="-122"/>
              </a:rPr>
              <a:t>是一个重要的突破口。</a:t>
            </a:r>
            <a:endParaRPr lang="en-US" altLang="zh-CN" sz="2000" dirty="0">
              <a:latin typeface="宋体" panose="02010600030101010101" pitchFamily="2" charset="-122"/>
              <a:ea typeface="宋体" panose="02010600030101010101" pitchFamily="2" charset="-122"/>
            </a:endParaRPr>
          </a:p>
          <a:p>
            <a:pPr marL="0" indent="0">
              <a:lnSpc>
                <a:spcPct val="120000"/>
              </a:lnSpc>
              <a:spcBef>
                <a:spcPts val="0"/>
              </a:spcBef>
              <a:buNone/>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en-US" sz="2000" dirty="0">
                <a:latin typeface="宋体" panose="02010600030101010101" pitchFamily="2" charset="-122"/>
                <a:ea typeface="宋体" panose="02010600030101010101" pitchFamily="2" charset="-122"/>
              </a:rPr>
              <a:t>）将目录学的核心思想从传统目录学的书目观转向现代目录学的书目情报观。</a:t>
            </a:r>
            <a:endParaRPr lang="en-US" altLang="zh-CN" sz="2000" dirty="0">
              <a:latin typeface="宋体" panose="02010600030101010101" pitchFamily="2" charset="-122"/>
              <a:ea typeface="宋体" panose="02010600030101010101" pitchFamily="2" charset="-122"/>
            </a:endParaRPr>
          </a:p>
          <a:p>
            <a:pPr marL="0" indent="0">
              <a:lnSpc>
                <a:spcPct val="120000"/>
              </a:lnSpc>
              <a:spcBef>
                <a:spcPts val="0"/>
              </a:spcBef>
              <a:buNone/>
            </a:pP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en-US" sz="2000" dirty="0">
                <a:latin typeface="宋体" panose="02010600030101010101" pitchFamily="2" charset="-122"/>
                <a:ea typeface="宋体" panose="02010600030101010101" pitchFamily="2" charset="-122"/>
              </a:rPr>
              <a:t>）拓展了现代目录学的研究视野和研究内容，建立了以书目情报理论为基础的文献目录学体系，加强了目录学与情报学及其它相关学科的联系。</a:t>
            </a:r>
            <a:endParaRPr lang="en-US" altLang="zh-CN" sz="2000" dirty="0">
              <a:latin typeface="宋体" panose="02010600030101010101" pitchFamily="2" charset="-122"/>
              <a:ea typeface="宋体" panose="02010600030101010101" pitchFamily="2" charset="-122"/>
            </a:endParaRPr>
          </a:p>
          <a:p>
            <a:pPr marL="0" indent="0">
              <a:lnSpc>
                <a:spcPct val="100000"/>
              </a:lnSpc>
              <a:spcBef>
                <a:spcPts val="0"/>
              </a:spcBef>
              <a:buNone/>
            </a:pPr>
            <a:endParaRPr lang="en-US"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a:t>
            </a:r>
            <a:r>
              <a:rPr lang="zh-CN" altLang="zh-CN" sz="2400" dirty="0">
                <a:latin typeface="宋体" panose="02010600030101010101" pitchFamily="2" charset="-122"/>
                <a:ea typeface="宋体" panose="02010600030101010101" pitchFamily="2" charset="-122"/>
              </a:rPr>
              <a:t>传统目录学的研究范围局限于纸质书籍，不能对大数据环境下各种形式载体的信息资源进行有效管理。</a:t>
            </a:r>
            <a:endParaRPr lang="en-US"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400" dirty="0">
                <a:latin typeface="宋体" panose="02010600030101010101" pitchFamily="2" charset="-122"/>
                <a:ea typeface="宋体" panose="02010600030101010101" pitchFamily="2" charset="-122"/>
              </a:rPr>
              <a:t>    低效率的手工文献揭示报道在绝大多数场景下已被计算机取代，传统目录学中用于组织书目文献的目录、索引和文摘已经可以通过计算机编制来实现。</a:t>
            </a:r>
            <a:endParaRPr lang="en-US"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endParaRPr lang="en-US" altLang="zh-CN" sz="24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400" dirty="0">
                <a:latin typeface="宋体" panose="02010600030101010101" pitchFamily="2" charset="-122"/>
                <a:ea typeface="宋体" panose="02010600030101010101" pitchFamily="2" charset="-122"/>
              </a:rPr>
              <a:t>    </a:t>
            </a:r>
            <a:r>
              <a:rPr lang="zh-CN" altLang="zh-CN" sz="2400" dirty="0">
                <a:latin typeface="宋体" panose="02010600030101010101" pitchFamily="2" charset="-122"/>
                <a:ea typeface="宋体" panose="02010600030101010101" pitchFamily="2" charset="-122"/>
              </a:rPr>
              <a:t>当前信息发展到全文时代，传统目录学先</a:t>
            </a:r>
            <a:r>
              <a:rPr lang="en-US" altLang="zh-CN" sz="2400" dirty="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检</a:t>
            </a:r>
            <a:r>
              <a:rPr lang="en-US" altLang="zh-CN" sz="2400" dirty="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（找线索）后</a:t>
            </a:r>
            <a:r>
              <a:rPr lang="en-US" altLang="zh-CN" sz="2400" dirty="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索</a:t>
            </a:r>
            <a:r>
              <a:rPr lang="en-US" altLang="zh-CN" sz="2400" dirty="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（取原文）的方式较难满足对海量资源的</a:t>
            </a:r>
            <a:r>
              <a:rPr lang="en-US" altLang="zh-CN" sz="2400" dirty="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一站式</a:t>
            </a:r>
            <a:r>
              <a:rPr lang="en-US" altLang="zh-CN" sz="2400" dirty="0">
                <a:latin typeface="宋体" panose="02010600030101010101" pitchFamily="2" charset="-122"/>
                <a:ea typeface="宋体" panose="02010600030101010101" pitchFamily="2" charset="-122"/>
              </a:rPr>
              <a:t>”</a:t>
            </a:r>
            <a:r>
              <a:rPr lang="zh-CN" altLang="zh-CN" sz="2400" dirty="0">
                <a:latin typeface="宋体" panose="02010600030101010101" pitchFamily="2" charset="-122"/>
                <a:ea typeface="宋体" panose="02010600030101010101" pitchFamily="2" charset="-122"/>
              </a:rPr>
              <a:t>获取需求。</a:t>
            </a:r>
            <a:endParaRPr lang="en-US" altLang="zh-CN" sz="2400" dirty="0">
              <a:latin typeface="宋体" panose="02010600030101010101" pitchFamily="2" charset="-122"/>
              <a:ea typeface="宋体" panose="02010600030101010101" pitchFamily="2" charset="-122"/>
            </a:endParaRPr>
          </a:p>
          <a:p>
            <a:pPr marL="0" indent="0">
              <a:lnSpc>
                <a:spcPct val="110000"/>
              </a:lnSpc>
              <a:spcBef>
                <a:spcPts val="0"/>
              </a:spcBef>
              <a:buNone/>
            </a:pPr>
            <a:endParaRPr lang="en-US" altLang="zh-CN" sz="24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180072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1E6590D-552E-45F8-8EAB-D8B85FCABFED}"/>
              </a:ext>
            </a:extLst>
          </p:cNvPr>
          <p:cNvSpPr>
            <a:spLocks noGrp="1"/>
          </p:cNvSpPr>
          <p:nvPr>
            <p:ph idx="1"/>
          </p:nvPr>
        </p:nvSpPr>
        <p:spPr>
          <a:xfrm>
            <a:off x="1130935" y="1677035"/>
            <a:ext cx="9930130" cy="3457575"/>
          </a:xfrm>
        </p:spPr>
        <p:txBody>
          <a:bodyPr>
            <a:normAutofit/>
          </a:bodyPr>
          <a:lstStyle/>
          <a:p>
            <a:pPr marL="0" indent="0">
              <a:lnSpc>
                <a:spcPct val="110000"/>
              </a:lnSpc>
              <a:spcBef>
                <a:spcPts val="0"/>
              </a:spcBef>
              <a:buNone/>
            </a:pPr>
            <a:r>
              <a:rPr lang="zh-CN" altLang="en-US" dirty="0">
                <a:latin typeface="宋体" panose="02010600030101010101" pitchFamily="2" charset="-122"/>
                <a:ea typeface="宋体" panose="02010600030101010101" pitchFamily="2" charset="-122"/>
              </a:rPr>
              <a:t>    近年来，</a:t>
            </a:r>
            <a:r>
              <a:rPr lang="zh-CN" altLang="zh-CN" dirty="0">
                <a:latin typeface="宋体" panose="02010600030101010101" pitchFamily="2" charset="-122"/>
                <a:ea typeface="宋体" panose="02010600030101010101" pitchFamily="2" charset="-122"/>
              </a:rPr>
              <a:t>目录学的研究在承袭传统、探讨理论历史之外更加注重实践</a:t>
            </a:r>
            <a:r>
              <a:rPr lang="zh-CN" altLang="en-US" dirty="0">
                <a:latin typeface="宋体" panose="02010600030101010101" pitchFamily="2" charset="-122"/>
                <a:ea typeface="宋体" panose="02010600030101010101" pitchFamily="2" charset="-122"/>
              </a:rPr>
              <a:t>，发挥其致用性，</a:t>
            </a:r>
            <a:r>
              <a:rPr lang="zh-CN" altLang="zh-CN" dirty="0">
                <a:latin typeface="宋体" panose="02010600030101010101" pitchFamily="2" charset="-122"/>
                <a:ea typeface="宋体" panose="02010600030101010101" pitchFamily="2" charset="-122"/>
              </a:rPr>
              <a:t>产生了许多</a:t>
            </a:r>
            <a:r>
              <a:rPr lang="zh-CN" altLang="en-US" dirty="0">
                <a:latin typeface="宋体" panose="02010600030101010101" pitchFamily="2" charset="-122"/>
                <a:ea typeface="宋体" panose="02010600030101010101" pitchFamily="2" charset="-122"/>
              </a:rPr>
              <a:t>将新兴</a:t>
            </a:r>
            <a:r>
              <a:rPr lang="zh-CN" altLang="zh-CN" dirty="0">
                <a:latin typeface="宋体" panose="02010600030101010101" pitchFamily="2" charset="-122"/>
                <a:ea typeface="宋体" panose="02010600030101010101" pitchFamily="2" charset="-122"/>
              </a:rPr>
              <a:t>技术运用于目录工作的研究</a:t>
            </a:r>
            <a:r>
              <a:rPr lang="zh-CN" altLang="en-US" dirty="0">
                <a:latin typeface="宋体" panose="02010600030101010101" pitchFamily="2" charset="-122"/>
                <a:ea typeface="宋体" panose="02010600030101010101" pitchFamily="2" charset="-122"/>
              </a:rPr>
              <a:t>。</a:t>
            </a:r>
            <a:endParaRPr lang="en-US" altLang="zh-CN" dirty="0">
              <a:latin typeface="宋体" panose="02010600030101010101" pitchFamily="2" charset="-122"/>
              <a:ea typeface="宋体" panose="02010600030101010101" pitchFamily="2" charset="-122"/>
            </a:endParaRPr>
          </a:p>
          <a:p>
            <a:pPr marL="0" indent="0">
              <a:lnSpc>
                <a:spcPct val="110000"/>
              </a:lnSpc>
              <a:spcBef>
                <a:spcPts val="0"/>
              </a:spcBef>
              <a:buNone/>
            </a:pPr>
            <a:endParaRPr lang="en-US" altLang="zh-CN" dirty="0">
              <a:latin typeface="宋体" panose="02010600030101010101" pitchFamily="2" charset="-122"/>
              <a:ea typeface="宋体" panose="02010600030101010101" pitchFamily="2" charset="-122"/>
            </a:endParaRPr>
          </a:p>
          <a:p>
            <a:pPr marL="0" indent="0">
              <a:lnSpc>
                <a:spcPct val="110000"/>
              </a:lnSpc>
              <a:spcBef>
                <a:spcPts val="0"/>
              </a:spcBef>
              <a:buNone/>
            </a:pPr>
            <a:r>
              <a:rPr lang="zh-CN" altLang="en-US" dirty="0">
                <a:latin typeface="宋体" panose="02010600030101010101" pitchFamily="2" charset="-122"/>
                <a:ea typeface="宋体" panose="02010600030101010101" pitchFamily="2" charset="-122"/>
              </a:rPr>
              <a:t>    目录学不能停留在对传统目录工作的总结与升华上，应该考虑到时代的需求，</a:t>
            </a:r>
            <a:r>
              <a:rPr lang="zh-CN" altLang="zh-CN" dirty="0">
                <a:latin typeface="宋体" panose="02010600030101010101" pitchFamily="2" charset="-122"/>
                <a:ea typeface="宋体" panose="02010600030101010101" pitchFamily="2" charset="-122"/>
              </a:rPr>
              <a:t>突破传统目录形式的限制，</a:t>
            </a:r>
            <a:r>
              <a:rPr lang="zh-CN" altLang="en-US" dirty="0">
                <a:latin typeface="宋体" panose="02010600030101010101" pitchFamily="2" charset="-122"/>
                <a:ea typeface="宋体" panose="02010600030101010101" pitchFamily="2" charset="-122"/>
              </a:rPr>
              <a:t>注重目录工作智能化的研究以及学科理论和教育体系的更新。</a:t>
            </a:r>
            <a:endParaRPr lang="en-US" altLang="zh-CN" dirty="0">
              <a:latin typeface="宋体" panose="02010600030101010101" pitchFamily="2" charset="-122"/>
              <a:ea typeface="宋体" panose="02010600030101010101" pitchFamily="2" charset="-122"/>
            </a:endParaRPr>
          </a:p>
          <a:p>
            <a:pPr marL="0" indent="0">
              <a:lnSpc>
                <a:spcPct val="110000"/>
              </a:lnSpc>
              <a:spcBef>
                <a:spcPts val="0"/>
              </a:spcBef>
              <a:buNone/>
            </a:pPr>
            <a:endParaRPr lang="en-US" altLang="zh-CN" dirty="0">
              <a:latin typeface="宋体" panose="02010600030101010101" pitchFamily="2" charset="-122"/>
              <a:ea typeface="宋体" panose="02010600030101010101" pitchFamily="2" charset="-122"/>
            </a:endParaRPr>
          </a:p>
        </p:txBody>
      </p:sp>
      <p:sp>
        <p:nvSpPr>
          <p:cNvPr id="10" name="标题 1">
            <a:extLst>
              <a:ext uri="{FF2B5EF4-FFF2-40B4-BE49-F238E27FC236}">
                <a16:creationId xmlns:a16="http://schemas.microsoft.com/office/drawing/2014/main" id="{CEE5FC3A-206E-4DDF-B5C0-D115637C669E}"/>
              </a:ext>
            </a:extLst>
          </p:cNvPr>
          <p:cNvSpPr txBox="1">
            <a:spLocks/>
          </p:cNvSpPr>
          <p:nvPr/>
        </p:nvSpPr>
        <p:spPr>
          <a:xfrm>
            <a:off x="652780" y="386080"/>
            <a:ext cx="1775460" cy="10471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4200" b="1" dirty="0">
                <a:latin typeface="宋体" panose="02010600030101010101" pitchFamily="2" charset="-122"/>
                <a:ea typeface="宋体" panose="02010600030101010101" pitchFamily="2" charset="-122"/>
              </a:rPr>
              <a:t>背景</a:t>
            </a:r>
          </a:p>
        </p:txBody>
      </p:sp>
    </p:spTree>
    <p:extLst>
      <p:ext uri="{BB962C8B-B14F-4D97-AF65-F5344CB8AC3E}">
        <p14:creationId xmlns:p14="http://schemas.microsoft.com/office/powerpoint/2010/main" val="99172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551035-6AD5-43CA-BF37-D09D2691B12A}"/>
              </a:ext>
            </a:extLst>
          </p:cNvPr>
          <p:cNvSpPr>
            <a:spLocks noGrp="1"/>
          </p:cNvSpPr>
          <p:nvPr>
            <p:ph type="title"/>
          </p:nvPr>
        </p:nvSpPr>
        <p:spPr>
          <a:xfrm>
            <a:off x="660400" y="0"/>
            <a:ext cx="10469880" cy="1325563"/>
          </a:xfrm>
        </p:spPr>
        <p:txBody>
          <a:bodyPr>
            <a:normAutofit/>
          </a:bodyPr>
          <a:lstStyle/>
          <a:p>
            <a:r>
              <a:rPr lang="zh-CN" altLang="en-US" sz="3600" b="1" dirty="0">
                <a:latin typeface="宋体" panose="02010600030101010101" pitchFamily="2" charset="-122"/>
                <a:ea typeface="宋体" panose="02010600030101010101" pitchFamily="2" charset="-122"/>
              </a:rPr>
              <a:t>新环境下的目录学研究</a:t>
            </a:r>
          </a:p>
        </p:txBody>
      </p:sp>
      <p:sp>
        <p:nvSpPr>
          <p:cNvPr id="9" name="矩形 8">
            <a:extLst>
              <a:ext uri="{FF2B5EF4-FFF2-40B4-BE49-F238E27FC236}">
                <a16:creationId xmlns:a16="http://schemas.microsoft.com/office/drawing/2014/main" id="{C1179F16-3886-4E4F-A221-6A7B4D716A60}"/>
              </a:ext>
            </a:extLst>
          </p:cNvPr>
          <p:cNvSpPr/>
          <p:nvPr/>
        </p:nvSpPr>
        <p:spPr>
          <a:xfrm>
            <a:off x="660400" y="1293520"/>
            <a:ext cx="10469880" cy="1154162"/>
          </a:xfrm>
          <a:prstGeom prst="rect">
            <a:avLst/>
          </a:prstGeom>
        </p:spPr>
        <p:txBody>
          <a:bodyPr wrap="square">
            <a:spAutoFit/>
          </a:bodyPr>
          <a:lstStyle/>
          <a:p>
            <a:r>
              <a:rPr lang="zh-CN" altLang="zh-CN" sz="2300" dirty="0">
                <a:latin typeface="Times New Roman" panose="02020603050405020304" pitchFamily="18" charset="0"/>
                <a:ea typeface="宋体" panose="02010600030101010101" pitchFamily="2" charset="-122"/>
                <a:cs typeface="Times New Roman" panose="02020603050405020304" pitchFamily="18" charset="0"/>
              </a:rPr>
              <a:t>解决数字资源的分类编目与检索问题</a:t>
            </a:r>
            <a:endParaRPr lang="en-US" altLang="zh-CN" sz="2300" dirty="0">
              <a:latin typeface="Times New Roman" panose="02020603050405020304" pitchFamily="18" charset="0"/>
              <a:ea typeface="宋体" panose="02010600030101010101" pitchFamily="2" charset="-122"/>
              <a:cs typeface="Times New Roman" panose="02020603050405020304" pitchFamily="18" charset="0"/>
            </a:endParaRPr>
          </a:p>
          <a:p>
            <a:r>
              <a:rPr lang="zh-CN" altLang="zh-CN" sz="2300" dirty="0">
                <a:latin typeface="Times New Roman" panose="02020603050405020304" pitchFamily="18" charset="0"/>
                <a:ea typeface="宋体" panose="02010600030101010101" pitchFamily="2" charset="-122"/>
                <a:cs typeface="Times New Roman" panose="02020603050405020304" pitchFamily="18" charset="0"/>
              </a:rPr>
              <a:t>包括数字图书馆目录、网络编目、联机编目系统、文后电子资源著录、网络资源分类、网络资源组织、网络信息资源的二次开发等</a:t>
            </a:r>
            <a:endParaRPr lang="zh-CN" altLang="en-US" sz="2300" dirty="0"/>
          </a:p>
        </p:txBody>
      </p:sp>
      <p:sp>
        <p:nvSpPr>
          <p:cNvPr id="10" name="矩形 9">
            <a:extLst>
              <a:ext uri="{FF2B5EF4-FFF2-40B4-BE49-F238E27FC236}">
                <a16:creationId xmlns:a16="http://schemas.microsoft.com/office/drawing/2014/main" id="{0D10E3EE-A686-4B6C-942A-040E28849E0D}"/>
              </a:ext>
            </a:extLst>
          </p:cNvPr>
          <p:cNvSpPr/>
          <p:nvPr/>
        </p:nvSpPr>
        <p:spPr>
          <a:xfrm>
            <a:off x="660400" y="2848854"/>
            <a:ext cx="10871200" cy="3447098"/>
          </a:xfrm>
          <a:prstGeom prst="rect">
            <a:avLst/>
          </a:prstGeom>
        </p:spPr>
        <p:txBody>
          <a:bodyPr wrap="square">
            <a:spAutoFit/>
          </a:bodyPr>
          <a:lstStyle/>
          <a:p>
            <a:pPr algn="just"/>
            <a:r>
              <a:rPr lang="zh-CN" altLang="en-US"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柯平</a:t>
            </a:r>
            <a:r>
              <a:rPr lang="en-US" altLang="zh-CN"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1994《</a:t>
            </a:r>
            <a:r>
              <a:rPr lang="zh-CN" altLang="en-US"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试论以信息理论为基础的现代目录学</a:t>
            </a:r>
            <a:r>
              <a:rPr lang="en-US" altLang="zh-CN"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en-US"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图书情报知识 </a:t>
            </a:r>
            <a:endParaRPr lang="en-US" altLang="zh-CN"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algn="just"/>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指出了目录学正不断朝</a:t>
            </a:r>
            <a:r>
              <a:rPr lang="zh-CN" altLang="zh-CN" sz="2400" b="1" kern="100" dirty="0">
                <a:latin typeface="宋体" panose="02010600030101010101" pitchFamily="2" charset="-122"/>
                <a:ea typeface="宋体" panose="02010600030101010101" pitchFamily="2" charset="-122"/>
                <a:cs typeface="Times New Roman" panose="02020603050405020304" pitchFamily="18" charset="0"/>
              </a:rPr>
              <a:t>数字化</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目录学的方向发展。</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endParaRPr lang="zh-CN" altLang="zh-CN" sz="1000" kern="100" dirty="0">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r>
              <a:rPr lang="zh-CN" altLang="en-US"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司莉</a:t>
            </a:r>
            <a:r>
              <a:rPr lang="en-US" altLang="zh-CN"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2001《</a:t>
            </a:r>
            <a:r>
              <a:rPr lang="zh-CN" altLang="en-US"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网络信息资源组织与目录学的创新和发展</a:t>
            </a:r>
            <a:r>
              <a:rPr lang="en-US" altLang="zh-CN"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en-US"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图书情报工作</a:t>
            </a:r>
            <a:endParaRPr lang="zh-CN" altLang="zh-CN" sz="24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阐述了网络信息资源组织的超文本、搜索引擎、索引库、元数据和图书馆编目几种方式与目录学应用问题，提出</a:t>
            </a:r>
            <a:r>
              <a:rPr lang="zh-CN" altLang="zh-CN" sz="2400" b="1" kern="100" dirty="0">
                <a:latin typeface="宋体" panose="02010600030101010101" pitchFamily="2" charset="-122"/>
                <a:ea typeface="宋体" panose="02010600030101010101" pitchFamily="2" charset="-122"/>
                <a:cs typeface="Times New Roman" panose="02020603050405020304" pitchFamily="18" charset="0"/>
              </a:rPr>
              <a:t>数字时代</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目录学创新与发展的新知识增长点</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endParaRPr lang="en-US" altLang="zh-CN" sz="1000" kern="100" dirty="0">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r>
              <a:rPr lang="zh-CN" altLang="zh-CN" sz="2400" b="1" dirty="0">
                <a:solidFill>
                  <a:schemeClr val="accent1"/>
                </a:solidFill>
                <a:latin typeface="宋体" panose="02010600030101010101" pitchFamily="2" charset="-122"/>
                <a:ea typeface="宋体" panose="02010600030101010101" pitchFamily="2" charset="-122"/>
              </a:rPr>
              <a:t>彭斐章</a:t>
            </a:r>
            <a:r>
              <a:rPr lang="en-US" altLang="zh-CN" sz="2400" b="1" dirty="0">
                <a:solidFill>
                  <a:schemeClr val="accent1"/>
                </a:solidFill>
                <a:latin typeface="宋体" panose="02010600030101010101" pitchFamily="2" charset="-122"/>
                <a:ea typeface="宋体" panose="02010600030101010101" pitchFamily="2" charset="-122"/>
              </a:rPr>
              <a:t>2003《</a:t>
            </a:r>
            <a:r>
              <a:rPr lang="zh-CN" altLang="zh-CN" sz="2400" b="1" dirty="0">
                <a:solidFill>
                  <a:schemeClr val="accent1"/>
                </a:solidFill>
                <a:latin typeface="宋体" panose="02010600030101010101" pitchFamily="2" charset="-122"/>
                <a:ea typeface="宋体" panose="02010600030101010101" pitchFamily="2" charset="-122"/>
              </a:rPr>
              <a:t>目录学（修订版）</a:t>
            </a:r>
            <a:r>
              <a:rPr lang="en-US" altLang="zh-CN" sz="2400" b="1" dirty="0">
                <a:solidFill>
                  <a:schemeClr val="accent1"/>
                </a:solidFill>
                <a:latin typeface="宋体" panose="02010600030101010101" pitchFamily="2" charset="-122"/>
                <a:ea typeface="宋体" panose="02010600030101010101" pitchFamily="2" charset="-122"/>
              </a:rPr>
              <a:t>》</a:t>
            </a:r>
          </a:p>
          <a:p>
            <a:pPr algn="just">
              <a:spcAft>
                <a:spcPts val="0"/>
              </a:spcAft>
            </a:pP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强调</a:t>
            </a:r>
            <a:r>
              <a:rPr lang="zh-CN" altLang="zh-CN" sz="2400" b="1" kern="100" dirty="0">
                <a:latin typeface="宋体" panose="02010600030101010101" pitchFamily="2" charset="-122"/>
                <a:ea typeface="宋体" panose="02010600030101010101" pitchFamily="2" charset="-122"/>
                <a:cs typeface="Times New Roman" panose="02020603050405020304" pitchFamily="18" charset="0"/>
              </a:rPr>
              <a:t>数字目录学</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将有效地解决数字时代信息资源的生产、聚集、组织、传播、开发和利用等问题，这</a:t>
            </a:r>
            <a:r>
              <a:rPr lang="zh-CN" altLang="zh-CN" sz="2400" b="1" kern="100" dirty="0">
                <a:latin typeface="宋体" panose="02010600030101010101" pitchFamily="2" charset="-122"/>
                <a:ea typeface="宋体" panose="02010600030101010101" pitchFamily="2" charset="-122"/>
                <a:cs typeface="Times New Roman" panose="02020603050405020304" pitchFamily="18" charset="0"/>
              </a:rPr>
              <a:t>将是</a:t>
            </a:r>
            <a:r>
              <a:rPr lang="en-US" altLang="zh-CN" sz="2400" b="1" kern="100" dirty="0">
                <a:latin typeface="宋体" panose="02010600030101010101" pitchFamily="2" charset="-122"/>
                <a:ea typeface="宋体" panose="02010600030101010101" pitchFamily="2" charset="-122"/>
                <a:cs typeface="Times New Roman" panose="02020603050405020304" pitchFamily="18" charset="0"/>
              </a:rPr>
              <a:t>21</a:t>
            </a:r>
            <a:r>
              <a:rPr lang="zh-CN" altLang="zh-CN" sz="2400" b="1" kern="100" dirty="0">
                <a:latin typeface="宋体" panose="02010600030101010101" pitchFamily="2" charset="-122"/>
                <a:ea typeface="宋体" panose="02010600030101010101" pitchFamily="2" charset="-122"/>
                <a:cs typeface="Times New Roman" panose="02020603050405020304" pitchFamily="18" charset="0"/>
              </a:rPr>
              <a:t>世纪我国目录学研究的重点</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endParaRPr lang="en-US" altLang="zh-CN" sz="600" kern="100" dirty="0">
              <a:latin typeface="宋体" panose="02010600030101010101" pitchFamily="2" charset="-122"/>
              <a:ea typeface="宋体" panose="02010600030101010101" pitchFamily="2" charset="-122"/>
              <a:cs typeface="Times New Roman" panose="02020603050405020304" pitchFamily="18" charset="0"/>
            </a:endParaRPr>
          </a:p>
        </p:txBody>
      </p:sp>
      <p:sp>
        <p:nvSpPr>
          <p:cNvPr id="5" name="矩形 4">
            <a:extLst>
              <a:ext uri="{FF2B5EF4-FFF2-40B4-BE49-F238E27FC236}">
                <a16:creationId xmlns:a16="http://schemas.microsoft.com/office/drawing/2014/main" id="{1D675DE2-6102-4D0E-8968-0044C031FDFC}"/>
              </a:ext>
            </a:extLst>
          </p:cNvPr>
          <p:cNvSpPr/>
          <p:nvPr/>
        </p:nvSpPr>
        <p:spPr>
          <a:xfrm>
            <a:off x="6187440" y="401171"/>
            <a:ext cx="2483594" cy="523220"/>
          </a:xfrm>
          <a:prstGeom prst="rect">
            <a:avLst/>
          </a:prstGeom>
        </p:spPr>
        <p:txBody>
          <a:bodyPr wrap="square">
            <a:spAutoFit/>
          </a:bodyPr>
          <a:lstStyle/>
          <a:p>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数字目录学</a:t>
            </a:r>
            <a:endPar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78065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0E4DF55-FC30-477F-82CF-D9C327AD993A}"/>
              </a:ext>
            </a:extLst>
          </p:cNvPr>
          <p:cNvSpPr/>
          <p:nvPr/>
        </p:nvSpPr>
        <p:spPr>
          <a:xfrm>
            <a:off x="767080" y="1176363"/>
            <a:ext cx="10657840" cy="5109091"/>
          </a:xfrm>
          <a:prstGeom prst="rect">
            <a:avLst/>
          </a:prstGeom>
        </p:spPr>
        <p:txBody>
          <a:bodyPr wrap="square">
            <a:spAutoFit/>
          </a:bodyPr>
          <a:lstStyle/>
          <a:p>
            <a:pPr algn="just"/>
            <a:r>
              <a:rPr lang="zh-CN" altLang="en-US"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柯平</a:t>
            </a:r>
            <a:r>
              <a:rPr lang="en-US" altLang="zh-CN"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2005《</a:t>
            </a:r>
            <a:r>
              <a:rPr lang="zh-CN" altLang="en-US"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数字目录学</a:t>
            </a:r>
            <a:r>
              <a:rPr lang="en-US" altLang="zh-CN"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en-US"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当代目录学的发展方向</a:t>
            </a:r>
            <a:r>
              <a:rPr lang="en-US" altLang="zh-CN"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en-US"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图书情报知识 </a:t>
            </a:r>
            <a:endParaRPr lang="en-US" altLang="zh-CN"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定义：数字目录学</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是研究数字环境下的数字资源与网络书目情报工作，解决数字资源的组织与开发利用等问题，为发展信息资源管理和信息服务提供支持的新兴学科。 </a:t>
            </a:r>
          </a:p>
          <a:p>
            <a:pPr algn="just">
              <a:spcAft>
                <a:spcPts val="0"/>
              </a:spcAft>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提出了数字目录学构建的</a:t>
            </a: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5</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个基本原理</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将数字目录学的研究内容划分为</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数字资源系统、数字参考咨询和数字化学习指导</a:t>
            </a: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3</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个领域</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的目录学研究。</a:t>
            </a:r>
            <a:endParaRPr lang="zh-CN" altLang="zh-CN" sz="2200" kern="100" dirty="0">
              <a:latin typeface="宋体" panose="02010600030101010101" pitchFamily="2" charset="-122"/>
              <a:ea typeface="宋体" panose="02010600030101010101" pitchFamily="2" charset="-122"/>
              <a:cs typeface="Times New Roman" panose="02020603050405020304" pitchFamily="18" charset="0"/>
            </a:endParaRPr>
          </a:p>
          <a:p>
            <a:endParaRPr lang="en-US" altLang="zh-CN" sz="1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endParaRPr lang="en-US" altLang="zh-CN" sz="1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r>
              <a:rPr lang="zh-CN" altLang="en-US"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柯平</a:t>
            </a:r>
            <a:r>
              <a:rPr lang="en-US" altLang="zh-CN"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2007《</a:t>
            </a:r>
            <a:r>
              <a:rPr lang="zh-CN" altLang="en-US"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试论面向数字书目控制和数字资源控制的数字目录学</a:t>
            </a:r>
            <a:r>
              <a:rPr lang="en-US" altLang="zh-CN"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en-US"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图书情报知识 </a:t>
            </a:r>
            <a:endParaRPr lang="en-US" altLang="zh-CN"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提出了数字目录学的基本框架，主要由数字化书目控制和数字资源控制组成。</a:t>
            </a:r>
            <a:endParaRPr lang="en-US" altLang="zh-CN" sz="2200" kern="100" dirty="0">
              <a:latin typeface="宋体" panose="02010600030101010101" pitchFamily="2" charset="-122"/>
              <a:ea typeface="宋体" panose="02010600030101010101" pitchFamily="2" charset="-122"/>
              <a:cs typeface="Times New Roman" panose="02020603050405020304" pitchFamily="18" charset="0"/>
            </a:endParaRPr>
          </a:p>
          <a:p>
            <a:endParaRPr lang="en-US" altLang="zh-CN" sz="1000" kern="100" dirty="0">
              <a:latin typeface="宋体" panose="02010600030101010101" pitchFamily="2" charset="-122"/>
              <a:ea typeface="宋体" panose="02010600030101010101" pitchFamily="2" charset="-122"/>
              <a:cs typeface="Times New Roman" panose="02020603050405020304" pitchFamily="18" charset="0"/>
            </a:endParaRPr>
          </a:p>
          <a:p>
            <a:endParaRPr lang="en-US" altLang="zh-CN" sz="1000" kern="100" dirty="0">
              <a:latin typeface="宋体" panose="02010600030101010101" pitchFamily="2" charset="-122"/>
              <a:ea typeface="宋体" panose="02010600030101010101" pitchFamily="2" charset="-122"/>
              <a:cs typeface="Times New Roman" panose="02020603050405020304" pitchFamily="18" charset="0"/>
            </a:endParaRPr>
          </a:p>
          <a:p>
            <a:pPr algn="just"/>
            <a:r>
              <a:rPr lang="zh-CN" altLang="zh-CN" sz="2000" b="1" dirty="0">
                <a:solidFill>
                  <a:schemeClr val="accent1"/>
                </a:solidFill>
                <a:latin typeface="宋体" panose="02010600030101010101" pitchFamily="2" charset="-122"/>
                <a:ea typeface="宋体" panose="02010600030101010101" pitchFamily="2" charset="-122"/>
              </a:rPr>
              <a:t>王锰</a:t>
            </a:r>
            <a:r>
              <a:rPr lang="en-US" altLang="zh-CN" sz="2000" b="1" dirty="0">
                <a:solidFill>
                  <a:schemeClr val="accent1"/>
                </a:solidFill>
                <a:latin typeface="宋体" panose="02010600030101010101" pitchFamily="2" charset="-122"/>
                <a:ea typeface="宋体" panose="02010600030101010101" pitchFamily="2" charset="-122"/>
              </a:rPr>
              <a:t>2015《</a:t>
            </a:r>
            <a:r>
              <a:rPr lang="zh-CN" altLang="zh-CN" sz="2000" b="1" dirty="0">
                <a:solidFill>
                  <a:schemeClr val="accent1"/>
                </a:solidFill>
                <a:latin typeface="宋体" panose="02010600030101010101" pitchFamily="2" charset="-122"/>
                <a:ea typeface="宋体" panose="02010600030101010101" pitchFamily="2" charset="-122"/>
              </a:rPr>
              <a:t>数字时代目录学理论体系的形式与内容分析</a:t>
            </a:r>
            <a:r>
              <a:rPr lang="en-US" altLang="zh-CN" sz="2000" b="1" dirty="0">
                <a:solidFill>
                  <a:schemeClr val="accent1"/>
                </a:solidFill>
                <a:latin typeface="宋体" panose="02010600030101010101" pitchFamily="2" charset="-122"/>
                <a:ea typeface="宋体" panose="02010600030101010101" pitchFamily="2" charset="-122"/>
              </a:rPr>
              <a:t>》</a:t>
            </a:r>
            <a:r>
              <a:rPr lang="zh-CN" altLang="zh-CN" sz="2000" b="1" dirty="0">
                <a:solidFill>
                  <a:schemeClr val="accent1"/>
                </a:solidFill>
                <a:latin typeface="宋体" panose="02010600030101010101" pitchFamily="2" charset="-122"/>
                <a:ea typeface="宋体" panose="02010600030101010101" pitchFamily="2" charset="-122"/>
              </a:rPr>
              <a:t>图书情报知识</a:t>
            </a:r>
            <a:endParaRPr lang="en-US" altLang="zh-CN" sz="2000"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提出了数字时代目录学发展的学术背景、技术背景</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从形式和内容两个方面对数字时代的目录学理论体系进行呈现。</a:t>
            </a:r>
            <a:endParaRPr lang="en-US" altLang="zh-CN" sz="2200" kern="100" dirty="0">
              <a:latin typeface="宋体" panose="02010600030101010101" pitchFamily="2" charset="-122"/>
              <a:ea typeface="宋体" panose="02010600030101010101" pitchFamily="2" charset="-122"/>
              <a:cs typeface="Times New Roman" panose="02020603050405020304" pitchFamily="18" charset="0"/>
            </a:endParaRPr>
          </a:p>
          <a:p>
            <a:pPr algn="just"/>
            <a:r>
              <a:rPr lang="zh-CN" altLang="en-US"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王锰</a:t>
            </a:r>
            <a:r>
              <a:rPr lang="en-US" altLang="zh-CN"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2016《</a:t>
            </a:r>
            <a:r>
              <a:rPr lang="zh-CN" altLang="en-US"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数字时代目录学理论研究相关问题探析</a:t>
            </a:r>
            <a:r>
              <a:rPr lang="en-US" altLang="zh-CN"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en-US"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图书馆工作与研究</a:t>
            </a:r>
            <a:endParaRPr lang="en-US" altLang="zh-CN" sz="2000" b="1" kern="100"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r>
              <a:rPr lang="en-US" altLang="zh-CN" sz="2200" kern="100" dirty="0">
                <a:latin typeface="宋体" panose="02010600030101010101" pitchFamily="2" charset="-122"/>
                <a:ea typeface="宋体" panose="02010600030101010101" pitchFamily="2" charset="-122"/>
                <a:cs typeface="Times New Roman" panose="02020603050405020304" pitchFamily="18" charset="0"/>
              </a:rPr>
              <a:t>    </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深入研究了数字时代目录学理论研究的相关问题</a:t>
            </a:r>
            <a:r>
              <a:rPr lang="zh-CN" altLang="en-US" sz="2200" kern="100" dirty="0">
                <a:latin typeface="宋体" panose="02010600030101010101" pitchFamily="2" charset="-122"/>
                <a:ea typeface="宋体" panose="02010600030101010101" pitchFamily="2" charset="-122"/>
                <a:cs typeface="Times New Roman" panose="02020603050405020304" pitchFamily="18" charset="0"/>
              </a:rPr>
              <a:t>，探索</a:t>
            </a:r>
            <a:r>
              <a:rPr lang="zh-CN" altLang="zh-CN" sz="2200" kern="100" dirty="0">
                <a:latin typeface="宋体" panose="02010600030101010101" pitchFamily="2" charset="-122"/>
                <a:ea typeface="宋体" panose="02010600030101010101" pitchFamily="2" charset="-122"/>
                <a:cs typeface="Times New Roman" panose="02020603050405020304" pitchFamily="18" charset="0"/>
              </a:rPr>
              <a:t>目录学理论体系问题、目录学发展的理论基础问题及目录学理论研究与时代发展的关系问题等。</a:t>
            </a:r>
            <a:endParaRPr lang="en-US" altLang="zh-CN" sz="2200" kern="100" dirty="0">
              <a:latin typeface="宋体" panose="02010600030101010101" pitchFamily="2" charset="-122"/>
              <a:ea typeface="宋体" panose="02010600030101010101" pitchFamily="2" charset="-122"/>
              <a:cs typeface="Times New Roman" panose="02020603050405020304" pitchFamily="18" charset="0"/>
            </a:endParaRPr>
          </a:p>
        </p:txBody>
      </p:sp>
      <p:sp>
        <p:nvSpPr>
          <p:cNvPr id="8" name="标题 1">
            <a:extLst>
              <a:ext uri="{FF2B5EF4-FFF2-40B4-BE49-F238E27FC236}">
                <a16:creationId xmlns:a16="http://schemas.microsoft.com/office/drawing/2014/main" id="{315FFD52-BA90-4E08-AAA9-88A511397E3A}"/>
              </a:ext>
            </a:extLst>
          </p:cNvPr>
          <p:cNvSpPr>
            <a:spLocks noGrp="1"/>
          </p:cNvSpPr>
          <p:nvPr>
            <p:ph type="title"/>
          </p:nvPr>
        </p:nvSpPr>
        <p:spPr>
          <a:xfrm>
            <a:off x="660400" y="0"/>
            <a:ext cx="10469880" cy="1325563"/>
          </a:xfrm>
        </p:spPr>
        <p:txBody>
          <a:bodyPr>
            <a:normAutofit/>
          </a:bodyPr>
          <a:lstStyle/>
          <a:p>
            <a:r>
              <a:rPr lang="zh-CN" altLang="en-US" sz="3600" b="1" dirty="0">
                <a:latin typeface="宋体" panose="02010600030101010101" pitchFamily="2" charset="-122"/>
                <a:ea typeface="宋体" panose="02010600030101010101" pitchFamily="2" charset="-122"/>
              </a:rPr>
              <a:t>新环境下的目录学研究</a:t>
            </a:r>
          </a:p>
        </p:txBody>
      </p:sp>
      <p:sp>
        <p:nvSpPr>
          <p:cNvPr id="9" name="矩形 8">
            <a:extLst>
              <a:ext uri="{FF2B5EF4-FFF2-40B4-BE49-F238E27FC236}">
                <a16:creationId xmlns:a16="http://schemas.microsoft.com/office/drawing/2014/main" id="{2565AC31-5A74-4F80-A193-9258DBE8AD81}"/>
              </a:ext>
            </a:extLst>
          </p:cNvPr>
          <p:cNvSpPr/>
          <p:nvPr/>
        </p:nvSpPr>
        <p:spPr>
          <a:xfrm>
            <a:off x="6187440" y="401171"/>
            <a:ext cx="2483594" cy="523220"/>
          </a:xfrm>
          <a:prstGeom prst="rect">
            <a:avLst/>
          </a:prstGeom>
        </p:spPr>
        <p:txBody>
          <a:bodyPr wrap="square">
            <a:spAutoFit/>
          </a:bodyPr>
          <a:lstStyle/>
          <a:p>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数字目录学</a:t>
            </a:r>
            <a:endPar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9204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DC220BA-D77A-458C-842E-50F0B5AAAD91}"/>
              </a:ext>
            </a:extLst>
          </p:cNvPr>
          <p:cNvSpPr txBox="1"/>
          <p:nvPr/>
        </p:nvSpPr>
        <p:spPr>
          <a:xfrm>
            <a:off x="6946852" y="2024578"/>
            <a:ext cx="5039360" cy="707886"/>
          </a:xfrm>
          <a:prstGeom prst="rect">
            <a:avLst/>
          </a:prstGeom>
          <a:noFill/>
        </p:spPr>
        <p:txBody>
          <a:bodyPr wrap="square" rtlCol="0">
            <a:spAutoFit/>
          </a:bodyPr>
          <a:lstStyle/>
          <a:p>
            <a:endParaRPr lang="en-US" altLang="zh-CN" sz="2000" dirty="0">
              <a:latin typeface="宋体" panose="02010600030101010101" pitchFamily="2" charset="-122"/>
              <a:ea typeface="宋体" panose="02010600030101010101" pitchFamily="2" charset="-122"/>
            </a:endParaRPr>
          </a:p>
          <a:p>
            <a:endParaRPr lang="en-US" altLang="zh-CN" sz="2000" dirty="0">
              <a:latin typeface="宋体" panose="02010600030101010101" pitchFamily="2" charset="-122"/>
              <a:ea typeface="宋体" panose="02010600030101010101" pitchFamily="2" charset="-122"/>
            </a:endParaRPr>
          </a:p>
        </p:txBody>
      </p:sp>
      <p:sp>
        <p:nvSpPr>
          <p:cNvPr id="10" name="标题 1">
            <a:extLst>
              <a:ext uri="{FF2B5EF4-FFF2-40B4-BE49-F238E27FC236}">
                <a16:creationId xmlns:a16="http://schemas.microsoft.com/office/drawing/2014/main" id="{21EC7EE9-5EB3-4E7F-9E4A-D0DE4FEB5ECB}"/>
              </a:ext>
            </a:extLst>
          </p:cNvPr>
          <p:cNvSpPr>
            <a:spLocks noGrp="1"/>
          </p:cNvSpPr>
          <p:nvPr>
            <p:ph type="title"/>
          </p:nvPr>
        </p:nvSpPr>
        <p:spPr>
          <a:xfrm>
            <a:off x="660400" y="0"/>
            <a:ext cx="10469880" cy="1325563"/>
          </a:xfrm>
        </p:spPr>
        <p:txBody>
          <a:bodyPr>
            <a:normAutofit/>
          </a:bodyPr>
          <a:lstStyle/>
          <a:p>
            <a:r>
              <a:rPr lang="zh-CN" altLang="en-US" sz="3600" b="1" dirty="0">
                <a:latin typeface="宋体" panose="02010600030101010101" pitchFamily="2" charset="-122"/>
                <a:ea typeface="宋体" panose="02010600030101010101" pitchFamily="2" charset="-122"/>
              </a:rPr>
              <a:t>新环境下的目录学研究</a:t>
            </a:r>
          </a:p>
        </p:txBody>
      </p:sp>
      <p:sp>
        <p:nvSpPr>
          <p:cNvPr id="11" name="矩形 10">
            <a:extLst>
              <a:ext uri="{FF2B5EF4-FFF2-40B4-BE49-F238E27FC236}">
                <a16:creationId xmlns:a16="http://schemas.microsoft.com/office/drawing/2014/main" id="{80547F4E-5F86-4C45-A128-557B6DE7C616}"/>
              </a:ext>
            </a:extLst>
          </p:cNvPr>
          <p:cNvSpPr/>
          <p:nvPr/>
        </p:nvSpPr>
        <p:spPr>
          <a:xfrm>
            <a:off x="6766560" y="401171"/>
            <a:ext cx="2397760" cy="523220"/>
          </a:xfrm>
          <a:prstGeom prst="rect">
            <a:avLst/>
          </a:prstGeom>
        </p:spPr>
        <p:txBody>
          <a:bodyPr wrap="square">
            <a:spAutoFit/>
          </a:bodyPr>
          <a:lstStyle/>
          <a:p>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目录实践</a:t>
            </a:r>
            <a:endPar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矩形 3">
            <a:extLst>
              <a:ext uri="{FF2B5EF4-FFF2-40B4-BE49-F238E27FC236}">
                <a16:creationId xmlns:a16="http://schemas.microsoft.com/office/drawing/2014/main" id="{4C75BC6B-6716-4F81-A6A1-1DAA718E0F73}"/>
              </a:ext>
            </a:extLst>
          </p:cNvPr>
          <p:cNvSpPr/>
          <p:nvPr/>
        </p:nvSpPr>
        <p:spPr>
          <a:xfrm>
            <a:off x="1045527" y="1101873"/>
            <a:ext cx="10084753" cy="5447645"/>
          </a:xfrm>
          <a:prstGeom prst="rect">
            <a:avLst/>
          </a:prstGeom>
        </p:spPr>
        <p:txBody>
          <a:bodyPr wrap="square">
            <a:spAutoFit/>
          </a:bodyPr>
          <a:lstStyle/>
          <a:p>
            <a:r>
              <a:rPr lang="en-US" altLang="zh-CN" dirty="0" err="1">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Siabato</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 W, </a:t>
            </a:r>
            <a:r>
              <a:rPr lang="en-US" altLang="zh-CN" dirty="0" err="1">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Claramunt</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 C, </a:t>
            </a:r>
            <a:r>
              <a:rPr lang="en-US" altLang="zh-CN" dirty="0" err="1">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Manso‐Callejo</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 M Á, et al. </a:t>
            </a:r>
            <a:r>
              <a:rPr lang="en-US" altLang="zh-CN" dirty="0" err="1">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TimeBliography</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 A dynamic and online bibliography on temporal GIS[J]. Transactions in </a:t>
            </a:r>
            <a:r>
              <a:rPr lang="en-US" altLang="zh-CN" dirty="0" err="1">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Gis</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 2015, 18(6): 799-816.</a:t>
            </a:r>
            <a:endParaRPr lang="zh-CN"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构建了基于时态地理信息系统的网络目录</a:t>
            </a:r>
            <a:r>
              <a:rPr lang="en-US" altLang="zh-CN" sz="2200" kern="100" spc="2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TimeBliography</a:t>
            </a:r>
            <a:r>
              <a:rPr lang="zh-CN" altLang="en-US"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10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b="1"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err="1">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Möhrs</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 C. Online bibliography of electronic lexicography: The project </a:t>
            </a:r>
            <a:r>
              <a:rPr lang="en-US" altLang="zh-CN" dirty="0" err="1">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OBELEXmeta</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 2016</a:t>
            </a:r>
            <a:endParaRPr lang="en-US" altLang="zh-CN" kern="100" spc="20"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介绍了用于协助电子词典编纂的目录数据库的应用</a:t>
            </a:r>
            <a:r>
              <a:rPr lang="zh-CN" altLang="en-US"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b="1"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b="1"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err="1">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BoberićKrstićev</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 D, </a:t>
            </a:r>
            <a:r>
              <a:rPr lang="en-US" altLang="zh-CN" dirty="0" err="1">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Tešendić</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 D. Mixed approach in creating a university union catalogue[J]. Electronic Library, 2015, 33(6): 970-989.</a:t>
            </a:r>
            <a:endParaRPr lang="en-US" altLang="zh-CN" kern="100" spc="20"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结合虚拟和物理</a:t>
            </a:r>
            <a:r>
              <a:rPr lang="zh-CN" altLang="zh-CN" sz="2200" b="1" kern="100" spc="2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联合目录</a:t>
            </a:r>
            <a:r>
              <a:rPr lang="zh-CN" altLang="zh-CN"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的思想建立了包含</a:t>
            </a:r>
            <a:r>
              <a:rPr lang="en-US" altLang="zh-CN"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14</a:t>
            </a:r>
            <a:r>
              <a:rPr lang="zh-CN" altLang="zh-CN"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个图书馆馆藏的高校联合目录</a:t>
            </a:r>
            <a:r>
              <a:rPr lang="zh-CN" altLang="en-US"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10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b="1"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Marshall Breeding  2018  Library Systems Report: New technologies enable an expanded vision of library services.</a:t>
            </a:r>
          </a:p>
          <a:p>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当前的主流</a:t>
            </a:r>
            <a:r>
              <a:rPr lang="zh-CN"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自动化</a:t>
            </a:r>
            <a:r>
              <a:rPr lang="zh-CN" altLang="en-US"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编目</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系统有</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Alma</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WMS</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err="1">
                <a:latin typeface="Times New Roman" panose="02020603050405020304" pitchFamily="18" charset="0"/>
                <a:ea typeface="宋体" panose="02010600030101010101" pitchFamily="2" charset="-122"/>
                <a:cs typeface="Times New Roman" panose="02020603050405020304" pitchFamily="18" charset="0"/>
              </a:rPr>
              <a:t>BLUEcloud</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Sierra</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等</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10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b="1"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姜恩波</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2015《</a:t>
            </a:r>
            <a:r>
              <a:rPr lang="zh-CN"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欧美国家级图书情报机构资源关联数据化比较研究</a:t>
            </a:r>
            <a:r>
              <a:rPr lang="en-US"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rPr>
              <a:t>图书馆建设</a:t>
            </a:r>
            <a:endParaRPr lang="en-US" altLang="zh-CN" kern="100" spc="20" dirty="0">
              <a:solidFill>
                <a:schemeClr val="accent1"/>
              </a:solidFill>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200" dirty="0">
                <a:latin typeface="Times New Roman" panose="02020603050405020304" pitchFamily="18" charset="0"/>
                <a:ea typeface="宋体" panose="02010600030101010101" pitchFamily="2" charset="-122"/>
                <a:cs typeface="Times New Roman" panose="02020603050405020304" pitchFamily="18" charset="0"/>
              </a:rPr>
              <a:t>英国、法国、德国、意大利、西班牙等许多欧美国家图书馆都已经采用人工方式与自动方式相结合对书目数据进行</a:t>
            </a:r>
            <a:r>
              <a:rPr lang="zh-CN" altLang="zh-CN" sz="22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关联</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200" kern="100" spc="2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07807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DC220BA-D77A-458C-842E-50F0B5AAAD91}"/>
              </a:ext>
            </a:extLst>
          </p:cNvPr>
          <p:cNvSpPr txBox="1"/>
          <p:nvPr/>
        </p:nvSpPr>
        <p:spPr>
          <a:xfrm>
            <a:off x="6946852" y="2024578"/>
            <a:ext cx="5039360" cy="707886"/>
          </a:xfrm>
          <a:prstGeom prst="rect">
            <a:avLst/>
          </a:prstGeom>
          <a:noFill/>
        </p:spPr>
        <p:txBody>
          <a:bodyPr wrap="square" rtlCol="0">
            <a:spAutoFit/>
          </a:bodyPr>
          <a:lstStyle/>
          <a:p>
            <a:endParaRPr lang="en-US" altLang="zh-CN" sz="2000" dirty="0">
              <a:latin typeface="宋体" panose="02010600030101010101" pitchFamily="2" charset="-122"/>
              <a:ea typeface="宋体" panose="02010600030101010101" pitchFamily="2" charset="-122"/>
            </a:endParaRPr>
          </a:p>
          <a:p>
            <a:endParaRPr lang="en-US" altLang="zh-CN" sz="2000" dirty="0">
              <a:latin typeface="宋体" panose="02010600030101010101" pitchFamily="2" charset="-122"/>
              <a:ea typeface="宋体" panose="02010600030101010101" pitchFamily="2" charset="-122"/>
            </a:endParaRPr>
          </a:p>
        </p:txBody>
      </p:sp>
      <p:sp>
        <p:nvSpPr>
          <p:cNvPr id="2" name="矩形 1">
            <a:extLst>
              <a:ext uri="{FF2B5EF4-FFF2-40B4-BE49-F238E27FC236}">
                <a16:creationId xmlns:a16="http://schemas.microsoft.com/office/drawing/2014/main" id="{7E449DE2-F845-469C-92F3-A8446B2D4828}"/>
              </a:ext>
            </a:extLst>
          </p:cNvPr>
          <p:cNvSpPr/>
          <p:nvPr/>
        </p:nvSpPr>
        <p:spPr>
          <a:xfrm>
            <a:off x="861060" y="1305341"/>
            <a:ext cx="10469880" cy="4493538"/>
          </a:xfrm>
          <a:prstGeom prst="rect">
            <a:avLst/>
          </a:prstGeom>
        </p:spPr>
        <p:txBody>
          <a:bodyPr wrap="square">
            <a:spAutoFit/>
          </a:bodyPr>
          <a:lstStyle/>
          <a:p>
            <a:pPr algn="just"/>
            <a:r>
              <a:rPr lang="zh-CN" altLang="zh-CN" sz="2200" b="1" dirty="0">
                <a:solidFill>
                  <a:schemeClr val="accent1"/>
                </a:solidFill>
                <a:latin typeface="宋体" panose="02010600030101010101" pitchFamily="2" charset="-122"/>
                <a:ea typeface="宋体" panose="02010600030101010101" pitchFamily="2" charset="-122"/>
              </a:rPr>
              <a:t>成全</a:t>
            </a:r>
            <a:r>
              <a:rPr lang="zh-CN" altLang="en-US" sz="2200" b="1" dirty="0">
                <a:solidFill>
                  <a:schemeClr val="accent1"/>
                </a:solidFill>
                <a:latin typeface="宋体" panose="02010600030101010101" pitchFamily="2" charset="-122"/>
                <a:ea typeface="宋体" panose="02010600030101010101" pitchFamily="2" charset="-122"/>
              </a:rPr>
              <a:t>等</a:t>
            </a:r>
            <a:r>
              <a:rPr lang="en-US" altLang="zh-CN" sz="2200" b="1" dirty="0">
                <a:solidFill>
                  <a:schemeClr val="accent1"/>
                </a:solidFill>
                <a:latin typeface="宋体" panose="02010600030101010101" pitchFamily="2" charset="-122"/>
                <a:ea typeface="宋体" panose="02010600030101010101" pitchFamily="2" charset="-122"/>
              </a:rPr>
              <a:t>2015《</a:t>
            </a:r>
            <a:r>
              <a:rPr lang="zh-CN" altLang="zh-CN" sz="2200" b="1" dirty="0">
                <a:solidFill>
                  <a:schemeClr val="accent1"/>
                </a:solidFill>
                <a:latin typeface="宋体" panose="02010600030101010101" pitchFamily="2" charset="-122"/>
                <a:ea typeface="宋体" panose="02010600030101010101" pitchFamily="2" charset="-122"/>
              </a:rPr>
              <a:t>馆藏资源元数据语义描述及关联网络构建模型研究</a:t>
            </a:r>
            <a:r>
              <a:rPr lang="en-US" altLang="zh-CN" sz="2200" b="1" dirty="0">
                <a:solidFill>
                  <a:schemeClr val="accent1"/>
                </a:solidFill>
                <a:latin typeface="宋体" panose="02010600030101010101" pitchFamily="2" charset="-122"/>
                <a:ea typeface="宋体" panose="02010600030101010101" pitchFamily="2" charset="-122"/>
              </a:rPr>
              <a:t>》</a:t>
            </a:r>
            <a:r>
              <a:rPr lang="zh-CN" altLang="zh-CN" sz="2200" b="1" dirty="0">
                <a:solidFill>
                  <a:schemeClr val="accent1"/>
                </a:solidFill>
                <a:latin typeface="宋体" panose="02010600030101010101" pitchFamily="2" charset="-122"/>
                <a:ea typeface="宋体" panose="02010600030101010101" pitchFamily="2" charset="-122"/>
              </a:rPr>
              <a:t>情报理论与实践</a:t>
            </a:r>
            <a:endParaRPr lang="en-US" altLang="zh-CN" sz="2200" b="1" dirty="0">
              <a:solidFill>
                <a:schemeClr val="accent1"/>
              </a:solidFill>
              <a:latin typeface="宋体" panose="02010600030101010101" pitchFamily="2" charset="-122"/>
              <a:ea typeface="宋体" panose="02010600030101010101" pitchFamily="2" charset="-122"/>
            </a:endParaRPr>
          </a:p>
          <a:p>
            <a:pPr algn="just"/>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建立了馆藏资源元数据描述和构建</a:t>
            </a:r>
            <a:r>
              <a:rPr lang="zh-CN" altLang="zh-CN" sz="2200" b="1" dirty="0">
                <a:solidFill>
                  <a:srgbClr val="FF0000"/>
                </a:solidFill>
                <a:latin typeface="宋体" panose="02010600030101010101" pitchFamily="2" charset="-122"/>
                <a:ea typeface="宋体" panose="02010600030101010101" pitchFamily="2" charset="-122"/>
              </a:rPr>
              <a:t>关联</a:t>
            </a:r>
            <a:r>
              <a:rPr lang="zh-CN" altLang="zh-CN" sz="2200" dirty="0">
                <a:latin typeface="宋体" panose="02010600030101010101" pitchFamily="2" charset="-122"/>
                <a:ea typeface="宋体" panose="02010600030101010101" pitchFamily="2" charset="-122"/>
              </a:rPr>
              <a:t>网络的模型。目录与文献信息之间先根据相似度算法把元数据主题进行归类，再应用相关自动关联算法，按照主题相似度实现目录与元数据的自动关联。</a:t>
            </a:r>
            <a:endParaRPr lang="en-US" altLang="zh-CN" sz="2200" dirty="0">
              <a:latin typeface="宋体" panose="02010600030101010101" pitchFamily="2" charset="-122"/>
              <a:ea typeface="宋体" panose="02010600030101010101" pitchFamily="2" charset="-122"/>
            </a:endParaRPr>
          </a:p>
          <a:p>
            <a:pPr algn="just"/>
            <a:endPar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algn="just"/>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马士振等</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2015《</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基于</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Django</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框架的可视化地震目录服务系统</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震灾防御技术</a:t>
            </a:r>
            <a:endPar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algn="just"/>
            <a:r>
              <a:rPr lang="en-US" altLang="zh-CN" sz="2200" dirty="0">
                <a:latin typeface="宋体" panose="02010600030101010101" pitchFamily="2" charset="-122"/>
                <a:ea typeface="宋体" panose="02010600030101010101" pitchFamily="2" charset="-122"/>
                <a:cs typeface="Times New Roman" panose="02020603050405020304" pitchFamily="18" charset="0"/>
              </a:rPr>
              <a:t>    </a:t>
            </a:r>
            <a:r>
              <a:rPr lang="zh-CN" altLang="zh-CN" sz="2200" dirty="0">
                <a:latin typeface="宋体" panose="02010600030101010101" pitchFamily="2" charset="-122"/>
                <a:ea typeface="宋体" panose="02010600030101010101" pitchFamily="2" charset="-122"/>
                <a:cs typeface="Times New Roman" panose="02020603050405020304" pitchFamily="18" charset="0"/>
              </a:rPr>
              <a:t>构建了</a:t>
            </a:r>
            <a:r>
              <a:rPr lang="zh-CN" altLang="zh-CN" sz="2200" b="1" dirty="0">
                <a:solidFill>
                  <a:srgbClr val="FF0000"/>
                </a:solidFill>
                <a:latin typeface="宋体" panose="02010600030101010101" pitchFamily="2" charset="-122"/>
                <a:ea typeface="宋体" panose="02010600030101010101" pitchFamily="2" charset="-122"/>
                <a:cs typeface="Times New Roman" panose="02020603050405020304" pitchFamily="18" charset="0"/>
              </a:rPr>
              <a:t>可视化</a:t>
            </a:r>
            <a:r>
              <a:rPr lang="zh-CN" altLang="zh-CN" sz="2200" dirty="0">
                <a:latin typeface="宋体" panose="02010600030101010101" pitchFamily="2" charset="-122"/>
                <a:ea typeface="宋体" panose="02010600030101010101" pitchFamily="2" charset="-122"/>
                <a:cs typeface="Times New Roman" panose="02020603050405020304" pitchFamily="18" charset="0"/>
              </a:rPr>
              <a:t>地震目录服务系统可以将地震目录数据图像化展示，在</a:t>
            </a:r>
            <a:r>
              <a:rPr lang="en-US" altLang="zh-CN" sz="2200" dirty="0">
                <a:latin typeface="宋体" panose="02010600030101010101" pitchFamily="2" charset="-122"/>
                <a:ea typeface="宋体" panose="02010600030101010101" pitchFamily="2" charset="-122"/>
                <a:cs typeface="Times New Roman" panose="02020603050405020304" pitchFamily="18" charset="0"/>
              </a:rPr>
              <a:t>2014</a:t>
            </a:r>
            <a:r>
              <a:rPr lang="zh-CN" altLang="zh-CN" sz="2200" dirty="0">
                <a:latin typeface="宋体" panose="02010600030101010101" pitchFamily="2" charset="-122"/>
                <a:ea typeface="宋体" panose="02010600030101010101" pitchFamily="2" charset="-122"/>
                <a:cs typeface="Times New Roman" panose="02020603050405020304" pitchFamily="18" charset="0"/>
              </a:rPr>
              <a:t>年</a:t>
            </a:r>
            <a:r>
              <a:rPr lang="en-US" altLang="zh-CN" sz="2200" dirty="0">
                <a:latin typeface="宋体" panose="02010600030101010101" pitchFamily="2" charset="-122"/>
                <a:ea typeface="宋体" panose="02010600030101010101" pitchFamily="2" charset="-122"/>
                <a:cs typeface="Times New Roman" panose="02020603050405020304" pitchFamily="18" charset="0"/>
              </a:rPr>
              <a:t>9</a:t>
            </a:r>
            <a:r>
              <a:rPr lang="zh-CN" altLang="zh-CN" sz="2200" dirty="0">
                <a:latin typeface="宋体" panose="02010600030101010101" pitchFamily="2" charset="-122"/>
                <a:ea typeface="宋体" panose="02010600030101010101" pitchFamily="2" charset="-122"/>
                <a:cs typeface="Times New Roman" panose="02020603050405020304" pitchFamily="18" charset="0"/>
              </a:rPr>
              <a:t>月</a:t>
            </a:r>
            <a:r>
              <a:rPr lang="en-US" altLang="zh-CN" sz="2200" dirty="0">
                <a:latin typeface="宋体" panose="02010600030101010101" pitchFamily="2" charset="-122"/>
                <a:ea typeface="宋体" panose="02010600030101010101" pitchFamily="2" charset="-122"/>
                <a:cs typeface="Times New Roman" panose="02020603050405020304" pitchFamily="18" charset="0"/>
              </a:rPr>
              <a:t>6</a:t>
            </a:r>
            <a:r>
              <a:rPr lang="zh-CN" altLang="zh-CN" sz="2200" dirty="0">
                <a:latin typeface="宋体" panose="02010600030101010101" pitchFamily="2" charset="-122"/>
                <a:ea typeface="宋体" panose="02010600030101010101" pitchFamily="2" charset="-122"/>
                <a:cs typeface="Times New Roman" panose="02020603050405020304" pitchFamily="18" charset="0"/>
              </a:rPr>
              <a:t>日河北涿鹿地震以及平时的地震监测中均发挥了作用</a:t>
            </a:r>
            <a:r>
              <a:rPr lang="zh-CN" altLang="en-US" sz="22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200" dirty="0">
              <a:latin typeface="宋体" panose="02010600030101010101" pitchFamily="2" charset="-122"/>
              <a:ea typeface="宋体" panose="02010600030101010101" pitchFamily="2" charset="-122"/>
              <a:cs typeface="Times New Roman" panose="02020603050405020304" pitchFamily="18" charset="0"/>
            </a:endParaRPr>
          </a:p>
          <a:p>
            <a:pPr algn="just"/>
            <a:endPar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algn="just"/>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孟群等</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2017《</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我国健康医疗大数据资源目录体系建设研究</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中国卫生信息管理杂志</a:t>
            </a:r>
            <a:endParaRPr lang="en-US" altLang="zh-CN" sz="2200" b="1" kern="100" spc="20"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r>
              <a:rPr lang="en-US" altLang="zh-CN" sz="2200" kern="100" spc="20" dirty="0">
                <a:solidFill>
                  <a:srgbClr val="000000"/>
                </a:solidFill>
                <a:latin typeface="宋体" panose="02010600030101010101" pitchFamily="2" charset="-122"/>
                <a:ea typeface="宋体" panose="02010600030101010101" pitchFamily="2" charset="-122"/>
                <a:cs typeface="Times New Roman" panose="02020603050405020304" pitchFamily="18" charset="0"/>
              </a:rPr>
              <a:t>    </a:t>
            </a:r>
            <a:r>
              <a:rPr lang="zh-CN" altLang="zh-CN" sz="2200" kern="100" spc="20" dirty="0">
                <a:solidFill>
                  <a:srgbClr val="000000"/>
                </a:solidFill>
                <a:latin typeface="宋体" panose="02010600030101010101" pitchFamily="2" charset="-122"/>
                <a:ea typeface="宋体" panose="02010600030101010101" pitchFamily="2" charset="-122"/>
                <a:cs typeface="Times New Roman" panose="02020603050405020304" pitchFamily="18" charset="0"/>
              </a:rPr>
              <a:t>分析国外大数据资源目录体系的组成元素，构建了包含数据资源内容、表示、责任、管理和获取的五维度模型，并根据模型建立了我国健康医疗大数据资源目录元数据库，方便对健康医疗的信息资源进行统一管理。</a:t>
            </a:r>
            <a:endParaRPr lang="en-US" altLang="zh-CN" sz="2200" kern="100" spc="20" dirty="0">
              <a:solidFill>
                <a:srgbClr val="000000"/>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87DFC691-7680-473A-A456-B679F5C047A8}"/>
              </a:ext>
            </a:extLst>
          </p:cNvPr>
          <p:cNvSpPr>
            <a:spLocks noGrp="1"/>
          </p:cNvSpPr>
          <p:nvPr>
            <p:ph type="title"/>
          </p:nvPr>
        </p:nvSpPr>
        <p:spPr>
          <a:xfrm>
            <a:off x="660400" y="0"/>
            <a:ext cx="10469880" cy="1325563"/>
          </a:xfrm>
        </p:spPr>
        <p:txBody>
          <a:bodyPr>
            <a:normAutofit/>
          </a:bodyPr>
          <a:lstStyle/>
          <a:p>
            <a:r>
              <a:rPr lang="zh-CN" altLang="en-US" sz="3600" b="1" dirty="0">
                <a:latin typeface="宋体" panose="02010600030101010101" pitchFamily="2" charset="-122"/>
                <a:ea typeface="宋体" panose="02010600030101010101" pitchFamily="2" charset="-122"/>
              </a:rPr>
              <a:t>新环境下的目录学研究</a:t>
            </a:r>
          </a:p>
        </p:txBody>
      </p:sp>
      <p:sp>
        <p:nvSpPr>
          <p:cNvPr id="11" name="矩形 10">
            <a:extLst>
              <a:ext uri="{FF2B5EF4-FFF2-40B4-BE49-F238E27FC236}">
                <a16:creationId xmlns:a16="http://schemas.microsoft.com/office/drawing/2014/main" id="{A5FBEE90-7E49-44E5-B34C-9DC8EA21A990}"/>
              </a:ext>
            </a:extLst>
          </p:cNvPr>
          <p:cNvSpPr/>
          <p:nvPr/>
        </p:nvSpPr>
        <p:spPr>
          <a:xfrm>
            <a:off x="6766560" y="401171"/>
            <a:ext cx="2397760" cy="523220"/>
          </a:xfrm>
          <a:prstGeom prst="rect">
            <a:avLst/>
          </a:prstGeom>
        </p:spPr>
        <p:txBody>
          <a:bodyPr wrap="square">
            <a:spAutoFit/>
          </a:bodyPr>
          <a:lstStyle/>
          <a:p>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目录实践</a:t>
            </a:r>
            <a:endPar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19294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DC220BA-D77A-458C-842E-50F0B5AAAD91}"/>
              </a:ext>
            </a:extLst>
          </p:cNvPr>
          <p:cNvSpPr txBox="1"/>
          <p:nvPr/>
        </p:nvSpPr>
        <p:spPr>
          <a:xfrm>
            <a:off x="6946852" y="2024578"/>
            <a:ext cx="5039360" cy="707886"/>
          </a:xfrm>
          <a:prstGeom prst="rect">
            <a:avLst/>
          </a:prstGeom>
          <a:noFill/>
        </p:spPr>
        <p:txBody>
          <a:bodyPr wrap="square" rtlCol="0">
            <a:spAutoFit/>
          </a:bodyPr>
          <a:lstStyle/>
          <a:p>
            <a:endParaRPr lang="en-US" altLang="zh-CN" sz="2000" dirty="0">
              <a:latin typeface="宋体" panose="02010600030101010101" pitchFamily="2" charset="-122"/>
              <a:ea typeface="宋体" panose="02010600030101010101" pitchFamily="2" charset="-122"/>
            </a:endParaRPr>
          </a:p>
          <a:p>
            <a:endParaRPr lang="en-US" altLang="zh-CN" sz="2000" dirty="0">
              <a:latin typeface="宋体" panose="02010600030101010101" pitchFamily="2" charset="-122"/>
              <a:ea typeface="宋体" panose="02010600030101010101" pitchFamily="2" charset="-122"/>
            </a:endParaRPr>
          </a:p>
        </p:txBody>
      </p:sp>
      <p:sp>
        <p:nvSpPr>
          <p:cNvPr id="2" name="矩形 1">
            <a:extLst>
              <a:ext uri="{FF2B5EF4-FFF2-40B4-BE49-F238E27FC236}">
                <a16:creationId xmlns:a16="http://schemas.microsoft.com/office/drawing/2014/main" id="{259B8AA7-5FD2-4558-983C-D53D50AA56F7}"/>
              </a:ext>
            </a:extLst>
          </p:cNvPr>
          <p:cNvSpPr/>
          <p:nvPr/>
        </p:nvSpPr>
        <p:spPr>
          <a:xfrm>
            <a:off x="904240" y="1172041"/>
            <a:ext cx="10383520" cy="4770537"/>
          </a:xfrm>
          <a:prstGeom prst="rect">
            <a:avLst/>
          </a:prstGeom>
        </p:spPr>
        <p:txBody>
          <a:bodyPr wrap="square">
            <a:spAutoFit/>
          </a:bodyPr>
          <a:lstStyle/>
          <a:p>
            <a:pPr algn="just"/>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蔡迎春</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2018《</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数字人文视域下的图书馆特藏资源数字化建设</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以</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民国时期文献目录数据平台</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为例</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图书馆建设</a:t>
            </a:r>
            <a:endPar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2019《</a:t>
            </a:r>
            <a:r>
              <a:rPr lang="zh-CN" altLang="en-US"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民国时期文献目录数据平台的构建与实践</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en-US"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图书馆论坛</a:t>
            </a:r>
            <a:endPar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r>
              <a:rPr lang="en-US" altLang="zh-CN" sz="2200" dirty="0">
                <a:latin typeface="宋体" panose="02010600030101010101" pitchFamily="2" charset="-122"/>
                <a:ea typeface="宋体" panose="02010600030101010101" pitchFamily="2" charset="-122"/>
                <a:cs typeface="Times New Roman" panose="02020603050405020304" pitchFamily="18" charset="0"/>
              </a:rPr>
              <a:t>    </a:t>
            </a:r>
            <a:r>
              <a:rPr lang="zh-CN" altLang="zh-CN" sz="2200" dirty="0">
                <a:latin typeface="宋体" panose="02010600030101010101" pitchFamily="2" charset="-122"/>
                <a:ea typeface="宋体" panose="02010600030101010101" pitchFamily="2" charset="-122"/>
                <a:cs typeface="Times New Roman" panose="02020603050405020304" pitchFamily="18" charset="0"/>
              </a:rPr>
              <a:t>上海师范大学图书馆建立</a:t>
            </a:r>
            <a:r>
              <a:rPr lang="zh-CN" altLang="en-US" sz="2200" dirty="0">
                <a:latin typeface="宋体" panose="02010600030101010101" pitchFamily="2" charset="-122"/>
                <a:ea typeface="宋体" panose="02010600030101010101" pitchFamily="2" charset="-122"/>
                <a:cs typeface="Times New Roman" panose="02020603050405020304" pitchFamily="18" charset="0"/>
              </a:rPr>
              <a:t> </a:t>
            </a:r>
            <a:r>
              <a:rPr lang="en-US" altLang="zh-CN" sz="2200" dirty="0">
                <a:latin typeface="宋体" panose="02010600030101010101" pitchFamily="2" charset="-122"/>
                <a:ea typeface="宋体" panose="02010600030101010101" pitchFamily="2" charset="-122"/>
                <a:cs typeface="Times New Roman" panose="02020603050405020304" pitchFamily="18" charset="0"/>
              </a:rPr>
              <a:t>“</a:t>
            </a:r>
            <a:r>
              <a:rPr lang="zh-CN" altLang="zh-CN" sz="2200" dirty="0">
                <a:latin typeface="宋体" panose="02010600030101010101" pitchFamily="2" charset="-122"/>
                <a:ea typeface="宋体" panose="02010600030101010101" pitchFamily="2" charset="-122"/>
                <a:cs typeface="Times New Roman" panose="02020603050405020304" pitchFamily="18" charset="0"/>
              </a:rPr>
              <a:t>民国时期文献目录数据平台</a:t>
            </a:r>
            <a:r>
              <a:rPr lang="en-US" altLang="zh-CN" sz="2200" dirty="0">
                <a:latin typeface="宋体" panose="02010600030101010101" pitchFamily="2" charset="-122"/>
                <a:ea typeface="宋体" panose="02010600030101010101" pitchFamily="2" charset="-122"/>
                <a:cs typeface="Times New Roman" panose="02020603050405020304" pitchFamily="18" charset="0"/>
              </a:rPr>
              <a:t>”</a:t>
            </a:r>
            <a:r>
              <a:rPr lang="zh-CN" altLang="en-US" sz="2200" dirty="0">
                <a:latin typeface="宋体" panose="02010600030101010101" pitchFamily="2" charset="-122"/>
                <a:ea typeface="宋体" panose="02010600030101010101" pitchFamily="2" charset="-122"/>
                <a:cs typeface="Times New Roman" panose="02020603050405020304" pitchFamily="18" charset="0"/>
              </a:rPr>
              <a:t>。详细介绍了建设内容：底层数据集设计及元数据的选取、底层数据集设计及元数据的选取、</a:t>
            </a:r>
            <a:r>
              <a:rPr lang="en-US" altLang="zh-CN" sz="2200" dirty="0">
                <a:latin typeface="宋体" panose="02010600030101010101" pitchFamily="2" charset="-122"/>
                <a:ea typeface="宋体" panose="02010600030101010101" pitchFamily="2" charset="-122"/>
                <a:cs typeface="Times New Roman" panose="02020603050405020304" pitchFamily="18" charset="0"/>
              </a:rPr>
              <a:t>GIS</a:t>
            </a:r>
            <a:r>
              <a:rPr lang="zh-CN" altLang="en-US" sz="2200" dirty="0">
                <a:latin typeface="宋体" panose="02010600030101010101" pitchFamily="2" charset="-122"/>
                <a:ea typeface="宋体" panose="02010600030101010101" pitchFamily="2" charset="-122"/>
                <a:cs typeface="Times New Roman" panose="02020603050405020304" pitchFamily="18" charset="0"/>
              </a:rPr>
              <a:t>技术和可视化技术的应用。该平台的功能：完整呈现版本源流、文本分析、揭示各版本数据关联性。</a:t>
            </a:r>
            <a:endParaRPr lang="en-US" altLang="zh-CN" sz="2200" dirty="0">
              <a:latin typeface="宋体" panose="02010600030101010101" pitchFamily="2" charset="-122"/>
              <a:ea typeface="宋体" panose="02010600030101010101" pitchFamily="2" charset="-122"/>
              <a:cs typeface="Times New Roman" panose="02020603050405020304" pitchFamily="18" charset="0"/>
            </a:endParaRPr>
          </a:p>
          <a:p>
            <a:endPar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李丹</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 </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张茵</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2018《</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中西文图书控制号、索书号自动生成工具整合及优化</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图书馆理论与实践</a:t>
            </a:r>
            <a:endParaRPr lang="en-US" altLang="zh-CN" sz="2200" b="1" kern="100" spc="20"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西安交通大学研发使用了</a:t>
            </a:r>
            <a:r>
              <a:rPr lang="zh-CN" altLang="zh-CN" sz="2200" b="1" dirty="0">
                <a:solidFill>
                  <a:srgbClr val="FF0000"/>
                </a:solidFill>
                <a:latin typeface="宋体" panose="02010600030101010101" pitchFamily="2" charset="-122"/>
                <a:ea typeface="宋体" panose="02010600030101010101" pitchFamily="2" charset="-122"/>
              </a:rPr>
              <a:t>自动生成中西文图书著录项</a:t>
            </a:r>
            <a:r>
              <a:rPr lang="zh-CN" altLang="zh-CN" sz="2200" dirty="0">
                <a:latin typeface="宋体" panose="02010600030101010101" pitchFamily="2" charset="-122"/>
                <a:ea typeface="宋体" panose="02010600030101010101" pitchFamily="2" charset="-122"/>
              </a:rPr>
              <a:t>的工具</a:t>
            </a:r>
            <a:r>
              <a:rPr lang="en-US" altLang="zh-CN" sz="2200" dirty="0">
                <a:latin typeface="宋体" panose="02010600030101010101" pitchFamily="2" charset="-122"/>
                <a:ea typeface="宋体" panose="02010600030101010101" pitchFamily="2" charset="-122"/>
              </a:rPr>
              <a:t>CWCCAGT</a:t>
            </a:r>
            <a:r>
              <a:rPr lang="zh-CN" altLang="zh-CN" sz="2200" dirty="0">
                <a:latin typeface="宋体" panose="02010600030101010101" pitchFamily="2" charset="-122"/>
                <a:ea typeface="宋体" panose="02010600030101010101" pitchFamily="2" charset="-122"/>
              </a:rPr>
              <a:t>，弥补了旧编目软件兼容性和性能扩展度方面的缺陷，优化了</a:t>
            </a:r>
            <a:r>
              <a:rPr lang="zh-CN" altLang="zh-CN" sz="2200" b="1" dirty="0">
                <a:solidFill>
                  <a:srgbClr val="FF0000"/>
                </a:solidFill>
                <a:latin typeface="宋体" panose="02010600030101010101" pitchFamily="2" charset="-122"/>
                <a:ea typeface="宋体" panose="02010600030101010101" pitchFamily="2" charset="-122"/>
              </a:rPr>
              <a:t>编目</a:t>
            </a:r>
            <a:r>
              <a:rPr lang="zh-CN" altLang="zh-CN" sz="2200" dirty="0">
                <a:latin typeface="宋体" panose="02010600030101010101" pitchFamily="2" charset="-122"/>
                <a:ea typeface="宋体" panose="02010600030101010101" pitchFamily="2" charset="-122"/>
              </a:rPr>
              <a:t>工作，数据查询定位的速度也得到了提升。</a:t>
            </a:r>
            <a:endParaRPr lang="en-US" altLang="zh-CN" sz="2200" dirty="0">
              <a:latin typeface="宋体" panose="02010600030101010101" pitchFamily="2" charset="-122"/>
              <a:ea typeface="宋体" panose="02010600030101010101" pitchFamily="2" charset="-122"/>
            </a:endParaRPr>
          </a:p>
          <a:p>
            <a:endParaRPr lang="en-US" altLang="zh-CN" b="1"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9" name="标题 1">
            <a:extLst>
              <a:ext uri="{FF2B5EF4-FFF2-40B4-BE49-F238E27FC236}">
                <a16:creationId xmlns:a16="http://schemas.microsoft.com/office/drawing/2014/main" id="{993821B0-7D32-4FD9-AA3B-B7D1C9A70366}"/>
              </a:ext>
            </a:extLst>
          </p:cNvPr>
          <p:cNvSpPr>
            <a:spLocks noGrp="1"/>
          </p:cNvSpPr>
          <p:nvPr>
            <p:ph type="title"/>
          </p:nvPr>
        </p:nvSpPr>
        <p:spPr>
          <a:xfrm>
            <a:off x="660400" y="0"/>
            <a:ext cx="5435600" cy="1325563"/>
          </a:xfrm>
        </p:spPr>
        <p:txBody>
          <a:bodyPr>
            <a:normAutofit/>
          </a:bodyPr>
          <a:lstStyle/>
          <a:p>
            <a:r>
              <a:rPr lang="zh-CN" altLang="en-US" sz="3600" b="1" dirty="0">
                <a:latin typeface="宋体" panose="02010600030101010101" pitchFamily="2" charset="-122"/>
                <a:ea typeface="宋体" panose="02010600030101010101" pitchFamily="2" charset="-122"/>
              </a:rPr>
              <a:t>新环境下的目录学研究</a:t>
            </a:r>
          </a:p>
        </p:txBody>
      </p:sp>
      <p:sp>
        <p:nvSpPr>
          <p:cNvPr id="11" name="矩形 10">
            <a:extLst>
              <a:ext uri="{FF2B5EF4-FFF2-40B4-BE49-F238E27FC236}">
                <a16:creationId xmlns:a16="http://schemas.microsoft.com/office/drawing/2014/main" id="{09044762-A59B-457E-99C4-2E29AF39BD9E}"/>
              </a:ext>
            </a:extLst>
          </p:cNvPr>
          <p:cNvSpPr/>
          <p:nvPr/>
        </p:nvSpPr>
        <p:spPr>
          <a:xfrm>
            <a:off x="6766560" y="401171"/>
            <a:ext cx="2397760" cy="523220"/>
          </a:xfrm>
          <a:prstGeom prst="rect">
            <a:avLst/>
          </a:prstGeom>
        </p:spPr>
        <p:txBody>
          <a:bodyPr wrap="square">
            <a:spAutoFit/>
          </a:bodyPr>
          <a:lstStyle/>
          <a:p>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目录实践</a:t>
            </a:r>
            <a:endPar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6110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E1BB344-C727-4D64-A69E-483ABCD13C54}"/>
              </a:ext>
            </a:extLst>
          </p:cNvPr>
          <p:cNvSpPr>
            <a:spLocks noGrp="1"/>
          </p:cNvSpPr>
          <p:nvPr>
            <p:ph idx="1"/>
          </p:nvPr>
        </p:nvSpPr>
        <p:spPr>
          <a:xfrm>
            <a:off x="977900" y="1210318"/>
            <a:ext cx="10236200" cy="5078722"/>
          </a:xfrm>
        </p:spPr>
        <p:txBody>
          <a:bodyPr>
            <a:noAutofit/>
          </a:bodyPr>
          <a:lstStyle/>
          <a:p>
            <a:pPr marL="0" indent="0">
              <a:buNone/>
            </a:pP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霍珊</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2018《</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古医籍知识图谱目录数据库的研究</a:t>
            </a: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a:t>
            </a:r>
            <a:r>
              <a:rPr lang="zh-CN"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现代信息科技</a:t>
            </a:r>
            <a:endPar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endParaRPr>
          </a:p>
          <a:p>
            <a:pPr marL="0" indent="0">
              <a:buNone/>
            </a:pPr>
            <a:r>
              <a:rPr lang="en-US" altLang="zh-CN" sz="2200" b="1" dirty="0">
                <a:solidFill>
                  <a:schemeClr val="accent1"/>
                </a:solidFill>
                <a:latin typeface="宋体" panose="02010600030101010101" pitchFamily="2" charset="-122"/>
                <a:ea typeface="宋体" panose="02010600030101010101" pitchFamily="2" charset="-122"/>
                <a:cs typeface="Times New Roman" panose="02020603050405020304" pitchFamily="18" charset="0"/>
              </a:rPr>
              <a:t>    </a:t>
            </a:r>
            <a:r>
              <a:rPr lang="zh-CN" altLang="zh-CN" sz="2200" dirty="0">
                <a:latin typeface="宋体" panose="02010600030101010101" pitchFamily="2" charset="-122"/>
                <a:ea typeface="宋体" panose="02010600030101010101" pitchFamily="2" charset="-122"/>
              </a:rPr>
              <a:t>长春中医药大学图书馆设计古医籍目录数据库</a:t>
            </a:r>
            <a:r>
              <a:rPr lang="zh-CN" altLang="en-US"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基于中医药知识图谱建立了</a:t>
            </a:r>
            <a:r>
              <a:rPr lang="zh-CN" altLang="zh-CN" sz="2200" b="1" dirty="0">
                <a:solidFill>
                  <a:srgbClr val="FF0000"/>
                </a:solidFill>
                <a:latin typeface="宋体" panose="02010600030101010101" pitchFamily="2" charset="-122"/>
                <a:ea typeface="宋体" panose="02010600030101010101" pitchFamily="2" charset="-122"/>
              </a:rPr>
              <a:t>检索</a:t>
            </a:r>
            <a:r>
              <a:rPr lang="zh-CN" altLang="zh-CN" sz="2200" dirty="0">
                <a:latin typeface="宋体" panose="02010600030101010101" pitchFamily="2" charset="-122"/>
                <a:ea typeface="宋体" panose="02010600030101010101" pitchFamily="2" charset="-122"/>
              </a:rPr>
              <a:t>系统，部分实现了根据概念层面浏览中医药相关的知识资源，从而向用户提供了便捷的检索服务</a:t>
            </a:r>
            <a:r>
              <a:rPr lang="zh-CN" altLang="en-US" sz="2200" dirty="0">
                <a:latin typeface="宋体" panose="02010600030101010101" pitchFamily="2" charset="-122"/>
                <a:ea typeface="宋体" panose="02010600030101010101" pitchFamily="2" charset="-122"/>
              </a:rPr>
              <a:t>。</a:t>
            </a:r>
            <a:endParaRPr lang="en-US" altLang="zh-CN" sz="2200" kern="100" dirty="0">
              <a:latin typeface="宋体" panose="02010600030101010101" pitchFamily="2" charset="-122"/>
              <a:ea typeface="宋体" panose="02010600030101010101" pitchFamily="2" charset="-122"/>
              <a:cs typeface="Times New Roman" panose="02020603050405020304" pitchFamily="18" charset="0"/>
            </a:endParaRPr>
          </a:p>
          <a:p>
            <a:pPr marL="0" indent="0">
              <a:lnSpc>
                <a:spcPct val="100000"/>
              </a:lnSpc>
              <a:spcBef>
                <a:spcPts val="0"/>
              </a:spcBef>
              <a:buNone/>
            </a:pPr>
            <a:endParaRPr lang="en-US" altLang="zh-CN" sz="2200" b="1" dirty="0">
              <a:solidFill>
                <a:schemeClr val="accent1"/>
              </a:solidFill>
              <a:latin typeface="宋体" panose="02010600030101010101" pitchFamily="2" charset="-122"/>
              <a:ea typeface="宋体" panose="02010600030101010101" pitchFamily="2" charset="-122"/>
            </a:endParaRPr>
          </a:p>
          <a:p>
            <a:pPr marL="0" indent="0">
              <a:lnSpc>
                <a:spcPct val="100000"/>
              </a:lnSpc>
              <a:spcBef>
                <a:spcPts val="0"/>
              </a:spcBef>
              <a:buNone/>
            </a:pPr>
            <a:r>
              <a:rPr lang="zh-CN" altLang="zh-CN" sz="2200" b="1" dirty="0">
                <a:solidFill>
                  <a:schemeClr val="accent1"/>
                </a:solidFill>
                <a:latin typeface="宋体" panose="02010600030101010101" pitchFamily="2" charset="-122"/>
                <a:ea typeface="宋体" panose="02010600030101010101" pitchFamily="2" charset="-122"/>
              </a:rPr>
              <a:t>王彦力</a:t>
            </a:r>
            <a:r>
              <a:rPr lang="en-US" altLang="zh-CN" sz="2200" b="1" dirty="0">
                <a:solidFill>
                  <a:schemeClr val="accent1"/>
                </a:solidFill>
                <a:latin typeface="宋体" panose="02010600030101010101" pitchFamily="2" charset="-122"/>
                <a:ea typeface="宋体" panose="02010600030101010101" pitchFamily="2" charset="-122"/>
              </a:rPr>
              <a:t>2019《</a:t>
            </a:r>
            <a:r>
              <a:rPr lang="zh-CN" altLang="zh-CN" sz="2200" b="1" dirty="0">
                <a:solidFill>
                  <a:schemeClr val="accent1"/>
                </a:solidFill>
                <a:latin typeface="宋体" panose="02010600030101010101" pitchFamily="2" charset="-122"/>
                <a:ea typeface="宋体" panose="02010600030101010101" pitchFamily="2" charset="-122"/>
              </a:rPr>
              <a:t>纸电合一的图书馆目录创新应用与发展</a:t>
            </a:r>
            <a:r>
              <a:rPr lang="en-US" altLang="zh-CN" sz="2200" b="1" dirty="0">
                <a:solidFill>
                  <a:schemeClr val="accent1"/>
                </a:solidFill>
                <a:latin typeface="宋体" panose="02010600030101010101" pitchFamily="2" charset="-122"/>
                <a:ea typeface="宋体" panose="02010600030101010101" pitchFamily="2" charset="-122"/>
              </a:rPr>
              <a:t>》</a:t>
            </a:r>
            <a:r>
              <a:rPr lang="zh-CN" altLang="en-US" sz="2200" b="1" dirty="0">
                <a:solidFill>
                  <a:schemeClr val="accent1"/>
                </a:solidFill>
                <a:latin typeface="宋体" panose="02010600030101010101" pitchFamily="2" charset="-122"/>
                <a:ea typeface="宋体" panose="02010600030101010101" pitchFamily="2" charset="-122"/>
              </a:rPr>
              <a:t>图书情报工作</a:t>
            </a:r>
            <a:endParaRPr lang="en-US" altLang="zh-CN" sz="2200" b="1" dirty="0">
              <a:solidFill>
                <a:schemeClr val="accent1"/>
              </a:solidFill>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200" dirty="0">
                <a:latin typeface="宋体" panose="02010600030101010101" pitchFamily="2" charset="-122"/>
                <a:ea typeface="宋体" panose="02010600030101010101" pitchFamily="2" charset="-122"/>
              </a:rPr>
              <a:t>    重庆大学图书馆为了利用海量的数据储备、便捷的检索条件，为读者提供全方位服务，进行了</a:t>
            </a:r>
            <a:r>
              <a:rPr lang="zh-CN" altLang="en-US" sz="2200" b="1" dirty="0">
                <a:solidFill>
                  <a:srgbClr val="FF0000"/>
                </a:solidFill>
                <a:latin typeface="宋体" panose="02010600030101010101" pitchFamily="2" charset="-122"/>
                <a:ea typeface="宋体" panose="02010600030101010101" pitchFamily="2" charset="-122"/>
              </a:rPr>
              <a:t>纸电合一</a:t>
            </a:r>
            <a:r>
              <a:rPr lang="zh-CN" altLang="en-US" sz="2200" dirty="0">
                <a:latin typeface="宋体" panose="02010600030101010101" pitchFamily="2" charset="-122"/>
                <a:ea typeface="宋体" panose="02010600030101010101" pitchFamily="2" charset="-122"/>
              </a:rPr>
              <a:t>的图书馆目录建设，分为权益保障、著录标准、元数据存储三方面。</a:t>
            </a:r>
            <a:r>
              <a:rPr lang="zh-CN" altLang="zh-CN" sz="2200" dirty="0">
                <a:latin typeface="宋体" panose="02010600030101010101" pitchFamily="2" charset="-122"/>
                <a:ea typeface="宋体" panose="02010600030101010101" pitchFamily="2" charset="-122"/>
              </a:rPr>
              <a:t>截至</a:t>
            </a:r>
            <a:r>
              <a:rPr lang="en-US" altLang="zh-CN" sz="2200" dirty="0">
                <a:latin typeface="宋体" panose="02010600030101010101" pitchFamily="2" charset="-122"/>
                <a:ea typeface="宋体" panose="02010600030101010101" pitchFamily="2" charset="-122"/>
              </a:rPr>
              <a:t>2018</a:t>
            </a:r>
            <a:r>
              <a:rPr lang="zh-CN" altLang="zh-CN" sz="2200" dirty="0">
                <a:latin typeface="宋体" panose="02010600030101010101" pitchFamily="2" charset="-122"/>
                <a:ea typeface="宋体" panose="02010600030101010101" pitchFamily="2" charset="-122"/>
              </a:rPr>
              <a:t>年</a:t>
            </a:r>
            <a:r>
              <a:rPr lang="en-US" altLang="zh-CN" sz="2200" dirty="0">
                <a:latin typeface="宋体" panose="02010600030101010101" pitchFamily="2" charset="-122"/>
                <a:ea typeface="宋体" panose="02010600030101010101" pitchFamily="2" charset="-122"/>
              </a:rPr>
              <a:t>9</a:t>
            </a:r>
            <a:r>
              <a:rPr lang="zh-CN" altLang="zh-CN" sz="2200" dirty="0">
                <a:latin typeface="宋体" panose="02010600030101010101" pitchFamily="2" charset="-122"/>
                <a:ea typeface="宋体" panose="02010600030101010101" pitchFamily="2" charset="-122"/>
              </a:rPr>
              <a:t>月中旬，经过整合纸本和数字资源后最终生成的纸电合一文献目录表明，</a:t>
            </a:r>
            <a:r>
              <a:rPr lang="zh-CN" altLang="en-US" sz="2200" dirty="0">
                <a:latin typeface="宋体" panose="02010600030101010101" pitchFamily="2" charset="-122"/>
                <a:ea typeface="宋体" panose="02010600030101010101" pitchFamily="2" charset="-122"/>
              </a:rPr>
              <a:t>重庆大学图书馆</a:t>
            </a:r>
            <a:r>
              <a:rPr lang="zh-CN" altLang="zh-CN" sz="2200" dirty="0">
                <a:latin typeface="宋体" panose="02010600030101010101" pitchFamily="2" charset="-122"/>
                <a:ea typeface="宋体" panose="02010600030101010101" pitchFamily="2" charset="-122"/>
              </a:rPr>
              <a:t>馆藏资源已达到</a:t>
            </a:r>
            <a:r>
              <a:rPr lang="en-US" altLang="zh-CN" sz="2200" dirty="0">
                <a:latin typeface="宋体" panose="02010600030101010101" pitchFamily="2" charset="-122"/>
                <a:ea typeface="宋体" panose="02010600030101010101" pitchFamily="2" charset="-122"/>
              </a:rPr>
              <a:t>16757</a:t>
            </a:r>
            <a:r>
              <a:rPr lang="zh-CN" altLang="zh-CN" sz="2200" dirty="0">
                <a:latin typeface="宋体" panose="02010600030101010101" pitchFamily="2" charset="-122"/>
                <a:ea typeface="宋体" panose="02010600030101010101" pitchFamily="2" charset="-122"/>
              </a:rPr>
              <a:t>万馆藏单位</a:t>
            </a:r>
            <a:r>
              <a:rPr lang="zh-CN" altLang="en-US" sz="2200" dirty="0">
                <a:latin typeface="宋体" panose="02010600030101010101" pitchFamily="2" charset="-122"/>
                <a:ea typeface="宋体" panose="02010600030101010101" pitchFamily="2" charset="-122"/>
              </a:rPr>
              <a:t>。</a:t>
            </a:r>
            <a:endParaRPr lang="en-US" altLang="zh-CN" sz="2200" dirty="0">
              <a:latin typeface="宋体" panose="02010600030101010101" pitchFamily="2" charset="-122"/>
              <a:ea typeface="宋体" panose="02010600030101010101" pitchFamily="2" charset="-122"/>
            </a:endParaRPr>
          </a:p>
          <a:p>
            <a:pPr marL="0" indent="0">
              <a:lnSpc>
                <a:spcPct val="100000"/>
              </a:lnSpc>
              <a:spcBef>
                <a:spcPts val="0"/>
              </a:spcBef>
              <a:buNone/>
            </a:pPr>
            <a:endParaRPr lang="en-US" altLang="zh-CN" sz="22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200" b="1" dirty="0">
                <a:solidFill>
                  <a:schemeClr val="accent1"/>
                </a:solidFill>
                <a:latin typeface="宋体" panose="02010600030101010101" pitchFamily="2" charset="-122"/>
                <a:ea typeface="宋体" panose="02010600030101010101" pitchFamily="2" charset="-122"/>
              </a:rPr>
              <a:t>刘旭青</a:t>
            </a:r>
            <a:r>
              <a:rPr lang="en-US" altLang="zh-CN" sz="2200" b="1" dirty="0">
                <a:solidFill>
                  <a:schemeClr val="accent1"/>
                </a:solidFill>
                <a:latin typeface="宋体" panose="02010600030101010101" pitchFamily="2" charset="-122"/>
                <a:ea typeface="宋体" panose="02010600030101010101" pitchFamily="2" charset="-122"/>
              </a:rPr>
              <a:t>,</a:t>
            </a:r>
            <a:r>
              <a:rPr lang="zh-CN" altLang="en-US" sz="2200" b="1" dirty="0">
                <a:solidFill>
                  <a:schemeClr val="accent1"/>
                </a:solidFill>
                <a:latin typeface="宋体" panose="02010600030101010101" pitchFamily="2" charset="-122"/>
                <a:ea typeface="宋体" panose="02010600030101010101" pitchFamily="2" charset="-122"/>
              </a:rPr>
              <a:t>柯平</a:t>
            </a:r>
            <a:r>
              <a:rPr lang="en-US" altLang="zh-CN" sz="2200" b="1" dirty="0">
                <a:solidFill>
                  <a:schemeClr val="accent1"/>
                </a:solidFill>
                <a:latin typeface="宋体" panose="02010600030101010101" pitchFamily="2" charset="-122"/>
                <a:ea typeface="宋体" panose="02010600030101010101" pitchFamily="2" charset="-122"/>
              </a:rPr>
              <a:t>2019《</a:t>
            </a:r>
            <a:r>
              <a:rPr lang="zh-CN" altLang="en-US" sz="2200" b="1" dirty="0">
                <a:solidFill>
                  <a:schemeClr val="accent1"/>
                </a:solidFill>
                <a:latin typeface="宋体" panose="02010600030101010101" pitchFamily="2" charset="-122"/>
                <a:ea typeface="宋体" panose="02010600030101010101" pitchFamily="2" charset="-122"/>
              </a:rPr>
              <a:t>目录学知识在阅读推广活动中的应用价值</a:t>
            </a:r>
            <a:r>
              <a:rPr lang="en-US" altLang="zh-CN" sz="2200" b="1" dirty="0">
                <a:solidFill>
                  <a:schemeClr val="accent1"/>
                </a:solidFill>
                <a:latin typeface="宋体" panose="02010600030101010101" pitchFamily="2" charset="-122"/>
                <a:ea typeface="宋体" panose="02010600030101010101" pitchFamily="2" charset="-122"/>
              </a:rPr>
              <a:t>》</a:t>
            </a:r>
            <a:r>
              <a:rPr lang="zh-CN" altLang="en-US" sz="2200" b="1" dirty="0">
                <a:solidFill>
                  <a:schemeClr val="accent1"/>
                </a:solidFill>
                <a:latin typeface="宋体" panose="02010600030101010101" pitchFamily="2" charset="-122"/>
                <a:ea typeface="宋体" panose="02010600030101010101" pitchFamily="2" charset="-122"/>
              </a:rPr>
              <a:t> 图书馆论坛</a:t>
            </a:r>
            <a:endParaRPr lang="en-US" altLang="zh-CN" sz="2200" b="1" dirty="0">
              <a:solidFill>
                <a:schemeClr val="accent1"/>
              </a:solidFill>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200" dirty="0">
                <a:latin typeface="宋体" panose="02010600030101010101" pitchFamily="2" charset="-122"/>
                <a:ea typeface="宋体" panose="02010600030101010101" pitchFamily="2" charset="-122"/>
              </a:rPr>
              <a:t>    分析目录学知识的价值在</a:t>
            </a:r>
            <a:r>
              <a:rPr lang="zh-CN" altLang="en-US" sz="2200" b="1" dirty="0">
                <a:solidFill>
                  <a:srgbClr val="FF0000"/>
                </a:solidFill>
                <a:latin typeface="宋体" panose="02010600030101010101" pitchFamily="2" charset="-122"/>
                <a:ea typeface="宋体" panose="02010600030101010101" pitchFamily="2" charset="-122"/>
              </a:rPr>
              <a:t>阅读推广</a:t>
            </a:r>
            <a:r>
              <a:rPr lang="zh-CN" altLang="en-US" sz="2200" dirty="0">
                <a:latin typeface="宋体" panose="02010600030101010101" pitchFamily="2" charset="-122"/>
                <a:ea typeface="宋体" panose="02010600030101010101" pitchFamily="2" charset="-122"/>
              </a:rPr>
              <a:t>活动中的体现，提出发挥目录学知识在阅读推广中的时代价值，同时在新的时代背景下发展目录学思想。 </a:t>
            </a:r>
            <a:endParaRPr lang="en-US" altLang="zh-CN" sz="2200" dirty="0">
              <a:latin typeface="宋体" panose="02010600030101010101" pitchFamily="2" charset="-122"/>
              <a:ea typeface="宋体" panose="02010600030101010101" pitchFamily="2" charset="-122"/>
            </a:endParaRPr>
          </a:p>
        </p:txBody>
      </p:sp>
      <p:sp>
        <p:nvSpPr>
          <p:cNvPr id="4" name="标题 1">
            <a:extLst>
              <a:ext uri="{FF2B5EF4-FFF2-40B4-BE49-F238E27FC236}">
                <a16:creationId xmlns:a16="http://schemas.microsoft.com/office/drawing/2014/main" id="{E0ACB45E-5960-4182-ADD2-5267C3AF38FF}"/>
              </a:ext>
            </a:extLst>
          </p:cNvPr>
          <p:cNvSpPr>
            <a:spLocks noGrp="1"/>
          </p:cNvSpPr>
          <p:nvPr>
            <p:ph type="title"/>
          </p:nvPr>
        </p:nvSpPr>
        <p:spPr>
          <a:xfrm>
            <a:off x="660400" y="0"/>
            <a:ext cx="5435600" cy="1325563"/>
          </a:xfrm>
        </p:spPr>
        <p:txBody>
          <a:bodyPr>
            <a:normAutofit/>
          </a:bodyPr>
          <a:lstStyle/>
          <a:p>
            <a:r>
              <a:rPr lang="zh-CN" altLang="en-US" sz="3600" b="1" dirty="0">
                <a:latin typeface="宋体" panose="02010600030101010101" pitchFamily="2" charset="-122"/>
                <a:ea typeface="宋体" panose="02010600030101010101" pitchFamily="2" charset="-122"/>
              </a:rPr>
              <a:t>新环境下的目录学研究</a:t>
            </a:r>
          </a:p>
        </p:txBody>
      </p:sp>
      <p:sp>
        <p:nvSpPr>
          <p:cNvPr id="5" name="矩形 4">
            <a:extLst>
              <a:ext uri="{FF2B5EF4-FFF2-40B4-BE49-F238E27FC236}">
                <a16:creationId xmlns:a16="http://schemas.microsoft.com/office/drawing/2014/main" id="{F95B3F04-216D-4DF4-B35A-4D903F21560D}"/>
              </a:ext>
            </a:extLst>
          </p:cNvPr>
          <p:cNvSpPr/>
          <p:nvPr/>
        </p:nvSpPr>
        <p:spPr>
          <a:xfrm>
            <a:off x="6766560" y="401171"/>
            <a:ext cx="2397760" cy="523220"/>
          </a:xfrm>
          <a:prstGeom prst="rect">
            <a:avLst/>
          </a:prstGeom>
        </p:spPr>
        <p:txBody>
          <a:bodyPr wrap="square">
            <a:spAutoFit/>
          </a:bodyPr>
          <a:lstStyle/>
          <a:p>
            <a:r>
              <a:rPr lang="zh-CN" altLang="en-US"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目录实践</a:t>
            </a:r>
            <a:endParaRPr lang="en-US" altLang="zh-CN" sz="28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59467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B540FC9-3ED2-46A3-A806-DB6F782C28C9}"/>
              </a:ext>
            </a:extLst>
          </p:cNvPr>
          <p:cNvSpPr/>
          <p:nvPr/>
        </p:nvSpPr>
        <p:spPr>
          <a:xfrm>
            <a:off x="904875" y="1417539"/>
            <a:ext cx="6939280" cy="982385"/>
          </a:xfrm>
          <a:prstGeom prst="rect">
            <a:avLst/>
          </a:prstGeom>
        </p:spPr>
        <p:txBody>
          <a:bodyPr wrap="square">
            <a:spAutoFit/>
          </a:bodyPr>
          <a:lstStyle/>
          <a:p>
            <a:pPr>
              <a:lnSpc>
                <a:spcPct val="110000"/>
              </a:lnSpc>
            </a:pPr>
            <a:r>
              <a:rPr lang="zh-CN" altLang="en-US" sz="2800" dirty="0">
                <a:latin typeface="宋体" panose="02010600030101010101" pitchFamily="2" charset="-122"/>
                <a:ea typeface="宋体" panose="02010600030101010101" pitchFamily="2" charset="-122"/>
              </a:rPr>
              <a:t>电子化、网络化、集成化、智能化</a:t>
            </a:r>
            <a:endParaRPr lang="en-US" altLang="zh-CN" sz="2800" dirty="0">
              <a:latin typeface="宋体" panose="02010600030101010101" pitchFamily="2" charset="-122"/>
              <a:ea typeface="宋体" panose="02010600030101010101" pitchFamily="2" charset="-122"/>
            </a:endParaRPr>
          </a:p>
          <a:p>
            <a:pPr>
              <a:lnSpc>
                <a:spcPct val="110000"/>
              </a:lnSpc>
            </a:pPr>
            <a:r>
              <a:rPr lang="zh-CN" altLang="en-US" sz="2800" dirty="0">
                <a:latin typeface="宋体" panose="02010600030101010101" pitchFamily="2" charset="-122"/>
                <a:ea typeface="宋体" panose="02010600030101010101" pitchFamily="2" charset="-122"/>
              </a:rPr>
              <a:t>促成传统目录学向智能目录学的转变</a:t>
            </a:r>
          </a:p>
        </p:txBody>
      </p:sp>
      <p:sp>
        <p:nvSpPr>
          <p:cNvPr id="5" name="矩形 4">
            <a:extLst>
              <a:ext uri="{FF2B5EF4-FFF2-40B4-BE49-F238E27FC236}">
                <a16:creationId xmlns:a16="http://schemas.microsoft.com/office/drawing/2014/main" id="{BC39CCCD-57CC-4755-A99C-A63B94A1DDC2}"/>
              </a:ext>
            </a:extLst>
          </p:cNvPr>
          <p:cNvSpPr/>
          <p:nvPr/>
        </p:nvSpPr>
        <p:spPr>
          <a:xfrm>
            <a:off x="904875" y="2747801"/>
            <a:ext cx="10382250" cy="2692660"/>
          </a:xfrm>
          <a:prstGeom prst="rect">
            <a:avLst/>
          </a:prstGeom>
        </p:spPr>
        <p:txBody>
          <a:bodyPr wrap="square">
            <a:spAutoFit/>
          </a:bodyPr>
          <a:lstStyle/>
          <a:p>
            <a:pPr marL="285750" indent="-285750">
              <a:lnSpc>
                <a:spcPct val="12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面对</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技术</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与</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目录</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的脱节</a:t>
            </a:r>
            <a:endParaRPr lang="en-US" altLang="zh-CN" sz="2400" dirty="0">
              <a:latin typeface="宋体" panose="02010600030101010101" pitchFamily="2" charset="-122"/>
              <a:ea typeface="宋体" panose="02010600030101010101" pitchFamily="2" charset="-122"/>
            </a:endParaRPr>
          </a:p>
          <a:p>
            <a:pPr>
              <a:lnSpc>
                <a:spcPct val="120000"/>
              </a:lnSpc>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解决</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文献信息的数字化</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与</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人们对数字资源的深度利用需要</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的矛盾</a:t>
            </a:r>
            <a:endParaRPr lang="en-US" altLang="zh-CN" sz="2400" dirty="0">
              <a:latin typeface="宋体" panose="02010600030101010101" pitchFamily="2" charset="-122"/>
              <a:ea typeface="宋体" panose="02010600030101010101" pitchFamily="2" charset="-122"/>
            </a:endParaRPr>
          </a:p>
          <a:p>
            <a:pPr marL="285750" indent="-285750">
              <a:lnSpc>
                <a:spcPct val="12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整合、组织纸质资源和数字资源的基础上</a:t>
            </a:r>
            <a:endParaRPr lang="en-US" altLang="zh-CN" sz="2400" dirty="0">
              <a:latin typeface="宋体" panose="02010600030101010101" pitchFamily="2" charset="-122"/>
              <a:ea typeface="宋体" panose="02010600030101010101" pitchFamily="2" charset="-122"/>
            </a:endParaRPr>
          </a:p>
          <a:p>
            <a:pPr marL="285750" indent="-285750">
              <a:lnSpc>
                <a:spcPct val="12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目录、索引、文摘等作为工具</a:t>
            </a:r>
            <a:endParaRPr lang="en-US" altLang="zh-CN" sz="2400" dirty="0">
              <a:latin typeface="宋体" panose="02010600030101010101" pitchFamily="2" charset="-122"/>
              <a:ea typeface="宋体" panose="02010600030101010101" pitchFamily="2" charset="-122"/>
            </a:endParaRPr>
          </a:p>
          <a:p>
            <a:pPr marL="285750" indent="-285750">
              <a:lnSpc>
                <a:spcPct val="12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技术（大数据、知识图谱、可视化等）作为支撑</a:t>
            </a:r>
            <a:endParaRPr lang="en-US" altLang="zh-CN" sz="2400" dirty="0">
              <a:latin typeface="宋体" panose="02010600030101010101" pitchFamily="2" charset="-122"/>
              <a:ea typeface="宋体" panose="02010600030101010101" pitchFamily="2" charset="-122"/>
            </a:endParaRPr>
          </a:p>
          <a:p>
            <a:pPr marL="285750" indent="-285750">
              <a:lnSpc>
                <a:spcPct val="120000"/>
              </a:lnSpc>
              <a:buFont typeface="Arial" panose="020B0604020202020204" pitchFamily="34" charset="0"/>
              <a:buChar char="•"/>
            </a:pPr>
            <a:r>
              <a:rPr lang="zh-CN" altLang="en-US" sz="2400" dirty="0">
                <a:latin typeface="宋体" panose="02010600030101010101" pitchFamily="2" charset="-122"/>
                <a:ea typeface="宋体" panose="02010600030101010101" pitchFamily="2" charset="-122"/>
              </a:rPr>
              <a:t>理论和实践的创新和发展</a:t>
            </a:r>
            <a:endParaRPr lang="en-US" altLang="zh-CN" sz="2400" dirty="0">
              <a:latin typeface="宋体" panose="02010600030101010101" pitchFamily="2" charset="-122"/>
              <a:ea typeface="宋体" panose="02010600030101010101" pitchFamily="2" charset="-122"/>
            </a:endParaRPr>
          </a:p>
        </p:txBody>
      </p:sp>
      <p:sp>
        <p:nvSpPr>
          <p:cNvPr id="6" name="标题 1">
            <a:extLst>
              <a:ext uri="{FF2B5EF4-FFF2-40B4-BE49-F238E27FC236}">
                <a16:creationId xmlns:a16="http://schemas.microsoft.com/office/drawing/2014/main" id="{786CF1C6-40EF-4B0E-A808-6948B11B6C00}"/>
              </a:ext>
            </a:extLst>
          </p:cNvPr>
          <p:cNvSpPr>
            <a:spLocks noGrp="1"/>
          </p:cNvSpPr>
          <p:nvPr>
            <p:ph type="title"/>
          </p:nvPr>
        </p:nvSpPr>
        <p:spPr>
          <a:xfrm>
            <a:off x="904875" y="148075"/>
            <a:ext cx="5435600" cy="1325563"/>
          </a:xfrm>
        </p:spPr>
        <p:txBody>
          <a:bodyPr>
            <a:normAutofit/>
          </a:bodyPr>
          <a:lstStyle/>
          <a:p>
            <a:r>
              <a:rPr lang="zh-CN" altLang="en-US" sz="3600" b="1" dirty="0">
                <a:latin typeface="宋体" panose="02010600030101010101" pitchFamily="2" charset="-122"/>
                <a:ea typeface="宋体" panose="02010600030101010101" pitchFamily="2" charset="-122"/>
              </a:rPr>
              <a:t>智能目录学</a:t>
            </a:r>
          </a:p>
        </p:txBody>
      </p:sp>
    </p:spTree>
    <p:extLst>
      <p:ext uri="{BB962C8B-B14F-4D97-AF65-F5344CB8AC3E}">
        <p14:creationId xmlns:p14="http://schemas.microsoft.com/office/powerpoint/2010/main" val="1032344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D1BEB7F-CD8E-4568-B4AB-EC68943B23EF}"/>
              </a:ext>
            </a:extLst>
          </p:cNvPr>
          <p:cNvSpPr txBox="1"/>
          <p:nvPr/>
        </p:nvSpPr>
        <p:spPr>
          <a:xfrm>
            <a:off x="508000" y="615186"/>
            <a:ext cx="4511040" cy="1138773"/>
          </a:xfrm>
          <a:prstGeom prst="rect">
            <a:avLst/>
          </a:prstGeom>
          <a:noFill/>
        </p:spPr>
        <p:txBody>
          <a:bodyPr wrap="square" rtlCol="0">
            <a:spAutoFit/>
          </a:bodyPr>
          <a:lstStyle/>
          <a:p>
            <a:r>
              <a:rPr lang="zh-CN" altLang="en-US" sz="4000" dirty="0">
                <a:latin typeface="宋体" panose="02010600030101010101" pitchFamily="2" charset="-122"/>
                <a:ea typeface="宋体" panose="02010600030101010101" pitchFamily="2" charset="-122"/>
              </a:rPr>
              <a:t>目录学是</a:t>
            </a:r>
            <a:r>
              <a:rPr lang="zh-CN" altLang="en-US" sz="4000" b="1" dirty="0">
                <a:solidFill>
                  <a:srgbClr val="FF0000"/>
                </a:solidFill>
                <a:latin typeface="宋体" panose="02010600030101010101" pitchFamily="2" charset="-122"/>
                <a:ea typeface="宋体" panose="02010600030101010101" pitchFamily="2" charset="-122"/>
              </a:rPr>
              <a:t>致用之学</a:t>
            </a:r>
            <a:endParaRPr lang="en-US" altLang="zh-CN" sz="4000" b="1" dirty="0">
              <a:solidFill>
                <a:srgbClr val="FF0000"/>
              </a:solidFill>
              <a:latin typeface="宋体" panose="02010600030101010101" pitchFamily="2" charset="-122"/>
              <a:ea typeface="宋体" panose="02010600030101010101" pitchFamily="2" charset="-122"/>
            </a:endParaRPr>
          </a:p>
          <a:p>
            <a:endParaRPr lang="en-US" altLang="zh-CN" sz="2800" dirty="0">
              <a:latin typeface="宋体" panose="02010600030101010101" pitchFamily="2" charset="-122"/>
              <a:ea typeface="宋体" panose="02010600030101010101" pitchFamily="2" charset="-122"/>
            </a:endParaRPr>
          </a:p>
        </p:txBody>
      </p:sp>
      <p:graphicFrame>
        <p:nvGraphicFramePr>
          <p:cNvPr id="10" name="表格 9">
            <a:extLst>
              <a:ext uri="{FF2B5EF4-FFF2-40B4-BE49-F238E27FC236}">
                <a16:creationId xmlns:a16="http://schemas.microsoft.com/office/drawing/2014/main" id="{EE2B2B60-7E9D-437C-8B63-6D8C5C105168}"/>
              </a:ext>
            </a:extLst>
          </p:cNvPr>
          <p:cNvGraphicFramePr>
            <a:graphicFrameLocks noGrp="1"/>
          </p:cNvGraphicFramePr>
          <p:nvPr>
            <p:extLst>
              <p:ext uri="{D42A27DB-BD31-4B8C-83A1-F6EECF244321}">
                <p14:modId xmlns:p14="http://schemas.microsoft.com/office/powerpoint/2010/main" val="1279430953"/>
              </p:ext>
            </p:extLst>
          </p:nvPr>
        </p:nvGraphicFramePr>
        <p:xfrm>
          <a:off x="579120" y="2124621"/>
          <a:ext cx="11247120" cy="2346960"/>
        </p:xfrm>
        <a:graphic>
          <a:graphicData uri="http://schemas.openxmlformats.org/drawingml/2006/table">
            <a:tbl>
              <a:tblPr firstRow="1" firstCol="1" bandRow="1">
                <a:tableStyleId>{5C22544A-7EE6-4342-B048-85BDC9FD1C3A}</a:tableStyleId>
              </a:tblPr>
              <a:tblGrid>
                <a:gridCol w="2631440">
                  <a:extLst>
                    <a:ext uri="{9D8B030D-6E8A-4147-A177-3AD203B41FA5}">
                      <a16:colId xmlns:a16="http://schemas.microsoft.com/office/drawing/2014/main" val="1697046544"/>
                    </a:ext>
                  </a:extLst>
                </a:gridCol>
                <a:gridCol w="8615680">
                  <a:extLst>
                    <a:ext uri="{9D8B030D-6E8A-4147-A177-3AD203B41FA5}">
                      <a16:colId xmlns:a16="http://schemas.microsoft.com/office/drawing/2014/main" val="2561875304"/>
                    </a:ext>
                  </a:extLst>
                </a:gridCol>
              </a:tblGrid>
              <a:tr h="586740">
                <a:tc>
                  <a:txBody>
                    <a:bodyPr/>
                    <a:lstStyle/>
                    <a:p>
                      <a:pPr algn="ctr">
                        <a:spcAft>
                          <a:spcPts val="0"/>
                        </a:spcAft>
                      </a:pPr>
                      <a:r>
                        <a:rPr lang="zh-CN" sz="2400" kern="100" dirty="0">
                          <a:solidFill>
                            <a:schemeClr val="tx1"/>
                          </a:solidFill>
                          <a:effectLst/>
                          <a:latin typeface="宋体" panose="02010600030101010101" pitchFamily="2" charset="-122"/>
                          <a:ea typeface="宋体" panose="02010600030101010101" pitchFamily="2" charset="-122"/>
                        </a:rPr>
                        <a:t>不同时期的目录学</a:t>
                      </a:r>
                      <a:endParaRPr lang="zh-CN" sz="240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tx1"/>
                          </a:solidFill>
                          <a:effectLst/>
                          <a:latin typeface="宋体" panose="02010600030101010101" pitchFamily="2" charset="-122"/>
                          <a:ea typeface="宋体" panose="02010600030101010101" pitchFamily="2" charset="-122"/>
                        </a:rPr>
                        <a:t>致用性体现</a:t>
                      </a:r>
                      <a:endParaRPr lang="zh-CN" sz="240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4937138"/>
                  </a:ext>
                </a:extLst>
              </a:tr>
              <a:tr h="586740">
                <a:tc>
                  <a:txBody>
                    <a:bodyPr/>
                    <a:lstStyle/>
                    <a:p>
                      <a:pPr algn="ctr">
                        <a:spcAft>
                          <a:spcPts val="0"/>
                        </a:spcAft>
                      </a:pPr>
                      <a:r>
                        <a:rPr lang="zh-CN" sz="2400" kern="100">
                          <a:solidFill>
                            <a:schemeClr val="tx1"/>
                          </a:solidFill>
                          <a:effectLst/>
                          <a:latin typeface="宋体" panose="02010600030101010101" pitchFamily="2" charset="-122"/>
                          <a:ea typeface="宋体" panose="02010600030101010101" pitchFamily="2" charset="-122"/>
                        </a:rPr>
                        <a:t>古典目录学</a:t>
                      </a:r>
                      <a:endParaRPr lang="zh-CN" sz="240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spcAft>
                          <a:spcPts val="0"/>
                        </a:spcAft>
                      </a:pPr>
                      <a:r>
                        <a:rPr lang="zh-CN" sz="2400" kern="100" dirty="0">
                          <a:solidFill>
                            <a:schemeClr val="tx1"/>
                          </a:solidFill>
                          <a:effectLst/>
                          <a:latin typeface="宋体" panose="02010600030101010101" pitchFamily="2" charset="-122"/>
                          <a:ea typeface="宋体" panose="02010600030101010101" pitchFamily="2" charset="-122"/>
                        </a:rPr>
                        <a:t>文献整理；辨章学术，考镜源流；即类求书，因书究学</a:t>
                      </a:r>
                      <a:endParaRPr lang="zh-CN" sz="240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301167118"/>
                  </a:ext>
                </a:extLst>
              </a:tr>
              <a:tr h="586740">
                <a:tc>
                  <a:txBody>
                    <a:bodyPr/>
                    <a:lstStyle/>
                    <a:p>
                      <a:pPr algn="ctr">
                        <a:spcAft>
                          <a:spcPts val="0"/>
                        </a:spcAft>
                      </a:pPr>
                      <a:r>
                        <a:rPr lang="zh-CN" sz="2400" kern="100" dirty="0">
                          <a:solidFill>
                            <a:schemeClr val="tx1"/>
                          </a:solidFill>
                          <a:effectLst/>
                          <a:latin typeface="宋体" panose="02010600030101010101" pitchFamily="2" charset="-122"/>
                          <a:ea typeface="宋体" panose="02010600030101010101" pitchFamily="2" charset="-122"/>
                        </a:rPr>
                        <a:t>近代目录学</a:t>
                      </a:r>
                      <a:endParaRPr lang="zh-CN" sz="240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noFill/>
                  </a:tcPr>
                </a:tc>
                <a:tc>
                  <a:txBody>
                    <a:bodyPr/>
                    <a:lstStyle/>
                    <a:p>
                      <a:pPr algn="ctr">
                        <a:spcAft>
                          <a:spcPts val="0"/>
                        </a:spcAft>
                      </a:pPr>
                      <a:r>
                        <a:rPr lang="zh-CN" sz="2400" kern="100" dirty="0">
                          <a:solidFill>
                            <a:schemeClr val="tx1"/>
                          </a:solidFill>
                          <a:effectLst/>
                          <a:latin typeface="宋体" panose="02010600030101010101" pitchFamily="2" charset="-122"/>
                          <a:ea typeface="宋体" panose="02010600030101010101" pitchFamily="2" charset="-122"/>
                        </a:rPr>
                        <a:t>（继承上述）书目编制，文献的揭示、组织与利用；指导治学</a:t>
                      </a:r>
                      <a:endParaRPr lang="zh-CN" sz="240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2154818339"/>
                  </a:ext>
                </a:extLst>
              </a:tr>
              <a:tr h="586740">
                <a:tc>
                  <a:txBody>
                    <a:bodyPr/>
                    <a:lstStyle/>
                    <a:p>
                      <a:pPr algn="ctr">
                        <a:spcAft>
                          <a:spcPts val="0"/>
                        </a:spcAft>
                      </a:pPr>
                      <a:r>
                        <a:rPr lang="zh-CN" sz="2400" kern="100">
                          <a:solidFill>
                            <a:schemeClr val="tx1"/>
                          </a:solidFill>
                          <a:effectLst/>
                          <a:latin typeface="宋体" panose="02010600030101010101" pitchFamily="2" charset="-122"/>
                          <a:ea typeface="宋体" panose="02010600030101010101" pitchFamily="2" charset="-122"/>
                        </a:rPr>
                        <a:t>现代目录学</a:t>
                      </a:r>
                      <a:endParaRPr lang="zh-CN" sz="240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spcAft>
                          <a:spcPts val="0"/>
                        </a:spcAft>
                      </a:pPr>
                      <a:r>
                        <a:rPr lang="zh-CN" sz="2400" kern="100" dirty="0">
                          <a:solidFill>
                            <a:schemeClr val="tx1"/>
                          </a:solidFill>
                          <a:effectLst/>
                          <a:latin typeface="宋体" panose="02010600030101010101" pitchFamily="2" charset="-122"/>
                          <a:ea typeface="宋体" panose="02010600030101010101" pitchFamily="2" charset="-122"/>
                        </a:rPr>
                        <a:t>（继承上述）数字资源的揭示、组织与利用；导读</a:t>
                      </a:r>
                      <a:endParaRPr lang="zh-CN" sz="240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65078873"/>
                  </a:ext>
                </a:extLst>
              </a:tr>
            </a:tbl>
          </a:graphicData>
        </a:graphic>
      </p:graphicFrame>
    </p:spTree>
    <p:extLst>
      <p:ext uri="{BB962C8B-B14F-4D97-AF65-F5344CB8AC3E}">
        <p14:creationId xmlns:p14="http://schemas.microsoft.com/office/powerpoint/2010/main" val="1805907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7CA407-F065-439E-AB49-F496F63D698B}"/>
              </a:ext>
            </a:extLst>
          </p:cNvPr>
          <p:cNvSpPr>
            <a:spLocks noGrp="1"/>
          </p:cNvSpPr>
          <p:nvPr>
            <p:ph type="title"/>
          </p:nvPr>
        </p:nvSpPr>
        <p:spPr/>
        <p:txBody>
          <a:bodyPr/>
          <a:lstStyle/>
          <a:p>
            <a:r>
              <a:rPr lang="zh-CN" altLang="zh-CN" sz="4000" dirty="0">
                <a:latin typeface="宋体" panose="02010600030101010101" pitchFamily="2" charset="-122"/>
                <a:ea typeface="宋体" panose="02010600030101010101" pitchFamily="2" charset="-122"/>
                <a:cs typeface="+mn-cs"/>
              </a:rPr>
              <a:t>智能目录学发展的新需求</a:t>
            </a:r>
            <a:endParaRPr lang="zh-CN" altLang="en-US" sz="4000" dirty="0">
              <a:latin typeface="宋体" panose="02010600030101010101" pitchFamily="2" charset="-122"/>
              <a:ea typeface="宋体" panose="02010600030101010101" pitchFamily="2" charset="-122"/>
              <a:cs typeface="+mn-cs"/>
            </a:endParaRPr>
          </a:p>
        </p:txBody>
      </p:sp>
      <p:sp>
        <p:nvSpPr>
          <p:cNvPr id="3" name="内容占位符 2">
            <a:extLst>
              <a:ext uri="{FF2B5EF4-FFF2-40B4-BE49-F238E27FC236}">
                <a16:creationId xmlns:a16="http://schemas.microsoft.com/office/drawing/2014/main" id="{1FDB6B99-C16C-4FA6-A612-0EB1491D6462}"/>
              </a:ext>
            </a:extLst>
          </p:cNvPr>
          <p:cNvSpPr>
            <a:spLocks noGrp="1"/>
          </p:cNvSpPr>
          <p:nvPr>
            <p:ph idx="1"/>
          </p:nvPr>
        </p:nvSpPr>
        <p:spPr>
          <a:xfrm>
            <a:off x="838200" y="1850304"/>
            <a:ext cx="3144520" cy="3535088"/>
          </a:xfrm>
        </p:spPr>
        <p:txBody>
          <a:bodyPr/>
          <a:lstStyle/>
          <a:p>
            <a:r>
              <a:rPr lang="zh-CN" altLang="zh-CN" b="1" dirty="0">
                <a:latin typeface="宋体" panose="02010600030101010101" pitchFamily="2" charset="-122"/>
                <a:ea typeface="宋体" panose="02010600030101010101" pitchFamily="2" charset="-122"/>
              </a:rPr>
              <a:t>以知识为导向</a:t>
            </a:r>
            <a:endParaRPr lang="en-US" altLang="zh-CN" b="1" dirty="0">
              <a:latin typeface="宋体" panose="02010600030101010101" pitchFamily="2" charset="-122"/>
              <a:ea typeface="宋体" panose="02010600030101010101" pitchFamily="2" charset="-122"/>
            </a:endParaRPr>
          </a:p>
        </p:txBody>
      </p:sp>
      <p:sp>
        <p:nvSpPr>
          <p:cNvPr id="4" name="矩形 3">
            <a:extLst>
              <a:ext uri="{FF2B5EF4-FFF2-40B4-BE49-F238E27FC236}">
                <a16:creationId xmlns:a16="http://schemas.microsoft.com/office/drawing/2014/main" id="{D9E92661-2CFD-46EA-A8D7-426C44416267}"/>
              </a:ext>
            </a:extLst>
          </p:cNvPr>
          <p:cNvSpPr/>
          <p:nvPr/>
        </p:nvSpPr>
        <p:spPr>
          <a:xfrm>
            <a:off x="4711700" y="1851488"/>
            <a:ext cx="2768600" cy="1077218"/>
          </a:xfrm>
          <a:prstGeom prst="rect">
            <a:avLst/>
          </a:prstGeom>
        </p:spPr>
        <p:txBody>
          <a:bodyPr wrap="square">
            <a:spAutoFit/>
          </a:bodyPr>
          <a:lstStyle/>
          <a:p>
            <a:pPr marL="285750" indent="-285750">
              <a:buFont typeface="Arial" panose="020B0604020202020204" pitchFamily="34" charset="0"/>
              <a:buChar char="•"/>
            </a:pPr>
            <a:r>
              <a:rPr lang="zh-CN" altLang="zh-CN" sz="2800" b="1" dirty="0">
                <a:latin typeface="宋体" panose="02010600030101010101" pitchFamily="2" charset="-122"/>
                <a:ea typeface="宋体" panose="02010600030101010101" pitchFamily="2" charset="-122"/>
              </a:rPr>
              <a:t>以读者为中心</a:t>
            </a:r>
            <a:endParaRPr lang="en-US" altLang="zh-CN" sz="2800" b="1" dirty="0">
              <a:latin typeface="宋体" panose="02010600030101010101" pitchFamily="2" charset="-122"/>
              <a:ea typeface="宋体" panose="02010600030101010101" pitchFamily="2" charset="-122"/>
            </a:endParaRPr>
          </a:p>
          <a:p>
            <a:endParaRPr lang="zh-CN" altLang="zh-CN" b="1" dirty="0">
              <a:latin typeface="宋体" panose="02010600030101010101" pitchFamily="2" charset="-122"/>
              <a:ea typeface="宋体" panose="02010600030101010101" pitchFamily="2" charset="-122"/>
            </a:endParaRPr>
          </a:p>
          <a:p>
            <a:endParaRPr lang="zh-CN" altLang="zh-CN" b="1" dirty="0">
              <a:latin typeface="宋体" panose="02010600030101010101" pitchFamily="2" charset="-122"/>
              <a:ea typeface="宋体" panose="02010600030101010101" pitchFamily="2" charset="-122"/>
            </a:endParaRPr>
          </a:p>
        </p:txBody>
      </p:sp>
      <p:sp>
        <p:nvSpPr>
          <p:cNvPr id="6" name="矩形 5">
            <a:extLst>
              <a:ext uri="{FF2B5EF4-FFF2-40B4-BE49-F238E27FC236}">
                <a16:creationId xmlns:a16="http://schemas.microsoft.com/office/drawing/2014/main" id="{20BD9181-23C5-4AE9-A23B-839388BB6A7D}"/>
              </a:ext>
            </a:extLst>
          </p:cNvPr>
          <p:cNvSpPr/>
          <p:nvPr/>
        </p:nvSpPr>
        <p:spPr>
          <a:xfrm>
            <a:off x="8387080" y="1851488"/>
            <a:ext cx="3114040" cy="1077218"/>
          </a:xfrm>
          <a:prstGeom prst="rect">
            <a:avLst/>
          </a:prstGeom>
        </p:spPr>
        <p:txBody>
          <a:bodyPr wrap="square">
            <a:spAutoFit/>
          </a:bodyPr>
          <a:lstStyle/>
          <a:p>
            <a:pPr marL="285750" indent="-285750">
              <a:buFont typeface="Arial" panose="020B0604020202020204" pitchFamily="34" charset="0"/>
              <a:buChar char="•"/>
            </a:pPr>
            <a:r>
              <a:rPr lang="zh-CN" altLang="zh-CN" sz="2800" b="1" dirty="0">
                <a:latin typeface="宋体" panose="02010600030101010101" pitchFamily="2" charset="-122"/>
                <a:ea typeface="宋体" panose="02010600030101010101" pitchFamily="2" charset="-122"/>
              </a:rPr>
              <a:t>以</a:t>
            </a:r>
            <a:r>
              <a:rPr lang="zh-CN" altLang="en-US" sz="2800" b="1" dirty="0">
                <a:latin typeface="宋体" panose="02010600030101010101" pitchFamily="2" charset="-122"/>
                <a:ea typeface="宋体" panose="02010600030101010101" pitchFamily="2" charset="-122"/>
              </a:rPr>
              <a:t>技术</a:t>
            </a:r>
            <a:r>
              <a:rPr lang="zh-CN" altLang="zh-CN" sz="2800" b="1" dirty="0">
                <a:latin typeface="宋体" panose="02010600030101010101" pitchFamily="2" charset="-122"/>
                <a:ea typeface="宋体" panose="02010600030101010101" pitchFamily="2" charset="-122"/>
              </a:rPr>
              <a:t>为</a:t>
            </a:r>
            <a:r>
              <a:rPr lang="zh-CN" altLang="en-US" sz="2800" b="1" dirty="0">
                <a:latin typeface="宋体" panose="02010600030101010101" pitchFamily="2" charset="-122"/>
                <a:ea typeface="宋体" panose="02010600030101010101" pitchFamily="2" charset="-122"/>
              </a:rPr>
              <a:t>支撑</a:t>
            </a:r>
            <a:endParaRPr lang="en-US" altLang="zh-CN" sz="2800" b="1" dirty="0">
              <a:latin typeface="宋体" panose="02010600030101010101" pitchFamily="2" charset="-122"/>
              <a:ea typeface="宋体" panose="02010600030101010101" pitchFamily="2" charset="-122"/>
            </a:endParaRPr>
          </a:p>
          <a:p>
            <a:endParaRPr lang="zh-CN" altLang="zh-CN" b="1" dirty="0">
              <a:latin typeface="宋体" panose="02010600030101010101" pitchFamily="2" charset="-122"/>
              <a:ea typeface="宋体" panose="02010600030101010101" pitchFamily="2" charset="-122"/>
            </a:endParaRPr>
          </a:p>
          <a:p>
            <a:endParaRPr lang="zh-CN" altLang="zh-CN"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663628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B7C6D4B3-0097-4B24-B231-7133F740136C}"/>
              </a:ext>
            </a:extLst>
          </p:cNvPr>
          <p:cNvSpPr/>
          <p:nvPr/>
        </p:nvSpPr>
        <p:spPr>
          <a:xfrm>
            <a:off x="66040" y="444311"/>
            <a:ext cx="5402580" cy="1323439"/>
          </a:xfrm>
          <a:prstGeom prst="rect">
            <a:avLst/>
          </a:prstGeom>
        </p:spPr>
        <p:txBody>
          <a:bodyPr wrap="square">
            <a:spAutoFit/>
          </a:bodyPr>
          <a:lstStyle/>
          <a:p>
            <a:pPr algn="ctr"/>
            <a:r>
              <a:rPr lang="zh-CN" altLang="en-US" sz="4000" dirty="0">
                <a:latin typeface="宋体" panose="02010600030101010101" pitchFamily="2" charset="-122"/>
                <a:ea typeface="宋体" panose="02010600030101010101" pitchFamily="2" charset="-122"/>
              </a:rPr>
              <a:t>智能目录学的</a:t>
            </a:r>
            <a:r>
              <a:rPr lang="zh-CN" altLang="en-US" sz="4000" b="1" dirty="0">
                <a:solidFill>
                  <a:schemeClr val="accent1"/>
                </a:solidFill>
                <a:latin typeface="宋体" panose="02010600030101010101" pitchFamily="2" charset="-122"/>
                <a:ea typeface="宋体" panose="02010600030101010101" pitchFamily="2" charset="-122"/>
              </a:rPr>
              <a:t>致用性</a:t>
            </a:r>
            <a:endParaRPr lang="en-US" altLang="zh-CN" sz="4000" b="1" dirty="0">
              <a:solidFill>
                <a:schemeClr val="accent1"/>
              </a:solidFill>
              <a:latin typeface="宋体" panose="02010600030101010101" pitchFamily="2" charset="-122"/>
              <a:ea typeface="宋体" panose="02010600030101010101" pitchFamily="2" charset="-122"/>
            </a:endParaRPr>
          </a:p>
          <a:p>
            <a:pPr algn="ctr"/>
            <a:r>
              <a:rPr lang="zh-CN" altLang="en-US" sz="4000" dirty="0">
                <a:latin typeface="宋体" panose="02010600030101010101" pitchFamily="2" charset="-122"/>
                <a:ea typeface="宋体" panose="02010600030101010101" pitchFamily="2" charset="-122"/>
              </a:rPr>
              <a:t>体现在</a:t>
            </a:r>
            <a:r>
              <a:rPr lang="zh-CN" altLang="en-US" sz="4000" b="1" dirty="0">
                <a:solidFill>
                  <a:schemeClr val="accent1"/>
                </a:solidFill>
                <a:latin typeface="宋体" panose="02010600030101010101" pitchFamily="2" charset="-122"/>
                <a:ea typeface="宋体" panose="02010600030101010101" pitchFamily="2" charset="-122"/>
              </a:rPr>
              <a:t>三个层次</a:t>
            </a:r>
          </a:p>
        </p:txBody>
      </p:sp>
      <p:sp>
        <p:nvSpPr>
          <p:cNvPr id="8" name="文本框 7">
            <a:extLst>
              <a:ext uri="{FF2B5EF4-FFF2-40B4-BE49-F238E27FC236}">
                <a16:creationId xmlns:a16="http://schemas.microsoft.com/office/drawing/2014/main" id="{FB6DF2E2-EB6D-4CC2-9451-1F00D9397152}"/>
              </a:ext>
            </a:extLst>
          </p:cNvPr>
          <p:cNvSpPr txBox="1"/>
          <p:nvPr/>
        </p:nvSpPr>
        <p:spPr>
          <a:xfrm>
            <a:off x="5308600" y="4369655"/>
            <a:ext cx="6096000" cy="892552"/>
          </a:xfrm>
          <a:prstGeom prst="rect">
            <a:avLst/>
          </a:prstGeom>
          <a:noFill/>
        </p:spPr>
        <p:txBody>
          <a:bodyPr wrap="square" rtlCol="0">
            <a:spAutoFit/>
          </a:bodyPr>
          <a:lstStyle/>
          <a:p>
            <a:pPr marL="457200" indent="-457200">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智能检索</a:t>
            </a:r>
            <a:endParaRPr lang="en-US" altLang="zh-CN" sz="2800" b="1"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辅助获取需要的内容，提供多种检索途径</a:t>
            </a:r>
            <a:endParaRPr lang="en-US" altLang="zh-CN" sz="2400" dirty="0">
              <a:latin typeface="宋体" panose="02010600030101010101" pitchFamily="2" charset="-122"/>
              <a:ea typeface="宋体" panose="02010600030101010101" pitchFamily="2" charset="-122"/>
            </a:endParaRPr>
          </a:p>
        </p:txBody>
      </p:sp>
      <p:sp>
        <p:nvSpPr>
          <p:cNvPr id="10" name="文本框 9">
            <a:extLst>
              <a:ext uri="{FF2B5EF4-FFF2-40B4-BE49-F238E27FC236}">
                <a16:creationId xmlns:a16="http://schemas.microsoft.com/office/drawing/2014/main" id="{4AA17E0A-1267-4F67-A5EC-FFF483002F54}"/>
              </a:ext>
            </a:extLst>
          </p:cNvPr>
          <p:cNvSpPr txBox="1"/>
          <p:nvPr/>
        </p:nvSpPr>
        <p:spPr>
          <a:xfrm>
            <a:off x="1709420" y="4600487"/>
            <a:ext cx="2026920" cy="430887"/>
          </a:xfrm>
          <a:prstGeom prst="rect">
            <a:avLst/>
          </a:prstGeom>
          <a:noFill/>
        </p:spPr>
        <p:txBody>
          <a:bodyPr wrap="square" rtlCol="0">
            <a:spAutoFit/>
          </a:bodyPr>
          <a:lstStyle/>
          <a:p>
            <a:r>
              <a:rPr lang="zh-CN" altLang="en-US" sz="2200" dirty="0">
                <a:solidFill>
                  <a:schemeClr val="accent1"/>
                </a:solidFill>
                <a:latin typeface="宋体" panose="02010600030101010101" pitchFamily="2" charset="-122"/>
                <a:ea typeface="宋体" panose="02010600030101010101" pitchFamily="2" charset="-122"/>
              </a:rPr>
              <a:t>响应读者请求</a:t>
            </a:r>
          </a:p>
        </p:txBody>
      </p:sp>
      <p:sp>
        <p:nvSpPr>
          <p:cNvPr id="13" name="箭头: 下 12">
            <a:extLst>
              <a:ext uri="{FF2B5EF4-FFF2-40B4-BE49-F238E27FC236}">
                <a16:creationId xmlns:a16="http://schemas.microsoft.com/office/drawing/2014/main" id="{E23824C0-51D6-4560-94DC-006F9C04794B}"/>
              </a:ext>
            </a:extLst>
          </p:cNvPr>
          <p:cNvSpPr/>
          <p:nvPr/>
        </p:nvSpPr>
        <p:spPr>
          <a:xfrm>
            <a:off x="2570480" y="5194723"/>
            <a:ext cx="304800" cy="1065058"/>
          </a:xfrm>
          <a:prstGeom prst="downArrow">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9" name="文本框 8">
            <a:extLst>
              <a:ext uri="{FF2B5EF4-FFF2-40B4-BE49-F238E27FC236}">
                <a16:creationId xmlns:a16="http://schemas.microsoft.com/office/drawing/2014/main" id="{1F69C8A5-FBB8-4953-B13D-7F566C6EC38F}"/>
              </a:ext>
            </a:extLst>
          </p:cNvPr>
          <p:cNvSpPr txBox="1"/>
          <p:nvPr/>
        </p:nvSpPr>
        <p:spPr>
          <a:xfrm>
            <a:off x="5308600" y="1988512"/>
            <a:ext cx="5938520" cy="1261884"/>
          </a:xfrm>
          <a:prstGeom prst="rect">
            <a:avLst/>
          </a:prstGeom>
          <a:noFill/>
        </p:spPr>
        <p:txBody>
          <a:bodyPr wrap="square" rtlCol="0">
            <a:spAutoFit/>
          </a:bodyPr>
          <a:lstStyle/>
          <a:p>
            <a:pPr marL="457200" indent="-457200">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智能组织</a:t>
            </a:r>
            <a:endParaRPr lang="en-US" altLang="zh-CN" sz="2800" b="1"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著录、编目</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元数据、自动化系统</a:t>
            </a:r>
            <a:endParaRPr lang="en-US" altLang="zh-CN" sz="2400" dirty="0">
              <a:latin typeface="宋体" panose="02010600030101010101" pitchFamily="2" charset="-122"/>
              <a:ea typeface="宋体" panose="02010600030101010101" pitchFamily="2" charset="-122"/>
            </a:endParaRPr>
          </a:p>
        </p:txBody>
      </p:sp>
      <p:sp>
        <p:nvSpPr>
          <p:cNvPr id="2" name="矩形 1">
            <a:extLst>
              <a:ext uri="{FF2B5EF4-FFF2-40B4-BE49-F238E27FC236}">
                <a16:creationId xmlns:a16="http://schemas.microsoft.com/office/drawing/2014/main" id="{89635568-FFB9-4510-8F63-AB02002958EA}"/>
              </a:ext>
            </a:extLst>
          </p:cNvPr>
          <p:cNvSpPr/>
          <p:nvPr/>
        </p:nvSpPr>
        <p:spPr>
          <a:xfrm>
            <a:off x="1038696" y="2383687"/>
            <a:ext cx="3288080" cy="430887"/>
          </a:xfrm>
          <a:prstGeom prst="rect">
            <a:avLst/>
          </a:prstGeom>
        </p:spPr>
        <p:txBody>
          <a:bodyPr wrap="none">
            <a:spAutoFit/>
          </a:bodyPr>
          <a:lstStyle/>
          <a:p>
            <a:r>
              <a:rPr lang="zh-CN" altLang="zh-CN" sz="2200" dirty="0">
                <a:solidFill>
                  <a:schemeClr val="accent1"/>
                </a:solidFill>
                <a:latin typeface="宋体" panose="02010600030101010101" pitchFamily="2" charset="-122"/>
                <a:ea typeface="宋体" panose="02010600030101010101" pitchFamily="2" charset="-122"/>
              </a:rPr>
              <a:t>组织与描述海量数据资源</a:t>
            </a:r>
            <a:endParaRPr lang="zh-CN" altLang="en-US" sz="2200" dirty="0">
              <a:solidFill>
                <a:schemeClr val="accent1"/>
              </a:solidFill>
              <a:latin typeface="宋体" panose="02010600030101010101" pitchFamily="2" charset="-122"/>
              <a:ea typeface="宋体" panose="02010600030101010101" pitchFamily="2" charset="-122"/>
            </a:endParaRPr>
          </a:p>
        </p:txBody>
      </p:sp>
      <p:sp>
        <p:nvSpPr>
          <p:cNvPr id="12" name="箭头: 下 11">
            <a:extLst>
              <a:ext uri="{FF2B5EF4-FFF2-40B4-BE49-F238E27FC236}">
                <a16:creationId xmlns:a16="http://schemas.microsoft.com/office/drawing/2014/main" id="{CA5FDC20-1166-495E-9F2D-65C74956F880}"/>
              </a:ext>
            </a:extLst>
          </p:cNvPr>
          <p:cNvSpPr/>
          <p:nvPr/>
        </p:nvSpPr>
        <p:spPr>
          <a:xfrm>
            <a:off x="2570480" y="3154680"/>
            <a:ext cx="304800" cy="1065058"/>
          </a:xfrm>
          <a:prstGeom prst="downArrow">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Tree>
    <p:extLst>
      <p:ext uri="{BB962C8B-B14F-4D97-AF65-F5344CB8AC3E}">
        <p14:creationId xmlns:p14="http://schemas.microsoft.com/office/powerpoint/2010/main" val="2249013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3C940AB6-35CA-4B7D-8AE3-9D72582623F4}"/>
              </a:ext>
            </a:extLst>
          </p:cNvPr>
          <p:cNvSpPr txBox="1"/>
          <p:nvPr/>
        </p:nvSpPr>
        <p:spPr>
          <a:xfrm>
            <a:off x="6360160" y="3307083"/>
            <a:ext cx="5346700" cy="1631216"/>
          </a:xfrm>
          <a:prstGeom prst="rect">
            <a:avLst/>
          </a:prstGeom>
          <a:noFill/>
        </p:spPr>
        <p:txBody>
          <a:bodyPr wrap="square" rtlCol="0">
            <a:spAutoFit/>
          </a:bodyPr>
          <a:lstStyle/>
          <a:p>
            <a:pPr marL="457200" indent="-457200">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智能推荐</a:t>
            </a:r>
            <a:endParaRPr lang="en-US" altLang="zh-CN" sz="2800" b="1"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推荐性书评、提要</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参考性专题书目、推荐性专题书目</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（大数据、知识图谱技术个性化推荐）</a:t>
            </a:r>
            <a:endParaRPr lang="en-US" altLang="zh-CN" sz="2400" dirty="0">
              <a:latin typeface="宋体" panose="02010600030101010101" pitchFamily="2" charset="-122"/>
              <a:ea typeface="宋体" panose="02010600030101010101" pitchFamily="2" charset="-122"/>
            </a:endParaRPr>
          </a:p>
        </p:txBody>
      </p:sp>
      <p:sp>
        <p:nvSpPr>
          <p:cNvPr id="2" name="文本框 1">
            <a:extLst>
              <a:ext uri="{FF2B5EF4-FFF2-40B4-BE49-F238E27FC236}">
                <a16:creationId xmlns:a16="http://schemas.microsoft.com/office/drawing/2014/main" id="{CCC7531D-78A6-41B8-A9CE-3FD1401DA760}"/>
              </a:ext>
            </a:extLst>
          </p:cNvPr>
          <p:cNvSpPr txBox="1"/>
          <p:nvPr/>
        </p:nvSpPr>
        <p:spPr>
          <a:xfrm>
            <a:off x="6908800" y="5218717"/>
            <a:ext cx="3921760" cy="430887"/>
          </a:xfrm>
          <a:prstGeom prst="rect">
            <a:avLst/>
          </a:prstGeom>
          <a:noFill/>
        </p:spPr>
        <p:txBody>
          <a:bodyPr wrap="square" rtlCol="0">
            <a:spAutoFit/>
          </a:bodyPr>
          <a:lstStyle/>
          <a:p>
            <a:r>
              <a:rPr lang="zh-CN" altLang="en-US" sz="2200" dirty="0">
                <a:solidFill>
                  <a:schemeClr val="accent1"/>
                </a:solidFill>
                <a:latin typeface="宋体" panose="02010600030101010101" pitchFamily="2" charset="-122"/>
                <a:ea typeface="宋体" panose="02010600030101010101" pitchFamily="2" charset="-122"/>
              </a:rPr>
              <a:t>引导性作用，促进进一步利用</a:t>
            </a:r>
          </a:p>
        </p:txBody>
      </p:sp>
      <p:sp>
        <p:nvSpPr>
          <p:cNvPr id="13" name="文本框 12">
            <a:extLst>
              <a:ext uri="{FF2B5EF4-FFF2-40B4-BE49-F238E27FC236}">
                <a16:creationId xmlns:a16="http://schemas.microsoft.com/office/drawing/2014/main" id="{191E138C-4F5B-4585-978C-8EE35AD32286}"/>
              </a:ext>
            </a:extLst>
          </p:cNvPr>
          <p:cNvSpPr txBox="1"/>
          <p:nvPr/>
        </p:nvSpPr>
        <p:spPr>
          <a:xfrm>
            <a:off x="742950" y="3307083"/>
            <a:ext cx="4878070" cy="1631216"/>
          </a:xfrm>
          <a:prstGeom prst="rect">
            <a:avLst/>
          </a:prstGeom>
          <a:noFill/>
        </p:spPr>
        <p:txBody>
          <a:bodyPr wrap="square" rtlCol="0">
            <a:spAutoFit/>
          </a:bodyPr>
          <a:lstStyle/>
          <a:p>
            <a:pPr marL="457200" indent="-457200" algn="just">
              <a:buFont typeface="Wingdings" panose="05000000000000000000" pitchFamily="2" charset="2"/>
              <a:buChar char="l"/>
            </a:pPr>
            <a:r>
              <a:rPr lang="zh-CN" altLang="en-US" sz="2800" b="1" dirty="0">
                <a:latin typeface="宋体" panose="02010600030101010101" pitchFamily="2" charset="-122"/>
                <a:ea typeface="宋体" panose="02010600030101010101" pitchFamily="2" charset="-122"/>
              </a:rPr>
              <a:t>智能导读</a:t>
            </a:r>
            <a:endParaRPr lang="en-US" altLang="zh-CN" sz="2800" b="1" dirty="0">
              <a:latin typeface="宋体" panose="02010600030101010101" pitchFamily="2" charset="-122"/>
              <a:ea typeface="宋体" panose="02010600030101010101" pitchFamily="2" charset="-122"/>
            </a:endParaRPr>
          </a:p>
          <a:p>
            <a:pPr algn="just"/>
            <a:r>
              <a:rPr lang="zh-CN" altLang="en-US" sz="2400" dirty="0">
                <a:latin typeface="宋体" panose="02010600030101010101" pitchFamily="2" charset="-122"/>
                <a:ea typeface="宋体" panose="02010600030101010101" pitchFamily="2" charset="-122"/>
              </a:rPr>
              <a:t>图书分类目录、著者目录、书名</a:t>
            </a:r>
            <a:r>
              <a:rPr lang="zh-CN" altLang="en-US" sz="2400">
                <a:latin typeface="宋体" panose="02010600030101010101" pitchFamily="2" charset="-122"/>
                <a:ea typeface="宋体" panose="02010600030101010101" pitchFamily="2" charset="-122"/>
              </a:rPr>
              <a:t>目录、主题目录</a:t>
            </a:r>
            <a:r>
              <a:rPr lang="zh-CN" altLang="en-US" sz="2400" dirty="0">
                <a:latin typeface="宋体" panose="02010600030101010101" pitchFamily="2" charset="-122"/>
                <a:ea typeface="宋体" panose="02010600030101010101" pitchFamily="2" charset="-122"/>
              </a:rPr>
              <a:t>等；</a:t>
            </a:r>
            <a:endParaRPr lang="en-US" altLang="zh-CN" sz="2400" dirty="0">
              <a:latin typeface="宋体" panose="02010600030101010101" pitchFamily="2" charset="-122"/>
              <a:ea typeface="宋体" panose="02010600030101010101" pitchFamily="2" charset="-122"/>
            </a:endParaRPr>
          </a:p>
          <a:p>
            <a:pPr algn="just"/>
            <a:r>
              <a:rPr lang="zh-CN" altLang="en-US" sz="2400" dirty="0">
                <a:latin typeface="宋体" panose="02010600030101010101" pitchFamily="2" charset="-122"/>
                <a:ea typeface="宋体" panose="02010600030101010101" pitchFamily="2" charset="-122"/>
              </a:rPr>
              <a:t>可视化技术丰富表现方式</a:t>
            </a:r>
            <a:endParaRPr lang="en-US" altLang="zh-CN" sz="2400" dirty="0">
              <a:latin typeface="宋体" panose="02010600030101010101" pitchFamily="2" charset="-122"/>
              <a:ea typeface="宋体" panose="02010600030101010101" pitchFamily="2" charset="-122"/>
            </a:endParaRPr>
          </a:p>
        </p:txBody>
      </p:sp>
      <p:sp>
        <p:nvSpPr>
          <p:cNvPr id="14" name="文本框 13">
            <a:extLst>
              <a:ext uri="{FF2B5EF4-FFF2-40B4-BE49-F238E27FC236}">
                <a16:creationId xmlns:a16="http://schemas.microsoft.com/office/drawing/2014/main" id="{100586C7-C0F1-4C51-ADBC-32AA11EF10C6}"/>
              </a:ext>
            </a:extLst>
          </p:cNvPr>
          <p:cNvSpPr txBox="1"/>
          <p:nvPr/>
        </p:nvSpPr>
        <p:spPr>
          <a:xfrm>
            <a:off x="969010" y="5218717"/>
            <a:ext cx="3596640" cy="430887"/>
          </a:xfrm>
          <a:prstGeom prst="rect">
            <a:avLst/>
          </a:prstGeom>
          <a:noFill/>
        </p:spPr>
        <p:txBody>
          <a:bodyPr wrap="square" rtlCol="0">
            <a:spAutoFit/>
          </a:bodyPr>
          <a:lstStyle/>
          <a:p>
            <a:r>
              <a:rPr lang="zh-CN" altLang="en-US" sz="2200" dirty="0">
                <a:solidFill>
                  <a:schemeClr val="accent1"/>
                </a:solidFill>
                <a:latin typeface="宋体" panose="02010600030101010101" pitchFamily="2" charset="-122"/>
                <a:ea typeface="宋体" panose="02010600030101010101" pitchFamily="2" charset="-122"/>
              </a:rPr>
              <a:t>主动提供具象化的学习途径</a:t>
            </a:r>
          </a:p>
        </p:txBody>
      </p:sp>
      <p:sp>
        <p:nvSpPr>
          <p:cNvPr id="17" name="箭头: 下 16">
            <a:extLst>
              <a:ext uri="{FF2B5EF4-FFF2-40B4-BE49-F238E27FC236}">
                <a16:creationId xmlns:a16="http://schemas.microsoft.com/office/drawing/2014/main" id="{AB237140-63FE-409B-975E-7EB3FCC79098}"/>
              </a:ext>
            </a:extLst>
          </p:cNvPr>
          <p:cNvSpPr/>
          <p:nvPr/>
        </p:nvSpPr>
        <p:spPr>
          <a:xfrm>
            <a:off x="5943600" y="1815302"/>
            <a:ext cx="304800" cy="1065058"/>
          </a:xfrm>
          <a:prstGeom prst="downArrow">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8" name="矩形 17">
            <a:extLst>
              <a:ext uri="{FF2B5EF4-FFF2-40B4-BE49-F238E27FC236}">
                <a16:creationId xmlns:a16="http://schemas.microsoft.com/office/drawing/2014/main" id="{AC97DF40-714E-46D0-9BA2-CA62DCC8E87D}"/>
              </a:ext>
            </a:extLst>
          </p:cNvPr>
          <p:cNvSpPr/>
          <p:nvPr/>
        </p:nvSpPr>
        <p:spPr>
          <a:xfrm>
            <a:off x="66040" y="444311"/>
            <a:ext cx="5402580" cy="1323439"/>
          </a:xfrm>
          <a:prstGeom prst="rect">
            <a:avLst/>
          </a:prstGeom>
        </p:spPr>
        <p:txBody>
          <a:bodyPr wrap="square">
            <a:spAutoFit/>
          </a:bodyPr>
          <a:lstStyle/>
          <a:p>
            <a:pPr algn="ctr"/>
            <a:r>
              <a:rPr lang="zh-CN" altLang="en-US" sz="4000" dirty="0">
                <a:latin typeface="宋体" panose="02010600030101010101" pitchFamily="2" charset="-122"/>
                <a:ea typeface="宋体" panose="02010600030101010101" pitchFamily="2" charset="-122"/>
              </a:rPr>
              <a:t>智能目录学的</a:t>
            </a:r>
            <a:r>
              <a:rPr lang="zh-CN" altLang="en-US" sz="4000" b="1" dirty="0">
                <a:solidFill>
                  <a:schemeClr val="accent1"/>
                </a:solidFill>
                <a:latin typeface="宋体" panose="02010600030101010101" pitchFamily="2" charset="-122"/>
                <a:ea typeface="宋体" panose="02010600030101010101" pitchFamily="2" charset="-122"/>
              </a:rPr>
              <a:t>致用性</a:t>
            </a:r>
            <a:endParaRPr lang="en-US" altLang="zh-CN" sz="4000" b="1" dirty="0">
              <a:solidFill>
                <a:schemeClr val="accent1"/>
              </a:solidFill>
              <a:latin typeface="宋体" panose="02010600030101010101" pitchFamily="2" charset="-122"/>
              <a:ea typeface="宋体" panose="02010600030101010101" pitchFamily="2" charset="-122"/>
            </a:endParaRPr>
          </a:p>
          <a:p>
            <a:pPr algn="ctr"/>
            <a:r>
              <a:rPr lang="zh-CN" altLang="en-US" sz="4000" dirty="0">
                <a:latin typeface="宋体" panose="02010600030101010101" pitchFamily="2" charset="-122"/>
                <a:ea typeface="宋体" panose="02010600030101010101" pitchFamily="2" charset="-122"/>
              </a:rPr>
              <a:t>体现在</a:t>
            </a:r>
            <a:r>
              <a:rPr lang="zh-CN" altLang="en-US" sz="4000" b="1" dirty="0">
                <a:solidFill>
                  <a:schemeClr val="accent1"/>
                </a:solidFill>
                <a:latin typeface="宋体" panose="02010600030101010101" pitchFamily="2" charset="-122"/>
                <a:ea typeface="宋体" panose="02010600030101010101" pitchFamily="2" charset="-122"/>
              </a:rPr>
              <a:t>三个层次</a:t>
            </a:r>
          </a:p>
        </p:txBody>
      </p:sp>
    </p:spTree>
    <p:extLst>
      <p:ext uri="{BB962C8B-B14F-4D97-AF65-F5344CB8AC3E}">
        <p14:creationId xmlns:p14="http://schemas.microsoft.com/office/powerpoint/2010/main" val="4076922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617048-E51D-4766-AF58-2C700BAFC84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6D6B2AB-54DE-48F6-B184-C7193396A603}"/>
              </a:ext>
            </a:extLst>
          </p:cNvPr>
          <p:cNvSpPr>
            <a:spLocks noGrp="1"/>
          </p:cNvSpPr>
          <p:nvPr>
            <p:ph idx="1"/>
          </p:nvPr>
        </p:nvSpPr>
        <p:spPr>
          <a:xfrm>
            <a:off x="4198620" y="2811145"/>
            <a:ext cx="3794760" cy="998855"/>
          </a:xfrm>
        </p:spPr>
        <p:txBody>
          <a:bodyPr>
            <a:normAutofit/>
          </a:bodyPr>
          <a:lstStyle/>
          <a:p>
            <a:pPr marL="0" indent="0" algn="ctr">
              <a:buNone/>
            </a:pPr>
            <a:r>
              <a:rPr lang="zh-CN" altLang="en-US" sz="6000" b="1" dirty="0">
                <a:latin typeface="宋体" panose="02010600030101010101" pitchFamily="2" charset="-122"/>
                <a:ea typeface="宋体" panose="02010600030101010101" pitchFamily="2" charset="-122"/>
              </a:rPr>
              <a:t>谢谢观看</a:t>
            </a:r>
          </a:p>
        </p:txBody>
      </p:sp>
    </p:spTree>
    <p:extLst>
      <p:ext uri="{BB962C8B-B14F-4D97-AF65-F5344CB8AC3E}">
        <p14:creationId xmlns:p14="http://schemas.microsoft.com/office/powerpoint/2010/main" val="7083253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2156</Words>
  <Application>Microsoft Office PowerPoint</Application>
  <PresentationFormat>宽屏</PresentationFormat>
  <Paragraphs>153</Paragraphs>
  <Slides>17</Slides>
  <Notes>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等线</vt:lpstr>
      <vt:lpstr>等线 Light</vt:lpstr>
      <vt:lpstr>宋体</vt:lpstr>
      <vt:lpstr>Arial</vt:lpstr>
      <vt:lpstr>Times New Roman</vt:lpstr>
      <vt:lpstr>Wingdings</vt:lpstr>
      <vt:lpstr>Office 主题​​</vt:lpstr>
      <vt:lpstr>智能目录学的致用性研究</vt:lpstr>
      <vt:lpstr>什么是目录学</vt:lpstr>
      <vt:lpstr>什么是目录学</vt:lpstr>
      <vt:lpstr>背景</vt:lpstr>
      <vt:lpstr>PowerPoint 演示文稿</vt:lpstr>
      <vt:lpstr>新环境下的目录学研究</vt:lpstr>
      <vt:lpstr>新环境下的目录学研究</vt:lpstr>
      <vt:lpstr>新环境下的目录学研究</vt:lpstr>
      <vt:lpstr>新环境下的目录学研究</vt:lpstr>
      <vt:lpstr>新环境下的目录学研究</vt:lpstr>
      <vt:lpstr>新环境下的目录学研究</vt:lpstr>
      <vt:lpstr>智能目录学</vt:lpstr>
      <vt:lpstr>PowerPoint 演示文稿</vt:lpstr>
      <vt:lpstr>智能目录学发展的新需求</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《企业竞争情报态势感知系统研究》</dc:title>
  <dc:creator>李 益婷</dc:creator>
  <cp:lastModifiedBy>李 益婷</cp:lastModifiedBy>
  <cp:revision>113</cp:revision>
  <dcterms:created xsi:type="dcterms:W3CDTF">2018-11-26T05:33:26Z</dcterms:created>
  <dcterms:modified xsi:type="dcterms:W3CDTF">2019-05-20T07:53:26Z</dcterms:modified>
</cp:coreProperties>
</file>